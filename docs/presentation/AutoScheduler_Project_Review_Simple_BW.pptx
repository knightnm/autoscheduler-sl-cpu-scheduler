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10cafe650048bc" /><Relationship Type="http://schemas.openxmlformats.org/officeDocument/2006/relationships/extended-properties" Target="/docProps/app.xml" Id="Rfee39b1e12884597" /><Relationship Type="http://schemas.openxmlformats.org/officeDocument/2006/relationships/officeDocument" Target="/ppt/presentation.xml" Id="Rf89350f2ae754f26" /></Relationships>
</file>

<file path=ppt/presentation.xml><?xml version="1.0" encoding="utf-8"?>
<p:presentation xmlns:p="http://schemas.openxmlformats.org/presentationml/2006/main">
  <p:sldMasterIdLst>
    <p:sldMasterId xmlns:r="http://schemas.openxmlformats.org/officeDocument/2006/relationships" id="2147483648" r:id="R24e2f8404c104791"/>
  </p:sldMasterIdLst>
  <p:notesMasterIdLst>
    <p:notesMasterId xmlns:r="http://schemas.openxmlformats.org/officeDocument/2006/relationships" r:id="Ref741ea186a344a3"/>
  </p:notesMasterIdLst>
  <p:sldIdLst>
    <p:sldId xmlns:r="http://schemas.openxmlformats.org/officeDocument/2006/relationships" id="256" r:id="R154320fb49074613"/>
    <p:sldId xmlns:r="http://schemas.openxmlformats.org/officeDocument/2006/relationships" id="257" r:id="R8de913f5243047c9"/>
    <p:sldId xmlns:r="http://schemas.openxmlformats.org/officeDocument/2006/relationships" id="258" r:id="Rfe0ddf2989fb4b12"/>
    <p:sldId xmlns:r="http://schemas.openxmlformats.org/officeDocument/2006/relationships" id="259" r:id="Re849382b73b045fb"/>
    <p:sldId xmlns:r="http://schemas.openxmlformats.org/officeDocument/2006/relationships" id="260" r:id="R14d23c71394c4381"/>
    <p:sldId xmlns:r="http://schemas.openxmlformats.org/officeDocument/2006/relationships" id="261" r:id="Re7606fc454994578"/>
    <p:sldId xmlns:r="http://schemas.openxmlformats.org/officeDocument/2006/relationships" id="262" r:id="R6012bae322fc4719"/>
    <p:sldId xmlns:r="http://schemas.openxmlformats.org/officeDocument/2006/relationships" id="263" r:id="Rd663d59d68a44d4c"/>
    <p:sldId xmlns:r="http://schemas.openxmlformats.org/officeDocument/2006/relationships" id="264" r:id="R7930e6d62d8a45dd"/>
    <p:sldId xmlns:r="http://schemas.openxmlformats.org/officeDocument/2006/relationships" id="265" r:id="R06a073d6047144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4920ccb1d44be8" /><Relationship Type="http://schemas.openxmlformats.org/officeDocument/2006/relationships/slideMaster" Target="/ppt/slideMasters/slideMaster1.xml" Id="R24e2f8404c104791" /><Relationship Type="http://schemas.openxmlformats.org/officeDocument/2006/relationships/notesMaster" Target="/ppt/notesMasters/notesMaster1.xml" Id="Ref741ea186a344a3" /><Relationship Type="http://schemas.openxmlformats.org/officeDocument/2006/relationships/presProps" Target="/ppt/presProps.xml" Id="Ra37968b984484cb4" /><Relationship Type="http://schemas.openxmlformats.org/officeDocument/2006/relationships/tableStyles" Target="/ppt/tableStyles.xml" Id="R453e9e02efb34b84" /><Relationship Type="http://schemas.openxmlformats.org/officeDocument/2006/relationships/slide" Target="/ppt/slides/slide1.xml" Id="R154320fb49074613" /><Relationship Type="http://schemas.openxmlformats.org/officeDocument/2006/relationships/slide" Target="/ppt/slides/slide2.xml" Id="R8de913f5243047c9" /><Relationship Type="http://schemas.openxmlformats.org/officeDocument/2006/relationships/slide" Target="/ppt/slides/slide3.xml" Id="Rfe0ddf2989fb4b12" /><Relationship Type="http://schemas.openxmlformats.org/officeDocument/2006/relationships/slide" Target="/ppt/slides/slide4.xml" Id="Re849382b73b045fb" /><Relationship Type="http://schemas.openxmlformats.org/officeDocument/2006/relationships/slide" Target="/ppt/slides/slide5.xml" Id="R14d23c71394c4381" /><Relationship Type="http://schemas.openxmlformats.org/officeDocument/2006/relationships/slide" Target="/ppt/slides/slide6.xml" Id="Re7606fc454994578" /><Relationship Type="http://schemas.openxmlformats.org/officeDocument/2006/relationships/slide" Target="/ppt/slides/slide7.xml" Id="R6012bae322fc4719" /><Relationship Type="http://schemas.openxmlformats.org/officeDocument/2006/relationships/slide" Target="/ppt/slides/slide8.xml" Id="Rd663d59d68a44d4c" /><Relationship Type="http://schemas.openxmlformats.org/officeDocument/2006/relationships/slide" Target="/ppt/slides/slide9.xml" Id="R7930e6d62d8a45dd" /><Relationship Type="http://schemas.openxmlformats.org/officeDocument/2006/relationships/slide" Target="/ppt/slides/slide10.xml" Id="R06a073d6047144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8509e105f448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d9d8133f674b18" /><Relationship Type="http://schemas.openxmlformats.org/officeDocument/2006/relationships/notesMaster" Target="/ppt/notesMasters/notesMaster1.xml" Id="Rde8eee7cf40749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e1923113b64369" /><Relationship Type="http://schemas.openxmlformats.org/officeDocument/2006/relationships/notesMaster" Target="/ppt/notesMasters/notesMaster1.xml" Id="R52494c218b684d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a8ea7a507c426b" /><Relationship Type="http://schemas.openxmlformats.org/officeDocument/2006/relationships/notesMaster" Target="/ppt/notesMasters/notesMaster1.xml" Id="Re77ad52f1b5d4b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879bb7bf594c34" /><Relationship Type="http://schemas.openxmlformats.org/officeDocument/2006/relationships/notesMaster" Target="/ppt/notesMasters/notesMaster1.xml" Id="R3633b8ad071e42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d485e5eabb4d55" /><Relationship Type="http://schemas.openxmlformats.org/officeDocument/2006/relationships/notesMaster" Target="/ppt/notesMasters/notesMaster1.xml" Id="R70d99f9a9f9f49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3500390ccc456c" /><Relationship Type="http://schemas.openxmlformats.org/officeDocument/2006/relationships/notesMaster" Target="/ppt/notesMasters/notesMaster1.xml" Id="Rbd9f6a3af09d43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f49651ff7646ea" /><Relationship Type="http://schemas.openxmlformats.org/officeDocument/2006/relationships/notesMaster" Target="/ppt/notesMasters/notesMaster1.xml" Id="R4181473f26244f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0fd97d8c384791" /><Relationship Type="http://schemas.openxmlformats.org/officeDocument/2006/relationships/notesMaster" Target="/ppt/notesMasters/notesMaster1.xml" Id="R245ec175bf2a40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0c241a489a4197" /><Relationship Type="http://schemas.openxmlformats.org/officeDocument/2006/relationships/notesMaster" Target="/ppt/notesMasters/notesMaster1.xml" Id="Ra42eacbb07ef43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63414ec5b1417d" /><Relationship Type="http://schemas.openxmlformats.org/officeDocument/2006/relationships/notesMaster" Target="/ppt/notesMasters/notesMaster1.xml" Id="Rc357c260c1c848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AutoScheduler studies whether a compact model can observe recent workload behavior and choose among existing CPU scheduling policies. The current result is a validated research prototype, not a deployed kernel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schedulers make different trade-offs. AutoScheduler builds on policy prediction, learned routing, adaptive priority control, parameter tuning, and interpretable safety controls.</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a:p xmlns:a="http://schemas.openxmlformats.org/drawingml/2006/main">
            <a:r>
              <a:t>[4] https://doi.org/10.3390/app12147072</a:t>
            </a:r>
          </a:p>
          <a:p xmlns:a="http://schemas.openxmlformats.org/drawingml/2006/main">
            <a:r>
              <a:t>[6] https://doi.org/10.1109/VTC2025-SPRING65109.2025.11174897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two evidence tracks. Captured Linux traces validate the real trace pipeline. The larger controlled corpus supports model-family comparison and the Dynamic V3 routing demonstration. Whole trace groups remain in one split to prevent leakage.</a:t>
            </a:r>
          </a:p>
          <a:p xmlns:a="http://schemas.openxmlformats.org/drawingml/2006/main">
            <a:r>
              <a:t/>
            </a:r>
          </a:p>
          <a:p xmlns:a="http://schemas.openxmlformats.org/drawingml/2006/main">
            <a:r>
              <a:t>Sources:</a:t>
            </a:r>
          </a:p>
          <a:p xmlns:a="http://schemas.openxmlformats.org/drawingml/2006/main">
            <a:r>
              <a:t>/Users/knightnm/Documents/AutoScheduler-SL-CPU-Scheduler/data/processed/linux/full-002/cleaned.jsonl</a:t>
            </a:r>
          </a:p>
          <a:p xmlns:a="http://schemas.openxmlformats.org/drawingml/2006/main">
            <a:r>
              <a:t>/Users/knightnm/Documents/AutoScheduler-SL-CPU-Scheduler/data/processed/linux/full-002/observed_features.csv</a:t>
            </a:r>
          </a:p>
          <a:p xmlns:a="http://schemas.openxmlformats.org/drawingml/2006/main">
            <a:r>
              <a:t>/Users/knightnm/Documents/AutoScheduler-SL-CPU-Scheduler/data/processed/linux/full-002/action_costs.csv</a:t>
            </a:r>
          </a:p>
          <a:p xmlns:a="http://schemas.openxmlformats.org/drawingml/2006/main">
            <a:r>
              <a:t>/Users/knightnm/Documents/AutoScheduler-SL-CPU-Scheduler/artifacts/dynamic_v3_demo01/training.csv</a:t>
            </a:r>
          </a:p>
          <a:p xmlns:a="http://schemas.openxmlformats.org/drawingml/2006/main">
            <a:r>
              <a:t>/Users/knightnm/Documents/AutoScheduler-SL-CPU-Scheduler/artifacts/dynamic_v3_demo01/split.json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extraction uses only the information available at each decision time. The 16 features summarize queue state, delays, observed service, completed burst behavior, I/O activity, priority, context switches, wakeups, and CPU busy fraction.</a:t>
            </a:r>
          </a:p>
          <a:p xmlns:a="http://schemas.openxmlformats.org/drawingml/2006/main">
            <a:r>
              <a:t/>
            </a:r>
          </a:p>
          <a:p xmlns:a="http://schemas.openxmlformats.org/drawingml/2006/main">
            <a:r>
              <a:t>Sources:</a:t>
            </a:r>
          </a:p>
          <a:p xmlns:a="http://schemas.openxmlformats.org/drawingml/2006/main">
            <a:r>
              <a:t>[3] https://www.usenix.org/system/files/atc24-fu.pdf</a:t>
            </a:r>
          </a:p>
          <a:p xmlns:a="http://schemas.openxmlformats.org/drawingml/2006/main">
            <a:r>
              <a:t>[5] https://doi.org/10.1109/TENCON.2005.300837</a:t>
            </a:r>
          </a:p>
          <a:p xmlns:a="http://schemas.openxmlformats.org/drawingml/2006/main">
            <a:r>
              <a:t>/Users/knightnm/Documents/AutoScheduler-SL-CPU-Scheduler/configs/real_desktop_ml.json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five modules. The data module creates safe observed-state rows. The comparison module freezes a model. Dynamic V3 applies confidence and dwell safeguards. Every policy executes through the same simulator and reporting path.</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bake-off holds the data, features, group split, target, and tuning budget constant. This isolates model-family behavior from dataset changes.</a:t>
            </a:r>
          </a:p>
          <a:p xmlns:a="http://schemas.openxmlformats.org/drawingml/2006/main">
            <a:r>
              <a:t/>
            </a:r>
          </a:p>
          <a:p xmlns:a="http://schemas.openxmlformats.org/drawingml/2006/main">
            <a:r>
              <a:t>Sources:</a:t>
            </a:r>
          </a:p>
          <a:p xmlns:a="http://schemas.openxmlformats.org/drawingml/2006/main">
            <a:r>
              <a:t>[7] F. Pedregosa et al., Journal of Machine Learning Research, 2011.</a:t>
            </a:r>
          </a:p>
          <a:p xmlns:a="http://schemas.openxmlformats.org/drawingml/2006/main">
            <a:r>
              <a:t>[8] https://doi.org/10.1080/00401706.1970.10488634</a:t>
            </a:r>
          </a:p>
          <a:p xmlns:a="http://schemas.openxmlformats.org/drawingml/2006/main">
            <a:r>
              <a:t>[9] https://doi.org/10.1007/BF00116251</a:t>
            </a:r>
          </a:p>
          <a:p xmlns:a="http://schemas.openxmlformats.org/drawingml/2006/main">
            <a:r>
              <a:t>[10] https://doi.org/10.1023/A:1010933404324</a:t>
            </a:r>
          </a:p>
          <a:p xmlns:a="http://schemas.openxmlformats.org/drawingml/2006/main">
            <a:r>
              <a:t>[11] https://doi.org/10.1214/aos/1013203451</a:t>
            </a:r>
          </a:p>
          <a:p xmlns:a="http://schemas.openxmlformats.org/drawingml/2006/main">
            <a:r>
              <a:t>[1] https://doi.org/10.1109/STI59863.2023.10464816</a:t>
            </a:r>
          </a:p>
          <a:p xmlns:a="http://schemas.openxmlformats.org/drawingml/2006/main">
            <a:r>
              <a:t>[5] https://doi.org/10.1109/TENCON.2005.300837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grouped split shows that action accuracy and scheduling outcome can disagree. Decision Tree has the lowest validation scheduling score, so the prototype freezes it. In the separate captured-trace bake-off, Ridge and Decision Tree tie on realized cost and action agreement. The configured simplicity rule selects Ridge, even though the tree has lower measured P99 inference time.</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/Users/knightnm/Documents/AutoScheduler-SL-CPU-Scheduler/results/dynamic_v3_demo01/REPORT.md</a:t>
            </a:r>
          </a:p>
          <a:p xmlns:a="http://schemas.openxmlformats.org/drawingml/2006/main">
            <a:r>
              <a:t>/Users/knightnm/Documents/AutoScheduler-SL-CPU-Scheduler/results/dynamic_v3_demo01/model_family_bakeoff.csv</a:t>
            </a:r>
          </a:p>
          <a:p xmlns:a="http://schemas.openxmlformats.org/drawingml/2006/main">
            <a:r>
              <a:t>/Users/knightnm/Documents/AutoScheduler-SL-CPU-Scheduler/results/real_desktop_ml/decision-tree-demo/prototype_comparison_report.md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optimizes direct policy choice. The policy-cost tree estimates each candidate action. The classifier is frozen for the demonstration because it produced the lower validation scheduling score and much lower P95 response, even though the policy-cost tree had lower test action regret and fewer starvation events.</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/Users/knightnm/Documents/AutoScheduler-SL-CPU-Scheduler/results/dynamic_v3_demo01/tree_variant_comparison.json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uses an unseen changing workload with CPU-intensive, interactive, and batch phases. The router reviews the observed state every 10 ticks. Confidence, a 20-tick minimum dwell, and safe dispatch boundaries limit switching. The result proves the prototype control flow and measured decision latency for this run. It does not prove Linux kernel scheduling performance or superiority over every fixed scheduler.</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/Users/knightnm/Documents/AutoScheduler-SL-CPU-Scheduler/results/dynamic_v3_demo01/summary.json</a:t>
            </a:r>
          </a:p>
          <a:p xmlns:a="http://schemas.openxmlformats.org/drawingml/2006/main">
            <a:r>
              <a:t>/Users/knightnm/Documents/AutoScheduler-SL-CPU-Scheduler/results/dynamic_v3_demo01/decision_log.csv</a:t>
            </a:r>
          </a:p>
          <a:p xmlns:a="http://schemas.openxmlformats.org/drawingml/2006/main">
            <a:r>
              <a:t>/Users/knightnm/Documents/AutoScheduler-SL-CPU-Scheduler/results/dynamic_v3_demo01/gantt.png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IEEE-style bibliography for all numbered citations used in the deck.</a:t>
            </a:r>
          </a:p>
          <a:p xmlns:a="http://schemas.openxmlformats.org/drawingml/2006/main">
            <a:r>
              <a:t/>
            </a:r>
          </a:p>
          <a:p xmlns:a="http://schemas.openxmlformats.org/drawingml/2006/main">
            <a:r>
              <a:t>Sources:</a:t>
            </a:r>
          </a:p>
          <a:p xmlns:a="http://schemas.openxmlformats.org/drawingml/2006/main">
            <a:r>
              <a:t>/Users/knightnm/Documents/OS_Project/AutoSchedulerPapers.md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bb435778bc4b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d39d0ac9b842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b384862ec44b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bc0bd393c64d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38a3152f7f42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844bf81fcc40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CA184C-8CAA-46FB-A2A5-789D4D2906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6804B3-D315-4533-B7A8-694CAB9057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63BF64-A1DC-4184-A23E-DD18181DF1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56418E-521E-41AB-BD84-DB3EEEBC41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AC36E3-2AEC-474D-ABC1-F1C044A3C5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914301-AF03-4E1F-89C7-C99E895ADA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269A1B-D852-464A-A4F7-D899BE1E45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62AB9A-E81C-4C3D-9270-08ED1110CC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B74511-D787-4DCC-9EC0-0FE85315D4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F835D8-4D97-4F89-A1D3-56FBED9C22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6d1164e98240b5" /><Relationship Type="http://schemas.openxmlformats.org/officeDocument/2006/relationships/slideLayout" Target="/ppt/slideLayouts/slideLayout1.xml" Id="R26009d1fb20c47a6" /><Relationship Type="http://schemas.openxmlformats.org/officeDocument/2006/relationships/slideLayout" Target="/ppt/slideLayouts/slideLayout2.xml" Id="Rc3fc1cae2e4841c8" /><Relationship Type="http://schemas.openxmlformats.org/officeDocument/2006/relationships/slideLayout" Target="/ppt/slideLayouts/slideLayout3.xml" Id="R40e2523afaf0460f" /><Relationship Type="http://schemas.openxmlformats.org/officeDocument/2006/relationships/slideLayout" Target="/ppt/slideLayouts/slideLayout4.xml" Id="R264529ce00724cfb" /><Relationship Type="http://schemas.openxmlformats.org/officeDocument/2006/relationships/slideLayout" Target="/ppt/slideLayouts/slideLayout5.xml" Id="Re9d6bbc45d2c414b" /><Relationship Type="http://schemas.openxmlformats.org/officeDocument/2006/relationships/slideLayout" Target="/ppt/slideLayouts/slideLayout6.xml" Id="R212fd6395a9c43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009d1fb20c47a6"/>
    <p:sldLayoutId xmlns:r="http://schemas.openxmlformats.org/officeDocument/2006/relationships" id="2147483650" r:id="Rc3fc1cae2e4841c8"/>
    <p:sldLayoutId xmlns:r="http://schemas.openxmlformats.org/officeDocument/2006/relationships" id="2147483651" r:id="R40e2523afaf0460f"/>
    <p:sldLayoutId xmlns:r="http://schemas.openxmlformats.org/officeDocument/2006/relationships" id="2147483652" r:id="R264529ce00724cfb"/>
    <p:sldLayoutId xmlns:r="http://schemas.openxmlformats.org/officeDocument/2006/relationships" id="2147483653" r:id="Re9d6bbc45d2c414b"/>
    <p:sldLayoutId xmlns:r="http://schemas.openxmlformats.org/officeDocument/2006/relationships" id="2147483654" r:id="R212fd6395a9c43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58371769dc4791" /><Relationship Type="http://schemas.openxmlformats.org/officeDocument/2006/relationships/notesSlide" Target="/ppt/notesSlides/notesSlide1.xml" Id="Rd6c47d2ed8014a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3c79390cb64ebb" /><Relationship Type="http://schemas.openxmlformats.org/officeDocument/2006/relationships/notesSlide" Target="/ppt/notesSlides/notesSlide2.xml" Id="R5aab4105dcbf41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91922b67bc4b21" /><Relationship Type="http://schemas.openxmlformats.org/officeDocument/2006/relationships/notesSlide" Target="/ppt/notesSlides/notesSlide3.xml" Id="R082c349d019440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159c01801342a2" /><Relationship Type="http://schemas.openxmlformats.org/officeDocument/2006/relationships/notesSlide" Target="/ppt/notesSlides/notesSlide4.xml" Id="R5bcb0dd0665442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121a23d6094b70" /><Relationship Type="http://schemas.openxmlformats.org/officeDocument/2006/relationships/notesSlide" Target="/ppt/notesSlides/notesSlide5.xml" Id="Re08bd0f52ca84c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67dc94c3db44d6" /><Relationship Type="http://schemas.openxmlformats.org/officeDocument/2006/relationships/notesSlide" Target="/ppt/notesSlides/notesSlide6.xml" Id="R171f91c9a8ed4f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d2a9201c05e4f49" /><Relationship Type="http://schemas.openxmlformats.org/officeDocument/2006/relationships/notesSlide" Target="/ppt/notesSlides/notesSlide7.xml" Id="Rf16e6360a1ac4b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8a7413d33b04400" /><Relationship Type="http://schemas.openxmlformats.org/officeDocument/2006/relationships/notesSlide" Target="/ppt/notesSlides/notesSlide8.xml" Id="R6f50a1772ad746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c3e7d799dd14d6b" /><Relationship Type="http://schemas.openxmlformats.org/officeDocument/2006/relationships/image" Target="/ppt/media/image.png" Id="R52c78d3b4a384cbb" /><Relationship Type="http://schemas.openxmlformats.org/officeDocument/2006/relationships/notesSlide" Target="/ppt/notesSlides/notesSlide9.xml" Id="R89ad08ab21354f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9e5684edea4c2b" /><Relationship Type="http://schemas.openxmlformats.org/officeDocument/2006/relationships/notesSlide" Target="/ppt/notesSlides/notesSlide10.xml" Id="R4b953dd1f6d9419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74B40B-3FEB-4145-ADE2-7FF555751115}"/>
              </a:ext>
            </a:extLst>
          </p:cNvPr>
          <p:cNvSpPr>
            <a:spLocks xmlns:a="http://schemas.openxmlformats.org/drawingml/2006/main" noGrp="1"/>
          </p:cNvSpPr>
          <p:nvPr/>
        </p:nvSpPr>
        <p:spPr>
          <a:xfrm xmlns:a="http://schemas.openxmlformats.org/drawingml/2006/main">
            <a:off x="819150" y="160020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i="0">
                <a:solidFill>
                  <a:srgbClr val="000000"/>
                </a:solidFill>
                <a:latin typeface="Arial"/>
                <a:ea typeface="Arial"/>
                <a:cs typeface="Arial"/>
              </a:defRPr>
            </a:defPPr>
            <a:lvl1pPr>
              <a:defRPr sz="3900" b="1" i="0">
                <a:solidFill>
                  <a:srgbClr val="000000"/>
                </a:solidFill>
                <a:latin typeface="Arial"/>
                <a:ea typeface="Arial"/>
                <a:cs typeface="Arial"/>
              </a:defRPr>
            </a:lvl1pPr>
            <a:lvl2pPr>
              <a:defRPr sz="3900" b="1" i="0">
                <a:solidFill>
                  <a:srgbClr val="000000"/>
                </a:solidFill>
                <a:latin typeface="Arial"/>
                <a:ea typeface="Arial"/>
                <a:cs typeface="Arial"/>
              </a:defRPr>
            </a:lvl2pPr>
            <a:lvl3pPr>
              <a:defRPr sz="3900" b="1" i="0">
                <a:solidFill>
                  <a:srgbClr val="000000"/>
                </a:solidFill>
                <a:latin typeface="Arial"/>
                <a:ea typeface="Arial"/>
                <a:cs typeface="Arial"/>
              </a:defRPr>
            </a:lvl3pPr>
            <a:lvl4pPr>
              <a:defRPr sz="3900" b="1" i="0">
                <a:solidFill>
                  <a:srgbClr val="000000"/>
                </a:solidFill>
                <a:latin typeface="Arial"/>
                <a:ea typeface="Arial"/>
                <a:cs typeface="Arial"/>
              </a:defRPr>
            </a:lvl4pPr>
            <a:lvl5pPr>
              <a:defRPr sz="3900" b="1" i="0">
                <a:solidFill>
                  <a:srgbClr val="000000"/>
                </a:solidFill>
                <a:latin typeface="Arial"/>
                <a:ea typeface="Arial"/>
                <a:cs typeface="Arial"/>
              </a:defRPr>
            </a:lvl5pPr>
            <a:lvl6pPr>
              <a:defRPr sz="3900" b="1" i="0">
                <a:solidFill>
                  <a:srgbClr val="000000"/>
                </a:solidFill>
                <a:latin typeface="Arial"/>
                <a:ea typeface="Arial"/>
                <a:cs typeface="Arial"/>
              </a:defRPr>
            </a:lvl6pPr>
            <a:lvl7pPr>
              <a:defRPr sz="3900" b="1" i="0">
                <a:solidFill>
                  <a:srgbClr val="000000"/>
                </a:solidFill>
                <a:latin typeface="Arial"/>
                <a:ea typeface="Arial"/>
                <a:cs typeface="Arial"/>
              </a:defRPr>
            </a:lvl7pPr>
            <a:lvl8pPr>
              <a:defRPr sz="3900" b="1" i="0">
                <a:solidFill>
                  <a:srgbClr val="000000"/>
                </a:solidFill>
                <a:latin typeface="Arial"/>
                <a:ea typeface="Arial"/>
                <a:cs typeface="Arial"/>
              </a:defRPr>
            </a:lvl8pPr>
            <a:lvl9pPr>
              <a:defRPr sz="3900" b="1" i="0">
                <a:solidFill>
                  <a:srgbClr val="000000"/>
                </a:solidFill>
                <a:latin typeface="Arial"/>
                <a:ea typeface="Arial"/>
                <a:cs typeface="Arial"/>
              </a:defRPr>
            </a:lvl9pPr>
          </a:lstStyle>
          <a:p xmlns:a="http://schemas.openxmlformats.org/drawingml/2006/main">
            <a:pPr>
              <a:defRPr sz="3900" b="1" i="0">
                <a:solidFill>
                  <a:srgbClr val="000000"/>
                </a:solidFill>
                <a:latin typeface="Arial"/>
                <a:ea typeface="Arial"/>
                <a:cs typeface="Arial"/>
              </a:defRPr>
            </a:pPr>
            <a:r>
              <a:rPr sz="3900" b="1" i="0">
                <a:solidFill>
                  <a:srgbClr val="000000"/>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FC96448E-8A34-4DB2-9DD1-0E9F3A3D078C}"/>
              </a:ext>
            </a:extLst>
          </p:cNvPr>
          <p:cNvSpPr>
            <a:spLocks xmlns:a="http://schemas.openxmlformats.org/drawingml/2006/main" noGrp="1"/>
          </p:cNvSpPr>
          <p:nvPr/>
        </p:nvSpPr>
        <p:spPr>
          <a:xfrm xmlns:a="http://schemas.openxmlformats.org/drawingml/2006/main">
            <a:off x="857250" y="24574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i="0">
                <a:solidFill>
                  <a:srgbClr val="000000"/>
                </a:solidFill>
                <a:latin typeface="Arial"/>
                <a:ea typeface="Arial"/>
                <a:cs typeface="Arial"/>
              </a:defRPr>
            </a:defPPr>
            <a:lvl1pPr>
              <a:defRPr sz="1875" b="0" i="0">
                <a:solidFill>
                  <a:srgbClr val="000000"/>
                </a:solidFill>
                <a:latin typeface="Arial"/>
                <a:ea typeface="Arial"/>
                <a:cs typeface="Arial"/>
              </a:defRPr>
            </a:lvl1pPr>
            <a:lvl2pPr>
              <a:defRPr sz="1875" b="0" i="0">
                <a:solidFill>
                  <a:srgbClr val="000000"/>
                </a:solidFill>
                <a:latin typeface="Arial"/>
                <a:ea typeface="Arial"/>
                <a:cs typeface="Arial"/>
              </a:defRPr>
            </a:lvl2pPr>
            <a:lvl3pPr>
              <a:defRPr sz="1875" b="0" i="0">
                <a:solidFill>
                  <a:srgbClr val="000000"/>
                </a:solidFill>
                <a:latin typeface="Arial"/>
                <a:ea typeface="Arial"/>
                <a:cs typeface="Arial"/>
              </a:defRPr>
            </a:lvl3pPr>
            <a:lvl4pPr>
              <a:defRPr sz="1875" b="0" i="0">
                <a:solidFill>
                  <a:srgbClr val="000000"/>
                </a:solidFill>
                <a:latin typeface="Arial"/>
                <a:ea typeface="Arial"/>
                <a:cs typeface="Arial"/>
              </a:defRPr>
            </a:lvl4pPr>
            <a:lvl5pPr>
              <a:defRPr sz="1875" b="0" i="0">
                <a:solidFill>
                  <a:srgbClr val="000000"/>
                </a:solidFill>
                <a:latin typeface="Arial"/>
                <a:ea typeface="Arial"/>
                <a:cs typeface="Arial"/>
              </a:defRPr>
            </a:lvl5pPr>
            <a:lvl6pPr>
              <a:defRPr sz="1875" b="0" i="0">
                <a:solidFill>
                  <a:srgbClr val="000000"/>
                </a:solidFill>
                <a:latin typeface="Arial"/>
                <a:ea typeface="Arial"/>
                <a:cs typeface="Arial"/>
              </a:defRPr>
            </a:lvl6pPr>
            <a:lvl7pPr>
              <a:defRPr sz="1875" b="0" i="0">
                <a:solidFill>
                  <a:srgbClr val="000000"/>
                </a:solidFill>
                <a:latin typeface="Arial"/>
                <a:ea typeface="Arial"/>
                <a:cs typeface="Arial"/>
              </a:defRPr>
            </a:lvl7pPr>
            <a:lvl8pPr>
              <a:defRPr sz="1875" b="0" i="0">
                <a:solidFill>
                  <a:srgbClr val="000000"/>
                </a:solidFill>
                <a:latin typeface="Arial"/>
                <a:ea typeface="Arial"/>
                <a:cs typeface="Arial"/>
              </a:defRPr>
            </a:lvl8pPr>
            <a:lvl9pPr>
              <a:defRPr sz="1875" b="0" i="0">
                <a:solidFill>
                  <a:srgbClr val="000000"/>
                </a:solidFill>
                <a:latin typeface="Arial"/>
                <a:ea typeface="Arial"/>
                <a:cs typeface="Arial"/>
              </a:defRPr>
            </a:lvl9pPr>
          </a:lstStyle>
          <a:p xmlns:a="http://schemas.openxmlformats.org/drawingml/2006/main">
            <a:pPr>
              <a:defRPr sz="1875" b="0" i="0">
                <a:solidFill>
                  <a:srgbClr val="000000"/>
                </a:solidFill>
                <a:latin typeface="Arial"/>
                <a:ea typeface="Arial"/>
                <a:cs typeface="Arial"/>
              </a:defRPr>
            </a:pPr>
            <a:r>
              <a:rPr sz="1875" b="0" i="0">
                <a:solidFill>
                  <a:srgbClr val="000000"/>
                </a:solidFill>
                <a:latin typeface="Arial"/>
                <a:ea typeface="Arial"/>
                <a:cs typeface="Arial"/>
              </a:rPr>
              <a:t>Machine-learning-guided CPU scheduling prototype</a:t>
            </a:r>
          </a:p>
        </p:txBody>
      </p:sp>
      <p:sp>
        <p:nvSpPr>
          <p:cNvPr id="3" name="">
            <a:extLst xmlns:a="http://schemas.openxmlformats.org/drawingml/2006/main">
              <a:ext uri="{FF2B5EF4-FFF2-40B4-BE49-F238E27FC236}">
                <a16:creationId xmlns:a16="http://schemas.microsoft.com/office/drawing/2014/main" id="{B9E8F77E-8781-43E4-91C2-50C835C936E1}"/>
              </a:ext>
            </a:extLst>
          </p:cNvPr>
          <p:cNvSpPr>
            <a:spLocks xmlns:a="http://schemas.openxmlformats.org/drawingml/2006/main" noGrp="1"/>
          </p:cNvSpPr>
          <p:nvPr/>
        </p:nvSpPr>
        <p:spPr>
          <a:xfrm xmlns:a="http://schemas.openxmlformats.org/drawingml/2006/main">
            <a:off x="857250" y="3429000"/>
            <a:ext cx="885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a:solidFill>
                  <a:srgbClr val="000000"/>
                </a:solidFill>
                <a:latin typeface="Arial"/>
                <a:ea typeface="Arial"/>
                <a:cs typeface="Arial"/>
              </a:defRPr>
            </a:defPPr>
            <a:lvl1pPr>
              <a:defRPr sz="1650">
                <a:solidFill>
                  <a:srgbClr val="000000"/>
                </a:solidFill>
                <a:latin typeface="Arial"/>
                <a:ea typeface="Arial"/>
                <a:cs typeface="Arial"/>
              </a:defRPr>
            </a:lvl1pPr>
            <a:lvl2pPr>
              <a:defRPr sz="1650">
                <a:solidFill>
                  <a:srgbClr val="000000"/>
                </a:solidFill>
                <a:latin typeface="Arial"/>
                <a:ea typeface="Arial"/>
                <a:cs typeface="Arial"/>
              </a:defRPr>
            </a:lvl2pPr>
            <a:lvl3pPr>
              <a:defRPr sz="1650">
                <a:solidFill>
                  <a:srgbClr val="000000"/>
                </a:solidFill>
                <a:latin typeface="Arial"/>
                <a:ea typeface="Arial"/>
                <a:cs typeface="Arial"/>
              </a:defRPr>
            </a:lvl3pPr>
            <a:lvl4pPr>
              <a:defRPr sz="1650">
                <a:solidFill>
                  <a:srgbClr val="000000"/>
                </a:solidFill>
                <a:latin typeface="Arial"/>
                <a:ea typeface="Arial"/>
                <a:cs typeface="Arial"/>
              </a:defRPr>
            </a:lvl4pPr>
            <a:lvl5pPr>
              <a:defRPr sz="1650">
                <a:solidFill>
                  <a:srgbClr val="000000"/>
                </a:solidFill>
                <a:latin typeface="Arial"/>
                <a:ea typeface="Arial"/>
                <a:cs typeface="Arial"/>
              </a:defRPr>
            </a:lvl5pPr>
            <a:lvl6pPr>
              <a:defRPr sz="1650">
                <a:solidFill>
                  <a:srgbClr val="000000"/>
                </a:solidFill>
                <a:latin typeface="Arial"/>
                <a:ea typeface="Arial"/>
                <a:cs typeface="Arial"/>
              </a:defRPr>
            </a:lvl6pPr>
            <a:lvl7pPr>
              <a:defRPr sz="1650">
                <a:solidFill>
                  <a:srgbClr val="000000"/>
                </a:solidFill>
                <a:latin typeface="Arial"/>
                <a:ea typeface="Arial"/>
                <a:cs typeface="Arial"/>
              </a:defRPr>
            </a:lvl7pPr>
            <a:lvl8pPr>
              <a:defRPr sz="1650">
                <a:solidFill>
                  <a:srgbClr val="000000"/>
                </a:solidFill>
                <a:latin typeface="Arial"/>
                <a:ea typeface="Arial"/>
                <a:cs typeface="Arial"/>
              </a:defRPr>
            </a:lvl8pPr>
            <a:lvl9pPr>
              <a:defRPr sz="1650">
                <a:solidFill>
                  <a:srgbClr val="000000"/>
                </a:solidFill>
                <a:latin typeface="Arial"/>
                <a:ea typeface="Arial"/>
                <a:cs typeface="Arial"/>
              </a:defRPr>
            </a:lvl9pPr>
          </a:lstStyle>
          <a:p xmlns:a="http://schemas.openxmlformats.org/drawingml/2006/main">
            <a:pPr marL="228600" indent="-114300">
              <a:spcAft>
                <a:spcPts val="1200"/>
              </a:spcAft>
              <a:buChar char="•"/>
              <a:defRPr sz="1650">
                <a:solidFill>
                  <a:srgbClr val="000000"/>
                </a:solidFill>
                <a:latin typeface="Arial"/>
                <a:ea typeface="Arial"/>
                <a:cs typeface="Arial"/>
              </a:defRPr>
            </a:pPr>
            <a:r>
              <a:rPr sz="1650">
                <a:solidFill>
                  <a:srgbClr val="000000"/>
                </a:solidFill>
                <a:latin typeface="Arial"/>
                <a:ea typeface="Arial"/>
                <a:cs typeface="Arial"/>
              </a:rPr>
              <a:t>Observes recent workload behavior.</a:t>
            </a:r>
          </a:p>
          <a:p xmlns:a="http://schemas.openxmlformats.org/drawingml/2006/main">
            <a:pPr marL="228600" indent="-114300">
              <a:spcAft>
                <a:spcPts val="1200"/>
              </a:spcAft>
              <a:buChar char="•"/>
              <a:defRPr sz="1650">
                <a:solidFill>
                  <a:srgbClr val="000000"/>
                </a:solidFill>
                <a:latin typeface="Arial"/>
                <a:ea typeface="Arial"/>
                <a:cs typeface="Arial"/>
              </a:defRPr>
            </a:pPr>
            <a:r>
              <a:rPr sz="1650">
                <a:solidFill>
                  <a:srgbClr val="000000"/>
                </a:solidFill>
                <a:latin typeface="Arial"/>
                <a:ea typeface="Arial"/>
                <a:cs typeface="Arial"/>
              </a:rPr>
              <a:t>Selects an existing CPU scheduling policy.</a:t>
            </a:r>
          </a:p>
          <a:p xmlns:a="http://schemas.openxmlformats.org/drawingml/2006/main">
            <a:pPr marL="228600" indent="-114300">
              <a:spcAft>
                <a:spcPts val="1200"/>
              </a:spcAft>
              <a:buChar char="•"/>
              <a:defRPr sz="1650">
                <a:solidFill>
                  <a:srgbClr val="000000"/>
                </a:solidFill>
                <a:latin typeface="Arial"/>
                <a:ea typeface="Arial"/>
                <a:cs typeface="Arial"/>
              </a:defRPr>
            </a:pPr>
            <a:r>
              <a:rPr sz="1650">
                <a:solidFill>
                  <a:srgbClr val="000000"/>
                </a:solidFill>
                <a:latin typeface="Arial"/>
                <a:ea typeface="Arial"/>
                <a:cs typeface="Arial"/>
              </a:rPr>
              <a:t>Keeps the learning layer separate from scheduler implementations.</a:t>
            </a:r>
          </a:p>
        </p:txBody>
      </p:sp>
      <p:sp>
        <p:nvSpPr>
          <p:cNvPr id="4" name="">
            <a:extLst xmlns:a="http://schemas.openxmlformats.org/drawingml/2006/main">
              <a:ext uri="{FF2B5EF4-FFF2-40B4-BE49-F238E27FC236}">
                <a16:creationId xmlns:a16="http://schemas.microsoft.com/office/drawing/2014/main" id="{0CCA707E-5E12-4DE0-A4E4-54004482B853}"/>
              </a:ext>
            </a:extLst>
          </p:cNvPr>
          <p:cNvSpPr>
            <a:spLocks xmlns:a="http://schemas.openxmlformats.org/drawingml/2006/main" noGrp="1"/>
          </p:cNvSpPr>
          <p:nvPr/>
        </p:nvSpPr>
        <p:spPr>
          <a:xfrm xmlns:a="http://schemas.openxmlformats.org/drawingml/2006/main">
            <a:off x="857250" y="60960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Academic project review</a:t>
            </a:r>
          </a:p>
        </p:txBody>
      </p:sp>
    </p:spTree>
    <p:extLst>
      <p:ext uri="{BB962C8B-B14F-4D97-AF65-F5344CB8AC3E}">
        <p14:creationId xmlns:p14="http://schemas.microsoft.com/office/powerpoint/2010/main" val="19302030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1F719C-5241-4B8B-83A2-7456E5308D0A}"/>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Problem and research gap</a:t>
            </a:r>
          </a:p>
        </p:txBody>
      </p:sp>
      <p:sp>
        <p:nvSpPr>
          <p:cNvPr id="2" name="">
            <a:extLst xmlns:a="http://schemas.openxmlformats.org/drawingml/2006/main">
              <a:ext uri="{FF2B5EF4-FFF2-40B4-BE49-F238E27FC236}">
                <a16:creationId xmlns:a16="http://schemas.microsoft.com/office/drawing/2014/main" id="{3287A15B-CB46-414F-B857-53C9EF0E650D}"/>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0D6C3626-0D36-4FEA-8A69-C59E935B84AE}"/>
              </a:ext>
            </a:extLst>
          </p:cNvPr>
          <p:cNvSpPr>
            <a:spLocks xmlns:a="http://schemas.openxmlformats.org/drawingml/2006/main" noGrp="1"/>
          </p:cNvSpPr>
          <p:nvPr/>
        </p:nvSpPr>
        <p:spPr>
          <a:xfrm xmlns:a="http://schemas.openxmlformats.org/drawingml/2006/main">
            <a:off x="685800" y="1257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Why one fixed scheduler is insufficient</a:t>
            </a:r>
          </a:p>
        </p:txBody>
      </p:sp>
      <p:sp>
        <p:nvSpPr>
          <p:cNvPr id="4" name="">
            <a:extLst xmlns:a="http://schemas.openxmlformats.org/drawingml/2006/main">
              <a:ext uri="{FF2B5EF4-FFF2-40B4-BE49-F238E27FC236}">
                <a16:creationId xmlns:a16="http://schemas.microsoft.com/office/drawing/2014/main" id="{315FFA59-B476-4521-9CF2-EB13F5A08E51}"/>
              </a:ext>
            </a:extLst>
          </p:cNvPr>
          <p:cNvSpPr>
            <a:spLocks xmlns:a="http://schemas.openxmlformats.org/drawingml/2006/main" noGrp="1"/>
          </p:cNvSpPr>
          <p:nvPr/>
        </p:nvSpPr>
        <p:spPr>
          <a:xfrm xmlns:a="http://schemas.openxmlformats.org/drawingml/2006/main">
            <a:off x="685800" y="1714500"/>
            <a:ext cx="4953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Interactive workloads need a quick first response.</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CPU-heavy workloads need sustained processor service.</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I/O-heavy workloads block and return frequently.</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Changing workloads need stable policy transitions.</a:t>
            </a:r>
          </a:p>
        </p:txBody>
      </p:sp>
      <p:sp>
        <p:nvSpPr>
          <p:cNvPr id="5" name="">
            <a:extLst xmlns:a="http://schemas.openxmlformats.org/drawingml/2006/main">
              <a:ext uri="{FF2B5EF4-FFF2-40B4-BE49-F238E27FC236}">
                <a16:creationId xmlns:a16="http://schemas.microsoft.com/office/drawing/2014/main" id="{8835B39C-A021-47C2-A9AC-1D209AD8E877}"/>
              </a:ext>
            </a:extLst>
          </p:cNvPr>
          <p:cNvSpPr>
            <a:spLocks xmlns:a="http://schemas.openxmlformats.org/drawingml/2006/main" noGrp="1"/>
          </p:cNvSpPr>
          <p:nvPr/>
        </p:nvSpPr>
        <p:spPr>
          <a:xfrm xmlns:a="http://schemas.openxmlformats.org/drawingml/2006/main">
            <a:off x="6324600" y="1257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What earlier work established</a:t>
            </a:r>
          </a:p>
        </p:txBody>
      </p:sp>
      <p:sp>
        <p:nvSpPr>
          <p:cNvPr id="6" name="">
            <a:extLst xmlns:a="http://schemas.openxmlformats.org/drawingml/2006/main">
              <a:ext uri="{FF2B5EF4-FFF2-40B4-BE49-F238E27FC236}">
                <a16:creationId xmlns:a16="http://schemas.microsoft.com/office/drawing/2014/main" id="{52545912-3B45-4F7A-B715-59D7FC21627B}"/>
              </a:ext>
            </a:extLst>
          </p:cNvPr>
          <p:cNvSpPr>
            <a:spLocks xmlns:a="http://schemas.openxmlformats.org/drawingml/2006/main" noGrp="1"/>
          </p:cNvSpPr>
          <p:nvPr/>
        </p:nvSpPr>
        <p:spPr>
          <a:xfrm xmlns:a="http://schemas.openxmlformats.org/drawingml/2006/main">
            <a:off x="6324600" y="1714500"/>
            <a:ext cx="495300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Policy prediction and scheduler tuning can improve workload-specific outcomes [1], [4].</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Learned routers can choose among expert policies while stability filters reduce rapid switching [2].</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Recent systems separate learned control from a small execution path [3], [6].</a:t>
            </a:r>
          </a:p>
        </p:txBody>
      </p:sp>
      <p:sp>
        <p:nvSpPr>
          <p:cNvPr id="7" name="">
            <a:extLst xmlns:a="http://schemas.openxmlformats.org/drawingml/2006/main">
              <a:ext uri="{FF2B5EF4-FFF2-40B4-BE49-F238E27FC236}">
                <a16:creationId xmlns:a16="http://schemas.microsoft.com/office/drawing/2014/main" id="{53B4F12F-3A62-40C1-8E87-15FE9933B567}"/>
              </a:ext>
            </a:extLst>
          </p:cNvPr>
          <p:cNvSpPr>
            <a:spLocks xmlns:a="http://schemas.openxmlformats.org/drawingml/2006/main" noGrp="1"/>
          </p:cNvSpPr>
          <p:nvPr/>
        </p:nvSpPr>
        <p:spPr>
          <a:xfrm xmlns:a="http://schemas.openxmlformats.org/drawingml/2006/main">
            <a:off x="685800" y="464820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AutoScheduler contribution</a:t>
            </a:r>
          </a:p>
        </p:txBody>
      </p:sp>
      <p:sp>
        <p:nvSpPr>
          <p:cNvPr id="8" name="">
            <a:extLst xmlns:a="http://schemas.openxmlformats.org/drawingml/2006/main">
              <a:ext uri="{FF2B5EF4-FFF2-40B4-BE49-F238E27FC236}">
                <a16:creationId xmlns:a16="http://schemas.microsoft.com/office/drawing/2014/main" id="{25CE502F-5EEF-46DB-9833-1B142247A927}"/>
              </a:ext>
            </a:extLst>
          </p:cNvPr>
          <p:cNvSpPr>
            <a:spLocks xmlns:a="http://schemas.openxmlformats.org/drawingml/2006/main" noGrp="1"/>
          </p:cNvSpPr>
          <p:nvPr/>
        </p:nvSpPr>
        <p:spPr>
          <a:xfrm xmlns:a="http://schemas.openxmlformats.org/drawingml/2006/main">
            <a:off x="685800" y="5067300"/>
            <a:ext cx="1057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700"/>
              </a:spcAft>
              <a:buChar char="•"/>
              <a:defRPr sz="1425">
                <a:solidFill>
                  <a:srgbClr val="000000"/>
                </a:solidFill>
                <a:latin typeface="Arial"/>
                <a:ea typeface="Arial"/>
                <a:cs typeface="Arial"/>
              </a:defRPr>
            </a:pPr>
            <a:r>
              <a:rPr sz="1425">
                <a:solidFill>
                  <a:srgbClr val="000000"/>
                </a:solidFill>
                <a:latin typeface="Arial"/>
                <a:ea typeface="Arial"/>
                <a:cs typeface="Arial"/>
              </a:rPr>
              <a:t>Lightweight model selection using observed-only features.</a:t>
            </a:r>
          </a:p>
          <a:p xmlns:a="http://schemas.openxmlformats.org/drawingml/2006/main">
            <a:pPr marL="228600" indent="-114300">
              <a:spcAft>
                <a:spcPts val="700"/>
              </a:spcAft>
              <a:buChar char="•"/>
              <a:defRPr sz="1425">
                <a:solidFill>
                  <a:srgbClr val="000000"/>
                </a:solidFill>
                <a:latin typeface="Arial"/>
                <a:ea typeface="Arial"/>
                <a:cs typeface="Arial"/>
              </a:defRPr>
            </a:pPr>
            <a:r>
              <a:rPr sz="1425">
                <a:solidFill>
                  <a:srgbClr val="000000"/>
                </a:solidFill>
                <a:latin typeface="Arial"/>
                <a:ea typeface="Arial"/>
                <a:cs typeface="Arial"/>
              </a:rPr>
              <a:t>Guarded switching through confidence, dwell, and safe-boundary checks.</a:t>
            </a:r>
          </a:p>
          <a:p xmlns:a="http://schemas.openxmlformats.org/drawingml/2006/main">
            <a:pPr marL="228600" indent="-114300">
              <a:spcAft>
                <a:spcPts val="700"/>
              </a:spcAft>
              <a:buChar char="•"/>
              <a:defRPr sz="1425">
                <a:solidFill>
                  <a:srgbClr val="000000"/>
                </a:solidFill>
                <a:latin typeface="Arial"/>
                <a:ea typeface="Arial"/>
                <a:cs typeface="Arial"/>
              </a:defRPr>
            </a:pPr>
            <a:r>
              <a:rPr sz="1425">
                <a:solidFill>
                  <a:srgbClr val="000000"/>
                </a:solidFill>
                <a:latin typeface="Arial"/>
                <a:ea typeface="Arial"/>
                <a:cs typeface="Arial"/>
              </a:rPr>
              <a:t>One shared simulator for comparable scheduler results.</a:t>
            </a:r>
          </a:p>
        </p:txBody>
      </p:sp>
      <p:sp>
        <p:nvSpPr>
          <p:cNvPr id="9" name="">
            <a:extLst xmlns:a="http://schemas.openxmlformats.org/drawingml/2006/main">
              <a:ext uri="{FF2B5EF4-FFF2-40B4-BE49-F238E27FC236}">
                <a16:creationId xmlns:a16="http://schemas.microsoft.com/office/drawing/2014/main" id="{26092EDB-BE36-4666-8E74-577230F78FC5}"/>
              </a:ext>
            </a:extLst>
          </p:cNvPr>
          <p:cNvSpPr>
            <a:spLocks xmlns:a="http://schemas.openxmlformats.org/drawingml/2006/main" noGrp="1"/>
          </p:cNvSpPr>
          <p:nvPr/>
        </p:nvSpPr>
        <p:spPr>
          <a:xfrm xmlns:a="http://schemas.openxmlformats.org/drawingml/2006/main">
            <a:off x="571500" y="64579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000000"/>
                </a:solidFill>
                <a:latin typeface="Arial"/>
                <a:ea typeface="Arial"/>
                <a:cs typeface="Arial"/>
              </a:defRPr>
            </a:defPPr>
            <a:lvl1pPr>
              <a:defRPr sz="750" b="0" i="0">
                <a:solidFill>
                  <a:srgbClr val="000000"/>
                </a:solidFill>
                <a:latin typeface="Arial"/>
                <a:ea typeface="Arial"/>
                <a:cs typeface="Arial"/>
              </a:defRPr>
            </a:lvl1pPr>
            <a:lvl2pPr>
              <a:defRPr sz="750" b="0" i="0">
                <a:solidFill>
                  <a:srgbClr val="000000"/>
                </a:solidFill>
                <a:latin typeface="Arial"/>
                <a:ea typeface="Arial"/>
                <a:cs typeface="Arial"/>
              </a:defRPr>
            </a:lvl2pPr>
            <a:lvl3pPr>
              <a:defRPr sz="750" b="0" i="0">
                <a:solidFill>
                  <a:srgbClr val="000000"/>
                </a:solidFill>
                <a:latin typeface="Arial"/>
                <a:ea typeface="Arial"/>
                <a:cs typeface="Arial"/>
              </a:defRPr>
            </a:lvl3pPr>
            <a:lvl4pPr>
              <a:defRPr sz="750" b="0" i="0">
                <a:solidFill>
                  <a:srgbClr val="000000"/>
                </a:solidFill>
                <a:latin typeface="Arial"/>
                <a:ea typeface="Arial"/>
                <a:cs typeface="Arial"/>
              </a:defRPr>
            </a:lvl4pPr>
            <a:lvl5pPr>
              <a:defRPr sz="750" b="0" i="0">
                <a:solidFill>
                  <a:srgbClr val="000000"/>
                </a:solidFill>
                <a:latin typeface="Arial"/>
                <a:ea typeface="Arial"/>
                <a:cs typeface="Arial"/>
              </a:defRPr>
            </a:lvl5pPr>
            <a:lvl6pPr>
              <a:defRPr sz="750" b="0" i="0">
                <a:solidFill>
                  <a:srgbClr val="000000"/>
                </a:solidFill>
                <a:latin typeface="Arial"/>
                <a:ea typeface="Arial"/>
                <a:cs typeface="Arial"/>
              </a:defRPr>
            </a:lvl6pPr>
            <a:lvl7pPr>
              <a:defRPr sz="750" b="0" i="0">
                <a:solidFill>
                  <a:srgbClr val="000000"/>
                </a:solidFill>
                <a:latin typeface="Arial"/>
                <a:ea typeface="Arial"/>
                <a:cs typeface="Arial"/>
              </a:defRPr>
            </a:lvl7pPr>
            <a:lvl8pPr>
              <a:defRPr sz="750" b="0" i="0">
                <a:solidFill>
                  <a:srgbClr val="000000"/>
                </a:solidFill>
                <a:latin typeface="Arial"/>
                <a:ea typeface="Arial"/>
                <a:cs typeface="Arial"/>
              </a:defRPr>
            </a:lvl8pPr>
            <a:lvl9pPr>
              <a:defRPr sz="750" b="0" i="0">
                <a:solidFill>
                  <a:srgbClr val="000000"/>
                </a:solidFill>
                <a:latin typeface="Arial"/>
                <a:ea typeface="Arial"/>
                <a:cs typeface="Arial"/>
              </a:defRPr>
            </a:lvl9pPr>
          </a:lstStyle>
          <a:p xmlns:a="http://schemas.openxmlformats.org/drawingml/2006/main">
            <a:pPr>
              <a:defRPr sz="750" b="0" i="0">
                <a:solidFill>
                  <a:srgbClr val="000000"/>
                </a:solidFill>
                <a:latin typeface="Arial"/>
                <a:ea typeface="Arial"/>
                <a:cs typeface="Arial"/>
              </a:defRPr>
            </a:pPr>
            <a:r>
              <a:rPr sz="750" b="0" i="0">
                <a:solidFill>
                  <a:srgbClr val="000000"/>
                </a:solidFill>
                <a:latin typeface="Arial"/>
                <a:ea typeface="Arial"/>
                <a:cs typeface="Arial"/>
              </a:rPr>
              <a:t>[1] Biswas et al.  [2] Wang et al.  [3] Fu et al.  [4] Lee et al.  [6] Seo et al.</a:t>
            </a:r>
          </a:p>
        </p:txBody>
      </p:sp>
    </p:spTree>
    <p:extLst>
      <p:ext uri="{BB962C8B-B14F-4D97-AF65-F5344CB8AC3E}">
        <p14:creationId xmlns:p14="http://schemas.microsoft.com/office/powerpoint/2010/main" val="9103204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DA8EB2-149C-4B33-B850-77AE2F168D4C}"/>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Dataset sources</a:t>
            </a:r>
          </a:p>
        </p:txBody>
      </p:sp>
      <p:sp>
        <p:nvSpPr>
          <p:cNvPr id="2" name="">
            <a:extLst xmlns:a="http://schemas.openxmlformats.org/drawingml/2006/main">
              <a:ext uri="{FF2B5EF4-FFF2-40B4-BE49-F238E27FC236}">
                <a16:creationId xmlns:a16="http://schemas.microsoft.com/office/drawing/2014/main" id="{202C9545-08D0-4E56-9488-87471F7592E1}"/>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822DAE3B-6E5E-41D8-9275-0119498A6BA3}"/>
              </a:ext>
            </a:extLst>
          </p:cNvPr>
          <p:cNvSpPr>
            <a:spLocks xmlns:a="http://schemas.openxmlformats.org/drawingml/2006/main" noGrp="1"/>
          </p:cNvSpPr>
          <p:nvPr/>
        </p:nvSpPr>
        <p:spPr>
          <a:xfrm xmlns:a="http://schemas.openxmlformats.org/drawingml/2006/main">
            <a:off x="685800" y="1257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i="0">
                <a:solidFill>
                  <a:srgbClr val="000000"/>
                </a:solidFill>
                <a:latin typeface="Arial"/>
                <a:ea typeface="Arial"/>
                <a:cs typeface="Arial"/>
              </a:defRPr>
            </a:defPPr>
            <a:lvl1pPr>
              <a:defRPr sz="1725" b="1" i="0">
                <a:solidFill>
                  <a:srgbClr val="000000"/>
                </a:solidFill>
                <a:latin typeface="Arial"/>
                <a:ea typeface="Arial"/>
                <a:cs typeface="Arial"/>
              </a:defRPr>
            </a:lvl1pPr>
            <a:lvl2pPr>
              <a:defRPr sz="1725" b="1" i="0">
                <a:solidFill>
                  <a:srgbClr val="000000"/>
                </a:solidFill>
                <a:latin typeface="Arial"/>
                <a:ea typeface="Arial"/>
                <a:cs typeface="Arial"/>
              </a:defRPr>
            </a:lvl2pPr>
            <a:lvl3pPr>
              <a:defRPr sz="1725" b="1" i="0">
                <a:solidFill>
                  <a:srgbClr val="000000"/>
                </a:solidFill>
                <a:latin typeface="Arial"/>
                <a:ea typeface="Arial"/>
                <a:cs typeface="Arial"/>
              </a:defRPr>
            </a:lvl3pPr>
            <a:lvl4pPr>
              <a:defRPr sz="1725" b="1" i="0">
                <a:solidFill>
                  <a:srgbClr val="000000"/>
                </a:solidFill>
                <a:latin typeface="Arial"/>
                <a:ea typeface="Arial"/>
                <a:cs typeface="Arial"/>
              </a:defRPr>
            </a:lvl4pPr>
            <a:lvl5pPr>
              <a:defRPr sz="1725" b="1" i="0">
                <a:solidFill>
                  <a:srgbClr val="000000"/>
                </a:solidFill>
                <a:latin typeface="Arial"/>
                <a:ea typeface="Arial"/>
                <a:cs typeface="Arial"/>
              </a:defRPr>
            </a:lvl5pPr>
            <a:lvl6pPr>
              <a:defRPr sz="1725" b="1" i="0">
                <a:solidFill>
                  <a:srgbClr val="000000"/>
                </a:solidFill>
                <a:latin typeface="Arial"/>
                <a:ea typeface="Arial"/>
                <a:cs typeface="Arial"/>
              </a:defRPr>
            </a:lvl6pPr>
            <a:lvl7pPr>
              <a:defRPr sz="1725" b="1" i="0">
                <a:solidFill>
                  <a:srgbClr val="000000"/>
                </a:solidFill>
                <a:latin typeface="Arial"/>
                <a:ea typeface="Arial"/>
                <a:cs typeface="Arial"/>
              </a:defRPr>
            </a:lvl7pPr>
            <a:lvl8pPr>
              <a:defRPr sz="1725" b="1" i="0">
                <a:solidFill>
                  <a:srgbClr val="000000"/>
                </a:solidFill>
                <a:latin typeface="Arial"/>
                <a:ea typeface="Arial"/>
                <a:cs typeface="Arial"/>
              </a:defRPr>
            </a:lvl8pPr>
            <a:lvl9pPr>
              <a:defRPr sz="1725" b="1" i="0">
                <a:solidFill>
                  <a:srgbClr val="000000"/>
                </a:solidFill>
                <a:latin typeface="Arial"/>
                <a:ea typeface="Arial"/>
                <a:cs typeface="Arial"/>
              </a:defRPr>
            </a:lvl9pPr>
          </a:lstStyle>
          <a:p xmlns:a="http://schemas.openxmlformats.org/drawingml/2006/main">
            <a:pPr>
              <a:defRPr sz="1725" b="1" i="0">
                <a:solidFill>
                  <a:srgbClr val="000000"/>
                </a:solidFill>
                <a:latin typeface="Arial"/>
                <a:ea typeface="Arial"/>
                <a:cs typeface="Arial"/>
              </a:defRPr>
            </a:pPr>
            <a:r>
              <a:rPr sz="1725" b="1" i="0">
                <a:solidFill>
                  <a:srgbClr val="000000"/>
                </a:solidFill>
                <a:latin typeface="Arial"/>
                <a:ea typeface="Arial"/>
                <a:cs typeface="Arial"/>
              </a:rPr>
              <a:t>Captured Linux traces</a:t>
            </a:r>
          </a:p>
        </p:txBody>
      </p:sp>
      <p:sp>
        <p:nvSpPr>
          <p:cNvPr id="4" name="">
            <a:extLst xmlns:a="http://schemas.openxmlformats.org/drawingml/2006/main">
              <a:ext uri="{FF2B5EF4-FFF2-40B4-BE49-F238E27FC236}">
                <a16:creationId xmlns:a16="http://schemas.microsoft.com/office/drawing/2014/main" id="{B28909F7-1DC5-490C-AEEC-A369009BBBA8}"/>
              </a:ext>
            </a:extLst>
          </p:cNvPr>
          <p:cNvSpPr>
            <a:spLocks xmlns:a="http://schemas.openxmlformats.org/drawingml/2006/main" noGrp="1"/>
          </p:cNvSpPr>
          <p:nvPr/>
        </p:nvSpPr>
        <p:spPr>
          <a:xfrm xmlns:a="http://schemas.openxmlformats.org/drawingml/2006/main">
            <a:off x="685800" y="1695450"/>
            <a:ext cx="4953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Nine accepted all-CPU traces from a Linux VM.</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CPU and compression workload scenarios.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2,590,010 scheduler events across 25 processes.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1,053 observed-state snapshots and 5,265 action-cost rows.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Cleaning removed identifying details and rejected incomplete traces.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Whole-trace allocation: 6 train, 1 validation, 2 test.</a:t>
            </a:r>
          </a:p>
        </p:txBody>
      </p:sp>
      <p:sp>
        <p:nvSpPr>
          <p:cNvPr id="5" name="">
            <a:extLst xmlns:a="http://schemas.openxmlformats.org/drawingml/2006/main">
              <a:ext uri="{FF2B5EF4-FFF2-40B4-BE49-F238E27FC236}">
                <a16:creationId xmlns:a16="http://schemas.microsoft.com/office/drawing/2014/main" id="{10CFD81A-8FCB-4053-92FF-42595BBE069F}"/>
              </a:ext>
            </a:extLst>
          </p:cNvPr>
          <p:cNvSpPr>
            <a:spLocks xmlns:a="http://schemas.openxmlformats.org/drawingml/2006/main" noGrp="1"/>
          </p:cNvSpPr>
          <p:nvPr/>
        </p:nvSpPr>
        <p:spPr>
          <a:xfrm xmlns:a="http://schemas.openxmlformats.org/drawingml/2006/main">
            <a:off x="6324600" y="1257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i="0">
                <a:solidFill>
                  <a:srgbClr val="000000"/>
                </a:solidFill>
                <a:latin typeface="Arial"/>
                <a:ea typeface="Arial"/>
                <a:cs typeface="Arial"/>
              </a:defRPr>
            </a:defPPr>
            <a:lvl1pPr>
              <a:defRPr sz="1725" b="1" i="0">
                <a:solidFill>
                  <a:srgbClr val="000000"/>
                </a:solidFill>
                <a:latin typeface="Arial"/>
                <a:ea typeface="Arial"/>
                <a:cs typeface="Arial"/>
              </a:defRPr>
            </a:lvl1pPr>
            <a:lvl2pPr>
              <a:defRPr sz="1725" b="1" i="0">
                <a:solidFill>
                  <a:srgbClr val="000000"/>
                </a:solidFill>
                <a:latin typeface="Arial"/>
                <a:ea typeface="Arial"/>
                <a:cs typeface="Arial"/>
              </a:defRPr>
            </a:lvl2pPr>
            <a:lvl3pPr>
              <a:defRPr sz="1725" b="1" i="0">
                <a:solidFill>
                  <a:srgbClr val="000000"/>
                </a:solidFill>
                <a:latin typeface="Arial"/>
                <a:ea typeface="Arial"/>
                <a:cs typeface="Arial"/>
              </a:defRPr>
            </a:lvl3pPr>
            <a:lvl4pPr>
              <a:defRPr sz="1725" b="1" i="0">
                <a:solidFill>
                  <a:srgbClr val="000000"/>
                </a:solidFill>
                <a:latin typeface="Arial"/>
                <a:ea typeface="Arial"/>
                <a:cs typeface="Arial"/>
              </a:defRPr>
            </a:lvl4pPr>
            <a:lvl5pPr>
              <a:defRPr sz="1725" b="1" i="0">
                <a:solidFill>
                  <a:srgbClr val="000000"/>
                </a:solidFill>
                <a:latin typeface="Arial"/>
                <a:ea typeface="Arial"/>
                <a:cs typeface="Arial"/>
              </a:defRPr>
            </a:lvl5pPr>
            <a:lvl6pPr>
              <a:defRPr sz="1725" b="1" i="0">
                <a:solidFill>
                  <a:srgbClr val="000000"/>
                </a:solidFill>
                <a:latin typeface="Arial"/>
                <a:ea typeface="Arial"/>
                <a:cs typeface="Arial"/>
              </a:defRPr>
            </a:lvl6pPr>
            <a:lvl7pPr>
              <a:defRPr sz="1725" b="1" i="0">
                <a:solidFill>
                  <a:srgbClr val="000000"/>
                </a:solidFill>
                <a:latin typeface="Arial"/>
                <a:ea typeface="Arial"/>
                <a:cs typeface="Arial"/>
              </a:defRPr>
            </a:lvl7pPr>
            <a:lvl8pPr>
              <a:defRPr sz="1725" b="1" i="0">
                <a:solidFill>
                  <a:srgbClr val="000000"/>
                </a:solidFill>
                <a:latin typeface="Arial"/>
                <a:ea typeface="Arial"/>
                <a:cs typeface="Arial"/>
              </a:defRPr>
            </a:lvl8pPr>
            <a:lvl9pPr>
              <a:defRPr sz="1725" b="1" i="0">
                <a:solidFill>
                  <a:srgbClr val="000000"/>
                </a:solidFill>
                <a:latin typeface="Arial"/>
                <a:ea typeface="Arial"/>
                <a:cs typeface="Arial"/>
              </a:defRPr>
            </a:lvl9pPr>
          </a:lstStyle>
          <a:p xmlns:a="http://schemas.openxmlformats.org/drawingml/2006/main">
            <a:pPr>
              <a:defRPr sz="1725" b="1" i="0">
                <a:solidFill>
                  <a:srgbClr val="000000"/>
                </a:solidFill>
                <a:latin typeface="Arial"/>
                <a:ea typeface="Arial"/>
                <a:cs typeface="Arial"/>
              </a:defRPr>
            </a:pPr>
            <a:r>
              <a:rPr sz="1725" b="1" i="0">
                <a:solidFill>
                  <a:srgbClr val="000000"/>
                </a:solidFill>
                <a:latin typeface="Arial"/>
                <a:ea typeface="Arial"/>
                <a:cs typeface="Arial"/>
              </a:rPr>
              <a:t>Controlled Dynamic V3 corpus</a:t>
            </a:r>
          </a:p>
        </p:txBody>
      </p:sp>
      <p:sp>
        <p:nvSpPr>
          <p:cNvPr id="6" name="">
            <a:extLst xmlns:a="http://schemas.openxmlformats.org/drawingml/2006/main">
              <a:ext uri="{FF2B5EF4-FFF2-40B4-BE49-F238E27FC236}">
                <a16:creationId xmlns:a16="http://schemas.microsoft.com/office/drawing/2014/main" id="{3E1B2B2E-693B-40D9-A164-2BD95373CE6B}"/>
              </a:ext>
            </a:extLst>
          </p:cNvPr>
          <p:cNvSpPr>
            <a:spLocks xmlns:a="http://schemas.openxmlformats.org/drawingml/2006/main" noGrp="1"/>
          </p:cNvSpPr>
          <p:nvPr/>
        </p:nvSpPr>
        <p:spPr>
          <a:xfrm xmlns:a="http://schemas.openxmlformats.org/drawingml/2006/main">
            <a:off x="6324600" y="1695450"/>
            <a:ext cx="495300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144 grouped development traces from the project simulator.</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Controlled workload families and changing workload phases.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10,387 decision rows.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Trace-group allocation: 100 train, 22 validation, 22 test.</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60 separate workloads for validation of scheduling outcomes.</a:t>
            </a:r>
          </a:p>
        </p:txBody>
      </p:sp>
      <p:sp>
        <p:nvSpPr>
          <p:cNvPr id="7" name="">
            <a:extLst xmlns:a="http://schemas.openxmlformats.org/drawingml/2006/main">
              <a:ext uri="{FF2B5EF4-FFF2-40B4-BE49-F238E27FC236}">
                <a16:creationId xmlns:a16="http://schemas.microsoft.com/office/drawing/2014/main" id="{2C9B50DD-3904-4B8F-A173-540086FB9F76}"/>
              </a:ext>
            </a:extLst>
          </p:cNvPr>
          <p:cNvSpPr>
            <a:spLocks xmlns:a="http://schemas.openxmlformats.org/drawingml/2006/main" noGrp="1"/>
          </p:cNvSpPr>
          <p:nvPr/>
        </p:nvSpPr>
        <p:spPr>
          <a:xfrm xmlns:a="http://schemas.openxmlformats.org/drawingml/2006/main">
            <a:off x="6324600" y="5105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000000"/>
                </a:solidFill>
                <a:latin typeface="Arial"/>
                <a:ea typeface="Arial"/>
                <a:cs typeface="Arial"/>
              </a:defRPr>
            </a:defPPr>
            <a:lvl1pPr>
              <a:defRPr sz="1575" b="1" i="0">
                <a:solidFill>
                  <a:srgbClr val="000000"/>
                </a:solidFill>
                <a:latin typeface="Arial"/>
                <a:ea typeface="Arial"/>
                <a:cs typeface="Arial"/>
              </a:defRPr>
            </a:lvl1pPr>
            <a:lvl2pPr>
              <a:defRPr sz="1575" b="1" i="0">
                <a:solidFill>
                  <a:srgbClr val="000000"/>
                </a:solidFill>
                <a:latin typeface="Arial"/>
                <a:ea typeface="Arial"/>
                <a:cs typeface="Arial"/>
              </a:defRPr>
            </a:lvl2pPr>
            <a:lvl3pPr>
              <a:defRPr sz="1575" b="1" i="0">
                <a:solidFill>
                  <a:srgbClr val="000000"/>
                </a:solidFill>
                <a:latin typeface="Arial"/>
                <a:ea typeface="Arial"/>
                <a:cs typeface="Arial"/>
              </a:defRPr>
            </a:lvl3pPr>
            <a:lvl4pPr>
              <a:defRPr sz="1575" b="1" i="0">
                <a:solidFill>
                  <a:srgbClr val="000000"/>
                </a:solidFill>
                <a:latin typeface="Arial"/>
                <a:ea typeface="Arial"/>
                <a:cs typeface="Arial"/>
              </a:defRPr>
            </a:lvl4pPr>
            <a:lvl5pPr>
              <a:defRPr sz="1575" b="1" i="0">
                <a:solidFill>
                  <a:srgbClr val="000000"/>
                </a:solidFill>
                <a:latin typeface="Arial"/>
                <a:ea typeface="Arial"/>
                <a:cs typeface="Arial"/>
              </a:defRPr>
            </a:lvl5pPr>
            <a:lvl6pPr>
              <a:defRPr sz="1575" b="1" i="0">
                <a:solidFill>
                  <a:srgbClr val="000000"/>
                </a:solidFill>
                <a:latin typeface="Arial"/>
                <a:ea typeface="Arial"/>
                <a:cs typeface="Arial"/>
              </a:defRPr>
            </a:lvl6pPr>
            <a:lvl7pPr>
              <a:defRPr sz="1575" b="1" i="0">
                <a:solidFill>
                  <a:srgbClr val="000000"/>
                </a:solidFill>
                <a:latin typeface="Arial"/>
                <a:ea typeface="Arial"/>
                <a:cs typeface="Arial"/>
              </a:defRPr>
            </a:lvl7pPr>
            <a:lvl8pPr>
              <a:defRPr sz="1575" b="1" i="0">
                <a:solidFill>
                  <a:srgbClr val="000000"/>
                </a:solidFill>
                <a:latin typeface="Arial"/>
                <a:ea typeface="Arial"/>
                <a:cs typeface="Arial"/>
              </a:defRPr>
            </a:lvl8pPr>
            <a:lvl9pPr>
              <a:defRPr sz="1575" b="1" i="0">
                <a:solidFill>
                  <a:srgbClr val="000000"/>
                </a:solidFill>
                <a:latin typeface="Arial"/>
                <a:ea typeface="Arial"/>
                <a:cs typeface="Arial"/>
              </a:defRPr>
            </a:lvl9pPr>
          </a:lstStyle>
          <a:p xmlns:a="http://schemas.openxmlformats.org/drawingml/2006/main">
            <a:pPr>
              <a:defRPr sz="1575" b="1" i="0">
                <a:solidFill>
                  <a:srgbClr val="000000"/>
                </a:solidFill>
                <a:latin typeface="Arial"/>
                <a:ea typeface="Arial"/>
                <a:cs typeface="Arial"/>
              </a:defRPr>
            </a:pPr>
            <a:r>
              <a:rPr sz="1575" b="1" i="0">
                <a:solidFill>
                  <a:srgbClr val="000000"/>
                </a:solidFill>
                <a:latin typeface="Arial"/>
                <a:ea typeface="Arial"/>
                <a:cs typeface="Arial"/>
              </a:rPr>
              <a:t>Split rule</a:t>
            </a:r>
          </a:p>
        </p:txBody>
      </p:sp>
      <p:sp>
        <p:nvSpPr>
          <p:cNvPr id="8" name="">
            <a:extLst xmlns:a="http://schemas.openxmlformats.org/drawingml/2006/main">
              <a:ext uri="{FF2B5EF4-FFF2-40B4-BE49-F238E27FC236}">
                <a16:creationId xmlns:a16="http://schemas.microsoft.com/office/drawing/2014/main" id="{6605BDF7-DB6B-42A8-99DC-F715CBEC93AC}"/>
              </a:ext>
            </a:extLst>
          </p:cNvPr>
          <p:cNvSpPr>
            <a:spLocks xmlns:a="http://schemas.openxmlformats.org/drawingml/2006/main" noGrp="1"/>
          </p:cNvSpPr>
          <p:nvPr/>
        </p:nvSpPr>
        <p:spPr>
          <a:xfrm xmlns:a="http://schemas.openxmlformats.org/drawingml/2006/main">
            <a:off x="6324600" y="5486400"/>
            <a:ext cx="495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1000"/>
              </a:spcAft>
              <a:buChar char="•"/>
              <a:defRPr sz="1425">
                <a:solidFill>
                  <a:srgbClr val="000000"/>
                </a:solidFill>
                <a:latin typeface="Arial"/>
                <a:ea typeface="Arial"/>
                <a:cs typeface="Arial"/>
              </a:defRPr>
            </a:pPr>
            <a:r>
              <a:rPr sz="1425">
                <a:solidFill>
                  <a:srgbClr val="000000"/>
                </a:solidFill>
                <a:latin typeface="Arial"/>
                <a:ea typeface="Arial"/>
                <a:cs typeface="Arial"/>
              </a:rPr>
              <a:t>Related traces stay in one split to prevent information leakage.</a:t>
            </a:r>
          </a:p>
        </p:txBody>
      </p:sp>
    </p:spTree>
    <p:extLst>
      <p:ext uri="{BB962C8B-B14F-4D97-AF65-F5344CB8AC3E}">
        <p14:creationId xmlns:p14="http://schemas.microsoft.com/office/powerpoint/2010/main" val="965688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C76EB2-67EE-4BE5-BE1A-041A1E446EF1}"/>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Observed-only feature extraction</a:t>
            </a:r>
          </a:p>
        </p:txBody>
      </p:sp>
      <p:sp>
        <p:nvSpPr>
          <p:cNvPr id="2" name="">
            <a:extLst xmlns:a="http://schemas.openxmlformats.org/drawingml/2006/main">
              <a:ext uri="{FF2B5EF4-FFF2-40B4-BE49-F238E27FC236}">
                <a16:creationId xmlns:a16="http://schemas.microsoft.com/office/drawing/2014/main" id="{8E345EB2-197E-41AA-910C-5CA6797A6AD6}"/>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CECF95C9-CF55-46D0-8413-229647F707CD}"/>
              </a:ext>
            </a:extLst>
          </p:cNvPr>
          <p:cNvSpPr>
            <a:spLocks xmlns:a="http://schemas.openxmlformats.org/drawingml/2006/main" noGrp="1"/>
          </p:cNvSpPr>
          <p:nvPr/>
        </p:nvSpPr>
        <p:spPr>
          <a:xfrm xmlns:a="http://schemas.openxmlformats.org/drawingml/2006/main">
            <a:off x="685800" y="12192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Linux timing</a:t>
            </a:r>
          </a:p>
        </p:txBody>
      </p:sp>
      <p:sp>
        <p:nvSpPr>
          <p:cNvPr id="4" name="">
            <a:extLst xmlns:a="http://schemas.openxmlformats.org/drawingml/2006/main">
              <a:ext uri="{FF2B5EF4-FFF2-40B4-BE49-F238E27FC236}">
                <a16:creationId xmlns:a16="http://schemas.microsoft.com/office/drawing/2014/main" id="{D48D1C8B-BF4F-41DB-BEDC-7A8E7E727579}"/>
              </a:ext>
            </a:extLst>
          </p:cNvPr>
          <p:cNvSpPr>
            <a:spLocks xmlns:a="http://schemas.openxmlformats.org/drawingml/2006/main" noGrp="1"/>
          </p:cNvSpPr>
          <p:nvPr/>
        </p:nvSpPr>
        <p:spPr>
          <a:xfrm xmlns:a="http://schemas.openxmlformats.org/drawingml/2006/main">
            <a:off x="685800" y="1619250"/>
            <a:ext cx="400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Two-second observation window.</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Decision every 500 ms.</a:t>
            </a:r>
          </a:p>
        </p:txBody>
      </p:sp>
      <p:sp>
        <p:nvSpPr>
          <p:cNvPr id="5" name="">
            <a:extLst xmlns:a="http://schemas.openxmlformats.org/drawingml/2006/main">
              <a:ext uri="{FF2B5EF4-FFF2-40B4-BE49-F238E27FC236}">
                <a16:creationId xmlns:a16="http://schemas.microsoft.com/office/drawing/2014/main" id="{6920A30A-3DA3-482E-9901-10F1F876ED0C}"/>
              </a:ext>
            </a:extLst>
          </p:cNvPr>
          <p:cNvSpPr>
            <a:spLocks xmlns:a="http://schemas.openxmlformats.org/drawingml/2006/main" noGrp="1"/>
          </p:cNvSpPr>
          <p:nvPr/>
        </p:nvSpPr>
        <p:spPr>
          <a:xfrm xmlns:a="http://schemas.openxmlformats.org/drawingml/2006/main">
            <a:off x="685800" y="28194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The 16 features</a:t>
            </a:r>
          </a:p>
        </p:txBody>
      </p:sp>
      <p:sp>
        <p:nvSpPr>
          <p:cNvPr id="6" name="">
            <a:extLst xmlns:a="http://schemas.openxmlformats.org/drawingml/2006/main">
              <a:ext uri="{FF2B5EF4-FFF2-40B4-BE49-F238E27FC236}">
                <a16:creationId xmlns:a16="http://schemas.microsoft.com/office/drawing/2014/main" id="{7762C1F3-7F27-41F4-B278-D54E4D9702AC}"/>
              </a:ext>
            </a:extLst>
          </p:cNvPr>
          <p:cNvSpPr>
            <a:spLocks xmlns:a="http://schemas.openxmlformats.org/drawingml/2006/main" noGrp="1"/>
          </p:cNvSpPr>
          <p:nvPr/>
        </p:nvSpPr>
        <p:spPr>
          <a:xfrm xmlns:a="http://schemas.openxmlformats.org/drawingml/2006/main">
            <a:off x="685800" y="3219450"/>
            <a:ext cx="52197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800"/>
              </a:spcAft>
              <a:buChar char="•"/>
              <a:defRPr sz="1350">
                <a:solidFill>
                  <a:srgbClr val="000000"/>
                </a:solidFill>
                <a:latin typeface="Arial"/>
                <a:ea typeface="Arial"/>
                <a:cs typeface="Arial"/>
              </a:defRPr>
            </a:pPr>
            <a:r>
              <a:rPr sz="1350">
                <a:solidFill>
                  <a:srgbClr val="000000"/>
                </a:solidFill>
                <a:latin typeface="Arial"/>
                <a:ea typeface="Arial"/>
                <a:cs typeface="Arial"/>
              </a:rPr>
              <a:t>Queue state: arrivals, ready, blocked, and running counts.</a:t>
            </a:r>
          </a:p>
          <a:p xmlns:a="http://schemas.openxmlformats.org/drawingml/2006/main">
            <a:pPr marL="228600" indent="-114300">
              <a:spcAft>
                <a:spcPts val="800"/>
              </a:spcAft>
              <a:buChar char="•"/>
              <a:defRPr sz="1350">
                <a:solidFill>
                  <a:srgbClr val="000000"/>
                </a:solidFill>
                <a:latin typeface="Arial"/>
                <a:ea typeface="Arial"/>
                <a:cs typeface="Arial"/>
              </a:defRPr>
            </a:pPr>
            <a:r>
              <a:rPr sz="1350">
                <a:solidFill>
                  <a:srgbClr val="000000"/>
                </a:solidFill>
                <a:latin typeface="Arial"/>
                <a:ea typeface="Arial"/>
                <a:cs typeface="Arial"/>
              </a:rPr>
              <a:t>Delay and service: mean wait, P95 wait, service mean, and service variance.</a:t>
            </a:r>
          </a:p>
          <a:p xmlns:a="http://schemas.openxmlformats.org/drawingml/2006/main">
            <a:pPr marL="228600" indent="-114300">
              <a:spcAft>
                <a:spcPts val="800"/>
              </a:spcAft>
              <a:buChar char="•"/>
              <a:defRPr sz="1350">
                <a:solidFill>
                  <a:srgbClr val="000000"/>
                </a:solidFill>
                <a:latin typeface="Arial"/>
                <a:ea typeface="Arial"/>
                <a:cs typeface="Arial"/>
              </a:defRPr>
            </a:pPr>
            <a:r>
              <a:rPr sz="1350">
                <a:solidFill>
                  <a:srgbClr val="000000"/>
                </a:solidFill>
                <a:latin typeface="Arial"/>
                <a:ea typeface="Arial"/>
                <a:cs typeface="Arial"/>
              </a:rPr>
              <a:t>CPU and I/O history: completed-burst mean, completed-burst variance, I/O returns, and wakeups.</a:t>
            </a:r>
          </a:p>
          <a:p xmlns:a="http://schemas.openxmlformats.org/drawingml/2006/main">
            <a:pPr marL="228600" indent="-114300">
              <a:spcAft>
                <a:spcPts val="800"/>
              </a:spcAft>
              <a:buChar char="•"/>
              <a:defRPr sz="1350">
                <a:solidFill>
                  <a:srgbClr val="000000"/>
                </a:solidFill>
                <a:latin typeface="Arial"/>
                <a:ea typeface="Arial"/>
                <a:cs typeface="Arial"/>
              </a:defRPr>
            </a:pPr>
            <a:r>
              <a:rPr sz="1350">
                <a:solidFill>
                  <a:srgbClr val="000000"/>
                </a:solidFill>
                <a:latin typeface="Arial"/>
                <a:ea typeface="Arial"/>
                <a:cs typeface="Arial"/>
              </a:rPr>
              <a:t>Scheduling context: priority mean, priority variance, context switches, and CPU busy fraction.</a:t>
            </a:r>
          </a:p>
        </p:txBody>
      </p:sp>
      <p:sp>
        <p:nvSpPr>
          <p:cNvPr id="7" name="">
            <a:extLst xmlns:a="http://schemas.openxmlformats.org/drawingml/2006/main">
              <a:ext uri="{FF2B5EF4-FFF2-40B4-BE49-F238E27FC236}">
                <a16:creationId xmlns:a16="http://schemas.microsoft.com/office/drawing/2014/main" id="{36B785AA-6FD1-4008-B926-0E3369BEA935}"/>
              </a:ext>
            </a:extLst>
          </p:cNvPr>
          <p:cNvSpPr>
            <a:spLocks xmlns:a="http://schemas.openxmlformats.org/drawingml/2006/main" noGrp="1"/>
          </p:cNvSpPr>
          <p:nvPr/>
        </p:nvSpPr>
        <p:spPr>
          <a:xfrm xmlns:a="http://schemas.openxmlformats.org/drawingml/2006/main">
            <a:off x="6362700" y="12192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Decision-time rule</a:t>
            </a:r>
          </a:p>
        </p:txBody>
      </p:sp>
      <p:sp>
        <p:nvSpPr>
          <p:cNvPr id="8" name="">
            <a:extLst xmlns:a="http://schemas.openxmlformats.org/drawingml/2006/main">
              <a:ext uri="{FF2B5EF4-FFF2-40B4-BE49-F238E27FC236}">
                <a16:creationId xmlns:a16="http://schemas.microsoft.com/office/drawing/2014/main" id="{04F7E98D-9A27-4E89-90AF-7BB65669F13F}"/>
              </a:ext>
            </a:extLst>
          </p:cNvPr>
          <p:cNvSpPr>
            <a:spLocks xmlns:a="http://schemas.openxmlformats.org/drawingml/2006/main" noGrp="1"/>
          </p:cNvSpPr>
          <p:nvPr/>
        </p:nvSpPr>
        <p:spPr>
          <a:xfrm xmlns:a="http://schemas.openxmlformats.org/drawingml/2006/main">
            <a:off x="6362700" y="1619250"/>
            <a:ext cx="49530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200"/>
              </a:spcAft>
              <a:buChar char="•"/>
              <a:defRPr sz="1500">
                <a:solidFill>
                  <a:srgbClr val="000000"/>
                </a:solidFill>
                <a:latin typeface="Arial"/>
                <a:ea typeface="Arial"/>
                <a:cs typeface="Arial"/>
              </a:defRPr>
            </a:pPr>
            <a:r>
              <a:rPr sz="1500">
                <a:solidFill>
                  <a:srgbClr val="000000"/>
                </a:solidFill>
                <a:latin typeface="Arial"/>
                <a:ea typeface="Arial"/>
                <a:cs typeface="Arial"/>
              </a:rPr>
              <a:t>Every feature uses events observed before the decision time.</a:t>
            </a:r>
          </a:p>
          <a:p xmlns:a="http://schemas.openxmlformats.org/drawingml/2006/main">
            <a:pPr marL="228600" indent="-114300">
              <a:spcAft>
                <a:spcPts val="1200"/>
              </a:spcAft>
              <a:buChar char="•"/>
              <a:defRPr sz="1500">
                <a:solidFill>
                  <a:srgbClr val="000000"/>
                </a:solidFill>
                <a:latin typeface="Arial"/>
                <a:ea typeface="Arial"/>
                <a:cs typeface="Arial"/>
              </a:defRPr>
            </a:pPr>
            <a:r>
              <a:rPr sz="1500">
                <a:solidFill>
                  <a:srgbClr val="000000"/>
                </a:solidFill>
                <a:latin typeface="Arial"/>
                <a:ea typeface="Arial"/>
                <a:cs typeface="Arial"/>
              </a:rPr>
              <a:t>Allowed: queue size, waiting history, completed service, I/O returns, priorities, wakeups, and prior context switches.</a:t>
            </a:r>
          </a:p>
          <a:p xmlns:a="http://schemas.openxmlformats.org/drawingml/2006/main">
            <a:pPr marL="228600" indent="-114300">
              <a:spcAft>
                <a:spcPts val="1200"/>
              </a:spcAft>
              <a:buChar char="•"/>
              <a:defRPr sz="1500">
                <a:solidFill>
                  <a:srgbClr val="000000"/>
                </a:solidFill>
                <a:latin typeface="Arial"/>
                <a:ea typeface="Arial"/>
                <a:cs typeface="Arial"/>
              </a:defRPr>
            </a:pPr>
            <a:r>
              <a:rPr sz="1500">
                <a:solidFill>
                  <a:srgbClr val="000000"/>
                </a:solidFill>
                <a:latin typeface="Arial"/>
                <a:ea typeface="Arial"/>
                <a:cs typeface="Arial"/>
              </a:rPr>
              <a:t>Excluded: future arrivals, declared total work, true remaining burst, later outcomes, and oracle identity.</a:t>
            </a:r>
          </a:p>
        </p:txBody>
      </p:sp>
      <p:sp>
        <p:nvSpPr>
          <p:cNvPr id="9" name="">
            <a:extLst xmlns:a="http://schemas.openxmlformats.org/drawingml/2006/main">
              <a:ext uri="{FF2B5EF4-FFF2-40B4-BE49-F238E27FC236}">
                <a16:creationId xmlns:a16="http://schemas.microsoft.com/office/drawing/2014/main" id="{91D3D454-E15C-461D-852F-B0581218FD3B}"/>
              </a:ext>
            </a:extLst>
          </p:cNvPr>
          <p:cNvSpPr>
            <a:spLocks xmlns:a="http://schemas.openxmlformats.org/drawingml/2006/main" noGrp="1"/>
          </p:cNvSpPr>
          <p:nvPr/>
        </p:nvSpPr>
        <p:spPr>
          <a:xfrm xmlns:a="http://schemas.openxmlformats.org/drawingml/2006/main">
            <a:off x="6362700" y="44577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Selection rationale</a:t>
            </a:r>
          </a:p>
        </p:txBody>
      </p:sp>
      <p:sp>
        <p:nvSpPr>
          <p:cNvPr id="10" name="">
            <a:extLst xmlns:a="http://schemas.openxmlformats.org/drawingml/2006/main">
              <a:ext uri="{FF2B5EF4-FFF2-40B4-BE49-F238E27FC236}">
                <a16:creationId xmlns:a16="http://schemas.microsoft.com/office/drawing/2014/main" id="{B9C80DAC-EACB-44B0-A16C-D5136DC98DC4}"/>
              </a:ext>
            </a:extLst>
          </p:cNvPr>
          <p:cNvSpPr>
            <a:spLocks xmlns:a="http://schemas.openxmlformats.org/drawingml/2006/main" noGrp="1"/>
          </p:cNvSpPr>
          <p:nvPr/>
        </p:nvSpPr>
        <p:spPr>
          <a:xfrm xmlns:a="http://schemas.openxmlformats.org/drawingml/2006/main">
            <a:off x="6362700" y="48577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1000"/>
              </a:spcAft>
              <a:buChar char="•"/>
              <a:defRPr sz="1425">
                <a:solidFill>
                  <a:srgbClr val="000000"/>
                </a:solidFill>
                <a:latin typeface="Arial"/>
                <a:ea typeface="Arial"/>
                <a:cs typeface="Arial"/>
              </a:defRPr>
            </a:pPr>
            <a:r>
              <a:rPr sz="1425">
                <a:solidFill>
                  <a:srgbClr val="000000"/>
                </a:solidFill>
                <a:latin typeface="Arial"/>
                <a:ea typeface="Arial"/>
                <a:cs typeface="Arial"/>
              </a:rPr>
              <a:t>Process history can predict scheduler behavior [5].</a:t>
            </a:r>
          </a:p>
          <a:p xmlns:a="http://schemas.openxmlformats.org/drawingml/2006/main">
            <a:pPr marL="228600" indent="-114300">
              <a:spcAft>
                <a:spcPts val="1000"/>
              </a:spcAft>
              <a:buChar char="•"/>
              <a:defRPr sz="1425">
                <a:solidFill>
                  <a:srgbClr val="000000"/>
                </a:solidFill>
                <a:latin typeface="Arial"/>
                <a:ea typeface="Arial"/>
                <a:cs typeface="Arial"/>
              </a:defRPr>
            </a:pPr>
            <a:r>
              <a:rPr sz="1425">
                <a:solidFill>
                  <a:srgbClr val="000000"/>
                </a:solidFill>
                <a:latin typeface="Arial"/>
                <a:ea typeface="Arial"/>
                <a:cs typeface="Arial"/>
              </a:rPr>
              <a:t>Recent queue and service history supports adaptive control [3].</a:t>
            </a:r>
          </a:p>
        </p:txBody>
      </p:sp>
      <p:sp>
        <p:nvSpPr>
          <p:cNvPr id="11" name="">
            <a:extLst xmlns:a="http://schemas.openxmlformats.org/drawingml/2006/main">
              <a:ext uri="{FF2B5EF4-FFF2-40B4-BE49-F238E27FC236}">
                <a16:creationId xmlns:a16="http://schemas.microsoft.com/office/drawing/2014/main" id="{0F9A2E7F-18B4-46D6-8B67-233A292E87E6}"/>
              </a:ext>
            </a:extLst>
          </p:cNvPr>
          <p:cNvSpPr>
            <a:spLocks xmlns:a="http://schemas.openxmlformats.org/drawingml/2006/main" noGrp="1"/>
          </p:cNvSpPr>
          <p:nvPr/>
        </p:nvSpPr>
        <p:spPr>
          <a:xfrm xmlns:a="http://schemas.openxmlformats.org/drawingml/2006/main">
            <a:off x="571500" y="64579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000000"/>
                </a:solidFill>
                <a:latin typeface="Arial"/>
                <a:ea typeface="Arial"/>
                <a:cs typeface="Arial"/>
              </a:defRPr>
            </a:defPPr>
            <a:lvl1pPr>
              <a:defRPr sz="750" b="0" i="0">
                <a:solidFill>
                  <a:srgbClr val="000000"/>
                </a:solidFill>
                <a:latin typeface="Arial"/>
                <a:ea typeface="Arial"/>
                <a:cs typeface="Arial"/>
              </a:defRPr>
            </a:lvl1pPr>
            <a:lvl2pPr>
              <a:defRPr sz="750" b="0" i="0">
                <a:solidFill>
                  <a:srgbClr val="000000"/>
                </a:solidFill>
                <a:latin typeface="Arial"/>
                <a:ea typeface="Arial"/>
                <a:cs typeface="Arial"/>
              </a:defRPr>
            </a:lvl2pPr>
            <a:lvl3pPr>
              <a:defRPr sz="750" b="0" i="0">
                <a:solidFill>
                  <a:srgbClr val="000000"/>
                </a:solidFill>
                <a:latin typeface="Arial"/>
                <a:ea typeface="Arial"/>
                <a:cs typeface="Arial"/>
              </a:defRPr>
            </a:lvl3pPr>
            <a:lvl4pPr>
              <a:defRPr sz="750" b="0" i="0">
                <a:solidFill>
                  <a:srgbClr val="000000"/>
                </a:solidFill>
                <a:latin typeface="Arial"/>
                <a:ea typeface="Arial"/>
                <a:cs typeface="Arial"/>
              </a:defRPr>
            </a:lvl4pPr>
            <a:lvl5pPr>
              <a:defRPr sz="750" b="0" i="0">
                <a:solidFill>
                  <a:srgbClr val="000000"/>
                </a:solidFill>
                <a:latin typeface="Arial"/>
                <a:ea typeface="Arial"/>
                <a:cs typeface="Arial"/>
              </a:defRPr>
            </a:lvl5pPr>
            <a:lvl6pPr>
              <a:defRPr sz="750" b="0" i="0">
                <a:solidFill>
                  <a:srgbClr val="000000"/>
                </a:solidFill>
                <a:latin typeface="Arial"/>
                <a:ea typeface="Arial"/>
                <a:cs typeface="Arial"/>
              </a:defRPr>
            </a:lvl6pPr>
            <a:lvl7pPr>
              <a:defRPr sz="750" b="0" i="0">
                <a:solidFill>
                  <a:srgbClr val="000000"/>
                </a:solidFill>
                <a:latin typeface="Arial"/>
                <a:ea typeface="Arial"/>
                <a:cs typeface="Arial"/>
              </a:defRPr>
            </a:lvl7pPr>
            <a:lvl8pPr>
              <a:defRPr sz="750" b="0" i="0">
                <a:solidFill>
                  <a:srgbClr val="000000"/>
                </a:solidFill>
                <a:latin typeface="Arial"/>
                <a:ea typeface="Arial"/>
                <a:cs typeface="Arial"/>
              </a:defRPr>
            </a:lvl8pPr>
            <a:lvl9pPr>
              <a:defRPr sz="750" b="0" i="0">
                <a:solidFill>
                  <a:srgbClr val="000000"/>
                </a:solidFill>
                <a:latin typeface="Arial"/>
                <a:ea typeface="Arial"/>
                <a:cs typeface="Arial"/>
              </a:defRPr>
            </a:lvl9pPr>
          </a:lstStyle>
          <a:p xmlns:a="http://schemas.openxmlformats.org/drawingml/2006/main">
            <a:pPr>
              <a:defRPr sz="750" b="0" i="0">
                <a:solidFill>
                  <a:srgbClr val="000000"/>
                </a:solidFill>
                <a:latin typeface="Arial"/>
                <a:ea typeface="Arial"/>
                <a:cs typeface="Arial"/>
              </a:defRPr>
            </a:pPr>
            <a:r>
              <a:rPr sz="750" b="0" i="0">
                <a:solidFill>
                  <a:srgbClr val="000000"/>
                </a:solidFill>
                <a:latin typeface="Arial"/>
                <a:ea typeface="Arial"/>
                <a:cs typeface="Arial"/>
              </a:rPr>
              <a:t>[3] Fu et al.  [5] Negi and Pusukuri</a:t>
            </a:r>
          </a:p>
        </p:txBody>
      </p:sp>
    </p:spTree>
    <p:extLst>
      <p:ext uri="{BB962C8B-B14F-4D97-AF65-F5344CB8AC3E}">
        <p14:creationId xmlns:p14="http://schemas.microsoft.com/office/powerpoint/2010/main" val="20292410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A761B0-4FBE-43B9-90D5-369C296CBEF3}"/>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System modules</a:t>
            </a:r>
          </a:p>
        </p:txBody>
      </p:sp>
      <p:sp>
        <p:nvSpPr>
          <p:cNvPr id="2" name="">
            <a:extLst xmlns:a="http://schemas.openxmlformats.org/drawingml/2006/main">
              <a:ext uri="{FF2B5EF4-FFF2-40B4-BE49-F238E27FC236}">
                <a16:creationId xmlns:a16="http://schemas.microsoft.com/office/drawing/2014/main" id="{DE1B0194-85B1-47FC-80F7-46C8E7379A47}"/>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7843292F-5BC0-4DD0-9239-6CBE1C14B9FD}"/>
              </a:ext>
            </a:extLst>
          </p:cNvPr>
          <p:cNvSpPr>
            <a:spLocks xmlns:a="http://schemas.openxmlformats.org/drawingml/2006/main" noGrp="1"/>
          </p:cNvSpPr>
          <p:nvPr/>
        </p:nvSpPr>
        <p:spPr>
          <a:xfrm xmlns:a="http://schemas.openxmlformats.org/drawingml/2006/main">
            <a:off x="685800" y="1219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The prototype runs through five modules</a:t>
            </a:r>
          </a:p>
        </p:txBody>
      </p:sp>
      <p:sp>
        <p:nvSpPr>
          <p:cNvPr id="4" name="">
            <a:extLst xmlns:a="http://schemas.openxmlformats.org/drawingml/2006/main">
              <a:ext uri="{FF2B5EF4-FFF2-40B4-BE49-F238E27FC236}">
                <a16:creationId xmlns:a16="http://schemas.microsoft.com/office/drawing/2014/main" id="{11DC033D-7F4E-487E-B59E-E760B358CBA8}"/>
              </a:ext>
            </a:extLst>
          </p:cNvPr>
          <p:cNvSpPr>
            <a:spLocks xmlns:a="http://schemas.openxmlformats.org/drawingml/2006/main" noGrp="1"/>
          </p:cNvSpPr>
          <p:nvPr/>
        </p:nvSpPr>
        <p:spPr>
          <a:xfrm xmlns:a="http://schemas.openxmlformats.org/drawingml/2006/main">
            <a:off x="685800" y="1733550"/>
            <a:ext cx="104775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Trace and workload input: Linux scheduler events and controlled workload traces enter the system.</a:t>
            </a:r>
          </a:p>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Data preparation: cleaning, replay, feature extraction, and grouped splitting create safe model inputs.</a:t>
            </a:r>
          </a:p>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Model comparison: action-cost labels compare five model families and freeze the validated choice.</a:t>
            </a:r>
          </a:p>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Dynamic V3 router: confidence, dwell, and safe-boundary checks decide whether a suggested switch can occur.</a:t>
            </a:r>
          </a:p>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Shared simulator and reporting: every policy runs through one engine that produces metrics, a decision log, and a Gantt chart.</a:t>
            </a:r>
          </a:p>
        </p:txBody>
      </p:sp>
      <p:sp>
        <p:nvSpPr>
          <p:cNvPr id="5" name="">
            <a:extLst xmlns:a="http://schemas.openxmlformats.org/drawingml/2006/main">
              <a:ext uri="{FF2B5EF4-FFF2-40B4-BE49-F238E27FC236}">
                <a16:creationId xmlns:a16="http://schemas.microsoft.com/office/drawing/2014/main" id="{30BE591F-EE67-448A-B170-B1E1A8EC5F50}"/>
              </a:ext>
            </a:extLst>
          </p:cNvPr>
          <p:cNvSpPr>
            <a:spLocks xmlns:a="http://schemas.openxmlformats.org/drawingml/2006/main" noGrp="1"/>
          </p:cNvSpPr>
          <p:nvPr/>
        </p:nvSpPr>
        <p:spPr>
          <a:xfrm xmlns:a="http://schemas.openxmlformats.org/drawingml/2006/main">
            <a:off x="685800" y="52197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Frozen research contract</a:t>
            </a:r>
          </a:p>
        </p:txBody>
      </p:sp>
      <p:sp>
        <p:nvSpPr>
          <p:cNvPr id="6" name="">
            <a:extLst xmlns:a="http://schemas.openxmlformats.org/drawingml/2006/main">
              <a:ext uri="{FF2B5EF4-FFF2-40B4-BE49-F238E27FC236}">
                <a16:creationId xmlns:a16="http://schemas.microsoft.com/office/drawing/2014/main" id="{2A59E19D-0781-4DCB-9EEB-8C6A4080C275}"/>
              </a:ext>
            </a:extLst>
          </p:cNvPr>
          <p:cNvSpPr>
            <a:spLocks xmlns:a="http://schemas.openxmlformats.org/drawingml/2006/main" noGrp="1"/>
          </p:cNvSpPr>
          <p:nvPr/>
        </p:nvSpPr>
        <p:spPr>
          <a:xfrm xmlns:a="http://schemas.openxmlformats.org/drawingml/2006/main">
            <a:off x="685800" y="56197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1000"/>
              </a:spcAft>
              <a:buChar char="•"/>
              <a:defRPr sz="1425">
                <a:solidFill>
                  <a:srgbClr val="000000"/>
                </a:solidFill>
                <a:latin typeface="Arial"/>
                <a:ea typeface="Arial"/>
                <a:cs typeface="Arial"/>
              </a:defRPr>
            </a:pPr>
            <a:r>
              <a:rPr sz="1425">
                <a:solidFill>
                  <a:srgbClr val="000000"/>
                </a:solidFill>
                <a:latin typeface="Arial"/>
                <a:ea typeface="Arial"/>
                <a:cs typeface="Arial"/>
              </a:rPr>
              <a:t>Fixed policy set, score weights, feature rules, seeds, latency gate, and evidence boundary.</a:t>
            </a:r>
          </a:p>
        </p:txBody>
      </p:sp>
      <p:sp>
        <p:nvSpPr>
          <p:cNvPr id="7" name="">
            <a:extLst xmlns:a="http://schemas.openxmlformats.org/drawingml/2006/main">
              <a:ext uri="{FF2B5EF4-FFF2-40B4-BE49-F238E27FC236}">
                <a16:creationId xmlns:a16="http://schemas.microsoft.com/office/drawing/2014/main" id="{54F42BC9-36B3-434E-A6F1-8C70E3D36946}"/>
              </a:ext>
            </a:extLst>
          </p:cNvPr>
          <p:cNvSpPr>
            <a:spLocks xmlns:a="http://schemas.openxmlformats.org/drawingml/2006/main" noGrp="1"/>
          </p:cNvSpPr>
          <p:nvPr/>
        </p:nvSpPr>
        <p:spPr>
          <a:xfrm xmlns:a="http://schemas.openxmlformats.org/drawingml/2006/main">
            <a:off x="571500" y="64579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000000"/>
                </a:solidFill>
                <a:latin typeface="Arial"/>
                <a:ea typeface="Arial"/>
                <a:cs typeface="Arial"/>
              </a:defRPr>
            </a:defPPr>
            <a:lvl1pPr>
              <a:defRPr sz="750" b="0" i="0">
                <a:solidFill>
                  <a:srgbClr val="000000"/>
                </a:solidFill>
                <a:latin typeface="Arial"/>
                <a:ea typeface="Arial"/>
                <a:cs typeface="Arial"/>
              </a:defRPr>
            </a:lvl1pPr>
            <a:lvl2pPr>
              <a:defRPr sz="750" b="0" i="0">
                <a:solidFill>
                  <a:srgbClr val="000000"/>
                </a:solidFill>
                <a:latin typeface="Arial"/>
                <a:ea typeface="Arial"/>
                <a:cs typeface="Arial"/>
              </a:defRPr>
            </a:lvl2pPr>
            <a:lvl3pPr>
              <a:defRPr sz="750" b="0" i="0">
                <a:solidFill>
                  <a:srgbClr val="000000"/>
                </a:solidFill>
                <a:latin typeface="Arial"/>
                <a:ea typeface="Arial"/>
                <a:cs typeface="Arial"/>
              </a:defRPr>
            </a:lvl3pPr>
            <a:lvl4pPr>
              <a:defRPr sz="750" b="0" i="0">
                <a:solidFill>
                  <a:srgbClr val="000000"/>
                </a:solidFill>
                <a:latin typeface="Arial"/>
                <a:ea typeface="Arial"/>
                <a:cs typeface="Arial"/>
              </a:defRPr>
            </a:lvl4pPr>
            <a:lvl5pPr>
              <a:defRPr sz="750" b="0" i="0">
                <a:solidFill>
                  <a:srgbClr val="000000"/>
                </a:solidFill>
                <a:latin typeface="Arial"/>
                <a:ea typeface="Arial"/>
                <a:cs typeface="Arial"/>
              </a:defRPr>
            </a:lvl5pPr>
            <a:lvl6pPr>
              <a:defRPr sz="750" b="0" i="0">
                <a:solidFill>
                  <a:srgbClr val="000000"/>
                </a:solidFill>
                <a:latin typeface="Arial"/>
                <a:ea typeface="Arial"/>
                <a:cs typeface="Arial"/>
              </a:defRPr>
            </a:lvl6pPr>
            <a:lvl7pPr>
              <a:defRPr sz="750" b="0" i="0">
                <a:solidFill>
                  <a:srgbClr val="000000"/>
                </a:solidFill>
                <a:latin typeface="Arial"/>
                <a:ea typeface="Arial"/>
                <a:cs typeface="Arial"/>
              </a:defRPr>
            </a:lvl7pPr>
            <a:lvl8pPr>
              <a:defRPr sz="750" b="0" i="0">
                <a:solidFill>
                  <a:srgbClr val="000000"/>
                </a:solidFill>
                <a:latin typeface="Arial"/>
                <a:ea typeface="Arial"/>
                <a:cs typeface="Arial"/>
              </a:defRPr>
            </a:lvl8pPr>
            <a:lvl9pPr>
              <a:defRPr sz="750" b="0" i="0">
                <a:solidFill>
                  <a:srgbClr val="000000"/>
                </a:solidFill>
                <a:latin typeface="Arial"/>
                <a:ea typeface="Arial"/>
                <a:cs typeface="Arial"/>
              </a:defRPr>
            </a:lvl9pPr>
          </a:lstStyle>
          <a:p xmlns:a="http://schemas.openxmlformats.org/drawingml/2006/main">
            <a:pPr>
              <a:defRPr sz="750" b="0" i="0">
                <a:solidFill>
                  <a:srgbClr val="000000"/>
                </a:solidFill>
                <a:latin typeface="Arial"/>
                <a:ea typeface="Arial"/>
                <a:cs typeface="Arial"/>
              </a:defRPr>
            </a:pPr>
            <a:r>
              <a:rPr sz="750" b="0" i="0">
                <a:solidFill>
                  <a:srgbClr val="000000"/>
                </a:solidFill>
                <a:latin typeface="Arial"/>
                <a:ea typeface="Arial"/>
                <a:cs typeface="Arial"/>
              </a:rPr>
              <a:t>Architecture precedents: [1] policy selection  [2] learned routing  [3] separated learning and execution</a:t>
            </a:r>
          </a:p>
        </p:txBody>
      </p:sp>
    </p:spTree>
    <p:extLst>
      <p:ext uri="{BB962C8B-B14F-4D97-AF65-F5344CB8AC3E}">
        <p14:creationId xmlns:p14="http://schemas.microsoft.com/office/powerpoint/2010/main" val="11261882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FC1036-6461-4CBF-952F-80C11F777D68}"/>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Five machine-learning models</a:t>
            </a:r>
          </a:p>
        </p:txBody>
      </p:sp>
      <p:sp>
        <p:nvSpPr>
          <p:cNvPr id="2" name="">
            <a:extLst xmlns:a="http://schemas.openxmlformats.org/drawingml/2006/main">
              <a:ext uri="{FF2B5EF4-FFF2-40B4-BE49-F238E27FC236}">
                <a16:creationId xmlns:a16="http://schemas.microsoft.com/office/drawing/2014/main" id="{0002B80B-914D-466B-B0BB-0785EFE5F105}"/>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4AC74389-6CF9-4BA5-8BAF-5B6F782A234C}"/>
              </a:ext>
            </a:extLst>
          </p:cNvPr>
          <p:cNvSpPr>
            <a:spLocks xmlns:a="http://schemas.openxmlformats.org/drawingml/2006/main" noGrp="1"/>
          </p:cNvSpPr>
          <p:nvPr/>
        </p:nvSpPr>
        <p:spPr>
          <a:xfrm xmlns:a="http://schemas.openxmlformats.org/drawingml/2006/main">
            <a:off x="685800" y="1333500"/>
            <a:ext cx="10382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a:solidFill>
                  <a:srgbClr val="000000"/>
                </a:solidFill>
                <a:latin typeface="Arial"/>
                <a:ea typeface="Arial"/>
                <a:cs typeface="Arial"/>
              </a:defRPr>
            </a:defPPr>
            <a:lvl1pPr>
              <a:defRPr sz="1650">
                <a:solidFill>
                  <a:srgbClr val="000000"/>
                </a:solidFill>
                <a:latin typeface="Arial"/>
                <a:ea typeface="Arial"/>
                <a:cs typeface="Arial"/>
              </a:defRPr>
            </a:lvl1pPr>
            <a:lvl2pPr>
              <a:defRPr sz="1650">
                <a:solidFill>
                  <a:srgbClr val="000000"/>
                </a:solidFill>
                <a:latin typeface="Arial"/>
                <a:ea typeface="Arial"/>
                <a:cs typeface="Arial"/>
              </a:defRPr>
            </a:lvl2pPr>
            <a:lvl3pPr>
              <a:defRPr sz="1650">
                <a:solidFill>
                  <a:srgbClr val="000000"/>
                </a:solidFill>
                <a:latin typeface="Arial"/>
                <a:ea typeface="Arial"/>
                <a:cs typeface="Arial"/>
              </a:defRPr>
            </a:lvl3pPr>
            <a:lvl4pPr>
              <a:defRPr sz="1650">
                <a:solidFill>
                  <a:srgbClr val="000000"/>
                </a:solidFill>
                <a:latin typeface="Arial"/>
                <a:ea typeface="Arial"/>
                <a:cs typeface="Arial"/>
              </a:defRPr>
            </a:lvl4pPr>
            <a:lvl5pPr>
              <a:defRPr sz="1650">
                <a:solidFill>
                  <a:srgbClr val="000000"/>
                </a:solidFill>
                <a:latin typeface="Arial"/>
                <a:ea typeface="Arial"/>
                <a:cs typeface="Arial"/>
              </a:defRPr>
            </a:lvl5pPr>
            <a:lvl6pPr>
              <a:defRPr sz="1650">
                <a:solidFill>
                  <a:srgbClr val="000000"/>
                </a:solidFill>
                <a:latin typeface="Arial"/>
                <a:ea typeface="Arial"/>
                <a:cs typeface="Arial"/>
              </a:defRPr>
            </a:lvl6pPr>
            <a:lvl7pPr>
              <a:defRPr sz="1650">
                <a:solidFill>
                  <a:srgbClr val="000000"/>
                </a:solidFill>
                <a:latin typeface="Arial"/>
                <a:ea typeface="Arial"/>
                <a:cs typeface="Arial"/>
              </a:defRPr>
            </a:lvl7pPr>
            <a:lvl8pPr>
              <a:defRPr sz="1650">
                <a:solidFill>
                  <a:srgbClr val="000000"/>
                </a:solidFill>
                <a:latin typeface="Arial"/>
                <a:ea typeface="Arial"/>
                <a:cs typeface="Arial"/>
              </a:defRPr>
            </a:lvl8pPr>
            <a:lvl9pPr>
              <a:defRPr sz="1650">
                <a:solidFill>
                  <a:srgbClr val="000000"/>
                </a:solidFill>
                <a:latin typeface="Arial"/>
                <a:ea typeface="Arial"/>
                <a:cs typeface="Arial"/>
              </a:defRPr>
            </a:lvl9pPr>
          </a:lstStyle>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Dummy: minimum reference baseline.</a:t>
            </a:r>
          </a:p>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Ridge: fast regularized linear cost estimator.</a:t>
            </a:r>
          </a:p>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Decision Tree: interpretable nonlinear decision rules.</a:t>
            </a:r>
          </a:p>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Random Forest: averaged tree ensemble that reduces single-tree variance.</a:t>
            </a:r>
          </a:p>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Histogram Gradient Boosting: sequential trees that correct earlier errors.</a:t>
            </a:r>
          </a:p>
        </p:txBody>
      </p:sp>
      <p:sp>
        <p:nvSpPr>
          <p:cNvPr id="4" name="">
            <a:extLst xmlns:a="http://schemas.openxmlformats.org/drawingml/2006/main">
              <a:ext uri="{FF2B5EF4-FFF2-40B4-BE49-F238E27FC236}">
                <a16:creationId xmlns:a16="http://schemas.microsoft.com/office/drawing/2014/main" id="{C7A9D7CB-6ADD-46AE-A689-599A7E9647E2}"/>
              </a:ext>
            </a:extLst>
          </p:cNvPr>
          <p:cNvSpPr>
            <a:spLocks xmlns:a="http://schemas.openxmlformats.org/drawingml/2006/main" noGrp="1"/>
          </p:cNvSpPr>
          <p:nvPr/>
        </p:nvSpPr>
        <p:spPr>
          <a:xfrm xmlns:a="http://schemas.openxmlformats.org/drawingml/2006/main">
            <a:off x="685800" y="464820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Fair comparison</a:t>
            </a:r>
          </a:p>
        </p:txBody>
      </p:sp>
      <p:sp>
        <p:nvSpPr>
          <p:cNvPr id="5" name="">
            <a:extLst xmlns:a="http://schemas.openxmlformats.org/drawingml/2006/main">
              <a:ext uri="{FF2B5EF4-FFF2-40B4-BE49-F238E27FC236}">
                <a16:creationId xmlns:a16="http://schemas.microsoft.com/office/drawing/2014/main" id="{190FFDC8-3253-4570-8378-E2442A952196}"/>
              </a:ext>
            </a:extLst>
          </p:cNvPr>
          <p:cNvSpPr>
            <a:spLocks xmlns:a="http://schemas.openxmlformats.org/drawingml/2006/main" noGrp="1"/>
          </p:cNvSpPr>
          <p:nvPr/>
        </p:nvSpPr>
        <p:spPr>
          <a:xfrm xmlns:a="http://schemas.openxmlformats.org/drawingml/2006/main">
            <a:off x="685800" y="5048250"/>
            <a:ext cx="1038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All models receive the same 16 features.</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All models use the same grouped split, action-cost targets, and tuning budget.</a:t>
            </a:r>
          </a:p>
        </p:txBody>
      </p:sp>
      <p:sp>
        <p:nvSpPr>
          <p:cNvPr id="6" name="">
            <a:extLst xmlns:a="http://schemas.openxmlformats.org/drawingml/2006/main">
              <a:ext uri="{FF2B5EF4-FFF2-40B4-BE49-F238E27FC236}">
                <a16:creationId xmlns:a16="http://schemas.microsoft.com/office/drawing/2014/main" id="{FE27DB40-A56F-4E16-A5AA-25F554CE5622}"/>
              </a:ext>
            </a:extLst>
          </p:cNvPr>
          <p:cNvSpPr>
            <a:spLocks xmlns:a="http://schemas.openxmlformats.org/drawingml/2006/main" noGrp="1"/>
          </p:cNvSpPr>
          <p:nvPr/>
        </p:nvSpPr>
        <p:spPr>
          <a:xfrm xmlns:a="http://schemas.openxmlformats.org/drawingml/2006/main">
            <a:off x="571500" y="64579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000000"/>
                </a:solidFill>
                <a:latin typeface="Arial"/>
                <a:ea typeface="Arial"/>
                <a:cs typeface="Arial"/>
              </a:defRPr>
            </a:defPPr>
            <a:lvl1pPr>
              <a:defRPr sz="750" b="0" i="0">
                <a:solidFill>
                  <a:srgbClr val="000000"/>
                </a:solidFill>
                <a:latin typeface="Arial"/>
                <a:ea typeface="Arial"/>
                <a:cs typeface="Arial"/>
              </a:defRPr>
            </a:lvl1pPr>
            <a:lvl2pPr>
              <a:defRPr sz="750" b="0" i="0">
                <a:solidFill>
                  <a:srgbClr val="000000"/>
                </a:solidFill>
                <a:latin typeface="Arial"/>
                <a:ea typeface="Arial"/>
                <a:cs typeface="Arial"/>
              </a:defRPr>
            </a:lvl2pPr>
            <a:lvl3pPr>
              <a:defRPr sz="750" b="0" i="0">
                <a:solidFill>
                  <a:srgbClr val="000000"/>
                </a:solidFill>
                <a:latin typeface="Arial"/>
                <a:ea typeface="Arial"/>
                <a:cs typeface="Arial"/>
              </a:defRPr>
            </a:lvl3pPr>
            <a:lvl4pPr>
              <a:defRPr sz="750" b="0" i="0">
                <a:solidFill>
                  <a:srgbClr val="000000"/>
                </a:solidFill>
                <a:latin typeface="Arial"/>
                <a:ea typeface="Arial"/>
                <a:cs typeface="Arial"/>
              </a:defRPr>
            </a:lvl4pPr>
            <a:lvl5pPr>
              <a:defRPr sz="750" b="0" i="0">
                <a:solidFill>
                  <a:srgbClr val="000000"/>
                </a:solidFill>
                <a:latin typeface="Arial"/>
                <a:ea typeface="Arial"/>
                <a:cs typeface="Arial"/>
              </a:defRPr>
            </a:lvl5pPr>
            <a:lvl6pPr>
              <a:defRPr sz="750" b="0" i="0">
                <a:solidFill>
                  <a:srgbClr val="000000"/>
                </a:solidFill>
                <a:latin typeface="Arial"/>
                <a:ea typeface="Arial"/>
                <a:cs typeface="Arial"/>
              </a:defRPr>
            </a:lvl6pPr>
            <a:lvl7pPr>
              <a:defRPr sz="750" b="0" i="0">
                <a:solidFill>
                  <a:srgbClr val="000000"/>
                </a:solidFill>
                <a:latin typeface="Arial"/>
                <a:ea typeface="Arial"/>
                <a:cs typeface="Arial"/>
              </a:defRPr>
            </a:lvl7pPr>
            <a:lvl8pPr>
              <a:defRPr sz="750" b="0" i="0">
                <a:solidFill>
                  <a:srgbClr val="000000"/>
                </a:solidFill>
                <a:latin typeface="Arial"/>
                <a:ea typeface="Arial"/>
                <a:cs typeface="Arial"/>
              </a:defRPr>
            </a:lvl8pPr>
            <a:lvl9pPr>
              <a:defRPr sz="750" b="0" i="0">
                <a:solidFill>
                  <a:srgbClr val="000000"/>
                </a:solidFill>
                <a:latin typeface="Arial"/>
                <a:ea typeface="Arial"/>
                <a:cs typeface="Arial"/>
              </a:defRPr>
            </a:lvl9pPr>
          </a:lstStyle>
          <a:p xmlns:a="http://schemas.openxmlformats.org/drawingml/2006/main">
            <a:pPr>
              <a:defRPr sz="750" b="0" i="0">
                <a:solidFill>
                  <a:srgbClr val="000000"/>
                </a:solidFill>
                <a:latin typeface="Arial"/>
                <a:ea typeface="Arial"/>
                <a:cs typeface="Arial"/>
              </a:defRPr>
            </a:pPr>
            <a:r>
              <a:rPr sz="750" b="0" i="0">
                <a:solidFill>
                  <a:srgbClr val="000000"/>
                </a:solidFill>
                <a:latin typeface="Arial"/>
                <a:ea typeface="Arial"/>
                <a:cs typeface="Arial"/>
              </a:rPr>
              <a:t>[7] scikit-learn  [8] Ridge  [9] Decision Trees  [10] Random Forest  [11] Gradient Boosting  Scheduling use: [1], [5]</a:t>
            </a:r>
          </a:p>
        </p:txBody>
      </p:sp>
    </p:spTree>
    <p:extLst>
      <p:ext uri="{BB962C8B-B14F-4D97-AF65-F5344CB8AC3E}">
        <p14:creationId xmlns:p14="http://schemas.microsoft.com/office/powerpoint/2010/main" val="7200663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34DA29-D830-4433-9CC5-54EACA6CD4B9}"/>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Model comparison results</a:t>
            </a:r>
          </a:p>
        </p:txBody>
      </p:sp>
      <p:sp>
        <p:nvSpPr>
          <p:cNvPr id="2" name="">
            <a:extLst xmlns:a="http://schemas.openxmlformats.org/drawingml/2006/main">
              <a:ext uri="{FF2B5EF4-FFF2-40B4-BE49-F238E27FC236}">
                <a16:creationId xmlns:a16="http://schemas.microsoft.com/office/drawing/2014/main" id="{3748EC01-3C7D-425C-A808-2B8276D36E46}"/>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C5C884A3-15D5-4EF8-8615-DAAE0957E576}"/>
              </a:ext>
            </a:extLst>
          </p:cNvPr>
          <p:cNvGraphicFramePr/>
          <p:nvPr/>
        </p:nvGraphicFramePr>
        <p:xfrm>
          <a:off xmlns:a="http://schemas.openxmlformats.org/drawingml/2006/main" x="533400" y="1257300"/>
          <a:ext xmlns:a="http://schemas.openxmlformats.org/drawingml/2006/main" cx="11125200" cy="3257550"/>
        </p:xfrm>
        <a:graphic xmlns:a="http://schemas.openxmlformats.org/drawingml/2006/main">
          <a:graphicData uri="http://schemas.openxmlformats.org/drawingml/2006/table">
            <a:tbl>
              <a:tblPr/>
              <a:tblGrid>
                <a:gridCol w="2628900"/>
                <a:gridCol w="1257300"/>
                <a:gridCol w="1257300"/>
                <a:gridCol w="1790700"/>
                <a:gridCol w="2095500"/>
                <a:gridCol w="2095500"/>
              </a:tblGrid>
              <a:tr h="542925">
                <a:tc>
                  <a:txBody>
                    <a:bodyPr/>
                    <a:lstStyle/>
                    <a:p>
                      <a:r>
                        <a:rPr sz="1200" b="1">
                          <a:solidFill>
                            <a:srgbClr val="FFFFFF"/>
                          </a:solidFill>
                          <a:latin typeface="Arial"/>
                          <a:ea typeface="Arial"/>
                          <a:cs typeface="Arial"/>
                        </a:rPr>
                        <a:t>Model</a:t>
                      </a:r>
                    </a:p>
                  </a:txBody>
                  <a:tcPr marL="57150" marR="57150" marT="38100" marB="38100" anchor="ctr">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Val. acc.</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Test acc.</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Val. score</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Val. regret</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Test regret</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r>
              <a:tr h="542925">
                <a:tc>
                  <a:txBody>
                    <a:bodyPr/>
                    <a:lstStyle/>
                    <a:p>
                      <a:r>
                        <a:rPr sz="1200">
                          <a:solidFill>
                            <a:srgbClr val="000000"/>
                          </a:solidFill>
                          <a:latin typeface="Arial"/>
                          <a:ea typeface="Arial"/>
                          <a:cs typeface="Arial"/>
                        </a:rPr>
                        <a:t>Dummy</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21.27%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36.77%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0.162973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0.008352</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0.011888</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42925">
                <a:tc>
                  <a:txBody>
                    <a:bodyPr/>
                    <a:lstStyle/>
                    <a:p>
                      <a:r>
                        <a:rPr sz="1200">
                          <a:solidFill>
                            <a:srgbClr val="000000"/>
                          </a:solidFill>
                          <a:latin typeface="Arial"/>
                          <a:ea typeface="Arial"/>
                          <a:cs typeface="Arial"/>
                        </a:rPr>
                        <a:t>Ridge</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27.53%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35.35%</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0.143103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0.005457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0.005816</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42925">
                <a:tc>
                  <a:txBody>
                    <a:bodyPr/>
                    <a:lstStyle/>
                    <a:p>
                      <a:r>
                        <a:rPr sz="1200">
                          <a:solidFill>
                            <a:srgbClr val="000000"/>
                          </a:solidFill>
                          <a:latin typeface="Arial"/>
                          <a:ea typeface="Arial"/>
                          <a:cs typeface="Arial"/>
                        </a:rPr>
                        <a:t>Decision Tree</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43.46%</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42.23%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0.120669</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0.004216</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0.004394</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42925">
                <a:tc>
                  <a:txBody>
                    <a:bodyPr/>
                    <a:lstStyle/>
                    <a:p>
                      <a:r>
                        <a:rPr sz="1200">
                          <a:solidFill>
                            <a:srgbClr val="000000"/>
                          </a:solidFill>
                          <a:latin typeface="Arial"/>
                          <a:ea typeface="Arial"/>
                          <a:cs typeface="Arial"/>
                        </a:rPr>
                        <a:t>Random Forest</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44.82%</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43.18%</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0.126164</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0.003888</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0.004612</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42925">
                <a:tc>
                  <a:txBody>
                    <a:bodyPr/>
                    <a:lstStyle/>
                    <a:p>
                      <a:r>
                        <a:rPr sz="1200">
                          <a:solidFill>
                            <a:srgbClr val="000000"/>
                          </a:solidFill>
                          <a:latin typeface="Arial"/>
                          <a:ea typeface="Arial"/>
                          <a:cs typeface="Arial"/>
                        </a:rPr>
                        <a:t>Histogram Gradient Boosting</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27.65%</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44.84%</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0.140503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0.004523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0.004257</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53C7A0A-A6AB-4F17-A35C-3D5CF563D248}"/>
              </a:ext>
            </a:extLst>
          </p:cNvPr>
          <p:cNvSpPr>
            <a:spLocks xmlns:a="http://schemas.openxmlformats.org/drawingml/2006/main" noGrp="1"/>
          </p:cNvSpPr>
          <p:nvPr/>
        </p:nvSpPr>
        <p:spPr>
          <a:xfrm xmlns:a="http://schemas.openxmlformats.org/drawingml/2006/main">
            <a:off x="685800" y="4819650"/>
            <a:ext cx="10572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Accuracy measures agreement with the deterministic lowest-cost action. It does not decide the winner by itself.</a:t>
            </a:r>
          </a:p>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Decision Tree produced the lowest validation scheduling score: 0.120669.</a:t>
            </a:r>
          </a:p>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Captured traces gave Ridge and Decision Tree equal realized cost and action agreement. The configured simplicity rule selected Ridge.</a:t>
            </a:r>
          </a:p>
        </p:txBody>
      </p:sp>
    </p:spTree>
    <p:extLst>
      <p:ext uri="{BB962C8B-B14F-4D97-AF65-F5344CB8AC3E}">
        <p14:creationId xmlns:p14="http://schemas.microsoft.com/office/powerpoint/2010/main" val="407180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71009B-D881-476E-838E-FDC809933415}"/>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Classifier tree and policy-cost tree</a:t>
            </a:r>
          </a:p>
        </p:txBody>
      </p:sp>
      <p:sp>
        <p:nvSpPr>
          <p:cNvPr id="2" name="">
            <a:extLst xmlns:a="http://schemas.openxmlformats.org/drawingml/2006/main">
              <a:ext uri="{FF2B5EF4-FFF2-40B4-BE49-F238E27FC236}">
                <a16:creationId xmlns:a16="http://schemas.microsoft.com/office/drawing/2014/main" id="{972039FF-CA82-4FB7-8BC6-B3DE604FEDDB}"/>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8</a:t>
            </a:r>
          </a:p>
        </p:txBody>
      </p:sp>
      <p:graphicFrame>
        <p:nvGraphicFramePr>
          <p:cNvPr id="3" name="">
            <a:extLst xmlns:a="http://schemas.openxmlformats.org/drawingml/2006/main">
              <a:ext uri="{FF2B5EF4-FFF2-40B4-BE49-F238E27FC236}">
                <a16:creationId xmlns:a16="http://schemas.microsoft.com/office/drawing/2014/main" id="{D833AA79-3A80-4672-AD46-5785F391753C}"/>
              </a:ext>
            </a:extLst>
          </p:cNvPr>
          <p:cNvGraphicFramePr/>
          <p:nvPr/>
        </p:nvGraphicFramePr>
        <p:xfrm>
          <a:off xmlns:a="http://schemas.openxmlformats.org/drawingml/2006/main" x="685800" y="1257300"/>
          <a:ext xmlns:a="http://schemas.openxmlformats.org/drawingml/2006/main" cx="7239000" cy="3714750"/>
        </p:xfrm>
        <a:graphic xmlns:a="http://schemas.openxmlformats.org/drawingml/2006/main">
          <a:graphicData uri="http://schemas.openxmlformats.org/drawingml/2006/table">
            <a:tbl>
              <a:tblPr/>
              <a:tblGrid>
                <a:gridCol w="3429000"/>
                <a:gridCol w="1905000"/>
                <a:gridCol w="1905000"/>
              </a:tblGrid>
              <a:tr h="530679">
                <a:tc>
                  <a:txBody>
                    <a:bodyPr/>
                    <a:lstStyle/>
                    <a:p>
                      <a:r>
                        <a:rPr sz="1200" b="1">
                          <a:solidFill>
                            <a:srgbClr val="FFFFFF"/>
                          </a:solidFill>
                          <a:latin typeface="Arial"/>
                          <a:ea typeface="Arial"/>
                          <a:cs typeface="Arial"/>
                        </a:rPr>
                        <a:t>Metric</a:t>
                      </a:r>
                    </a:p>
                  </a:txBody>
                  <a:tcPr marL="57150" marR="57150" marT="38100" marB="38100" anchor="ctr">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Classifier tree</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Policy-cost tree</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r>
              <a:tr h="530679">
                <a:tc>
                  <a:txBody>
                    <a:bodyPr/>
                    <a:lstStyle/>
                    <a:p>
                      <a:r>
                        <a:rPr sz="1200">
                          <a:solidFill>
                            <a:srgbClr val="000000"/>
                          </a:solidFill>
                          <a:latin typeface="Arial"/>
                          <a:ea typeface="Arial"/>
                          <a:cs typeface="Arial"/>
                        </a:rPr>
                        <a:t>Validation action accuracy</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47.67%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36.06%</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Test action accuracy</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40.81%</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46.62%</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Test action regret</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0.006111</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0.003887</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Validation scheduling score</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0.119128</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0.128198</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P95 response</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31.593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73.526</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Starvation count</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15.317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14.500</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C160ED0-C2C5-42C7-8466-ED081C8D6F24}"/>
              </a:ext>
            </a:extLst>
          </p:cNvPr>
          <p:cNvSpPr>
            <a:spLocks xmlns:a="http://schemas.openxmlformats.org/drawingml/2006/main" noGrp="1"/>
          </p:cNvSpPr>
          <p:nvPr/>
        </p:nvSpPr>
        <p:spPr>
          <a:xfrm xmlns:a="http://schemas.openxmlformats.org/drawingml/2006/main">
            <a:off x="8382000" y="12573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How they differ</a:t>
            </a:r>
          </a:p>
        </p:txBody>
      </p:sp>
      <p:sp>
        <p:nvSpPr>
          <p:cNvPr id="5" name="">
            <a:extLst xmlns:a="http://schemas.openxmlformats.org/drawingml/2006/main">
              <a:ext uri="{FF2B5EF4-FFF2-40B4-BE49-F238E27FC236}">
                <a16:creationId xmlns:a16="http://schemas.microsoft.com/office/drawing/2014/main" id="{4D789D9A-A74D-43B7-B2D5-FA0D5FB96C5D}"/>
              </a:ext>
            </a:extLst>
          </p:cNvPr>
          <p:cNvSpPr>
            <a:spLocks xmlns:a="http://schemas.openxmlformats.org/drawingml/2006/main" noGrp="1"/>
          </p:cNvSpPr>
          <p:nvPr/>
        </p:nvSpPr>
        <p:spPr>
          <a:xfrm xmlns:a="http://schemas.openxmlformats.org/drawingml/2006/main">
            <a:off x="8382000" y="1657350"/>
            <a:ext cx="3124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1200"/>
              </a:spcAft>
              <a:buChar char="•"/>
              <a:defRPr sz="1425">
                <a:solidFill>
                  <a:srgbClr val="000000"/>
                </a:solidFill>
                <a:latin typeface="Arial"/>
                <a:ea typeface="Arial"/>
                <a:cs typeface="Arial"/>
              </a:defRPr>
            </a:pPr>
            <a:r>
              <a:rPr sz="1425">
                <a:solidFill>
                  <a:srgbClr val="000000"/>
                </a:solidFill>
                <a:latin typeface="Arial"/>
                <a:ea typeface="Arial"/>
                <a:cs typeface="Arial"/>
              </a:rPr>
              <a:t>Classifier tree directly proposes one scheduler.</a:t>
            </a:r>
          </a:p>
          <a:p xmlns:a="http://schemas.openxmlformats.org/drawingml/2006/main">
            <a:pPr marL="228600" indent="-114300">
              <a:spcAft>
                <a:spcPts val="1200"/>
              </a:spcAft>
              <a:buChar char="•"/>
              <a:defRPr sz="1425">
                <a:solidFill>
                  <a:srgbClr val="000000"/>
                </a:solidFill>
                <a:latin typeface="Arial"/>
                <a:ea typeface="Arial"/>
                <a:cs typeface="Arial"/>
              </a:defRPr>
            </a:pPr>
            <a:r>
              <a:rPr sz="1425">
                <a:solidFill>
                  <a:srgbClr val="000000"/>
                </a:solidFill>
                <a:latin typeface="Arial"/>
                <a:ea typeface="Arial"/>
                <a:cs typeface="Arial"/>
              </a:rPr>
              <a:t>Policy-cost tree predicts each scheduler's cost and selects the minimum estimate.</a:t>
            </a:r>
          </a:p>
        </p:txBody>
      </p:sp>
      <p:sp>
        <p:nvSpPr>
          <p:cNvPr id="6" name="">
            <a:extLst xmlns:a="http://schemas.openxmlformats.org/drawingml/2006/main">
              <a:ext uri="{FF2B5EF4-FFF2-40B4-BE49-F238E27FC236}">
                <a16:creationId xmlns:a16="http://schemas.microsoft.com/office/drawing/2014/main" id="{3E8760E8-B3C4-4673-B9C6-E7B5F6D90329}"/>
              </a:ext>
            </a:extLst>
          </p:cNvPr>
          <p:cNvSpPr>
            <a:spLocks xmlns:a="http://schemas.openxmlformats.org/drawingml/2006/main" noGrp="1"/>
          </p:cNvSpPr>
          <p:nvPr/>
        </p:nvSpPr>
        <p:spPr>
          <a:xfrm xmlns:a="http://schemas.openxmlformats.org/drawingml/2006/main">
            <a:off x="8382000" y="3790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Prototype choice</a:t>
            </a:r>
          </a:p>
        </p:txBody>
      </p:sp>
      <p:sp>
        <p:nvSpPr>
          <p:cNvPr id="7" name="">
            <a:extLst xmlns:a="http://schemas.openxmlformats.org/drawingml/2006/main">
              <a:ext uri="{FF2B5EF4-FFF2-40B4-BE49-F238E27FC236}">
                <a16:creationId xmlns:a16="http://schemas.microsoft.com/office/drawing/2014/main" id="{24662518-A29D-4A4D-BF04-61607DA220E5}"/>
              </a:ext>
            </a:extLst>
          </p:cNvPr>
          <p:cNvSpPr>
            <a:spLocks xmlns:a="http://schemas.openxmlformats.org/drawingml/2006/main" noGrp="1"/>
          </p:cNvSpPr>
          <p:nvPr/>
        </p:nvSpPr>
        <p:spPr>
          <a:xfrm xmlns:a="http://schemas.openxmlformats.org/drawingml/2006/main">
            <a:off x="8382000" y="4191000"/>
            <a:ext cx="31242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1000"/>
              </a:spcAft>
              <a:buChar char="•"/>
              <a:defRPr sz="1350">
                <a:solidFill>
                  <a:srgbClr val="000000"/>
                </a:solidFill>
                <a:latin typeface="Arial"/>
                <a:ea typeface="Arial"/>
                <a:cs typeface="Arial"/>
              </a:defRPr>
            </a:pPr>
            <a:r>
              <a:rPr sz="1350">
                <a:solidFill>
                  <a:srgbClr val="000000"/>
                </a:solidFill>
                <a:latin typeface="Arial"/>
                <a:ea typeface="Arial"/>
                <a:cs typeface="Arial"/>
              </a:rPr>
              <a:t>The demonstration freezes the classifier tree because its validation scheduling score and P95 response were better.</a:t>
            </a:r>
          </a:p>
          <a:p xmlns:a="http://schemas.openxmlformats.org/drawingml/2006/main">
            <a:pPr marL="228600" indent="-114300">
              <a:spcAft>
                <a:spcPts val="1000"/>
              </a:spcAft>
              <a:buChar char="•"/>
              <a:defRPr sz="1350">
                <a:solidFill>
                  <a:srgbClr val="000000"/>
                </a:solidFill>
                <a:latin typeface="Arial"/>
                <a:ea typeface="Arial"/>
                <a:cs typeface="Arial"/>
              </a:defRPr>
            </a:pPr>
            <a:r>
              <a:rPr sz="1350">
                <a:solidFill>
                  <a:srgbClr val="000000"/>
                </a:solidFill>
                <a:latin typeface="Arial"/>
                <a:ea typeface="Arial"/>
                <a:cs typeface="Arial"/>
              </a:rPr>
              <a:t>The policy-cost tree remains an evaluated alternative.</a:t>
            </a:r>
          </a:p>
        </p:txBody>
      </p:sp>
    </p:spTree>
    <p:extLst>
      <p:ext uri="{BB962C8B-B14F-4D97-AF65-F5344CB8AC3E}">
        <p14:creationId xmlns:p14="http://schemas.microsoft.com/office/powerpoint/2010/main" val="15637086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65E0A1-64A6-4726-AEA6-69C3743A0194}"/>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End-to-end Dynamic V3 demonstration</a:t>
            </a:r>
          </a:p>
        </p:txBody>
      </p:sp>
      <p:sp>
        <p:nvSpPr>
          <p:cNvPr id="2" name="">
            <a:extLst xmlns:a="http://schemas.openxmlformats.org/drawingml/2006/main">
              <a:ext uri="{FF2B5EF4-FFF2-40B4-BE49-F238E27FC236}">
                <a16:creationId xmlns:a16="http://schemas.microsoft.com/office/drawing/2014/main" id="{F0325B33-BE91-4098-8E3E-0E09D6B2D86C}"/>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9</a:t>
            </a:r>
          </a:p>
        </p:txBody>
      </p:sp>
      <p:pic>
        <p:nvPicPr>
          <p:cNvPr id="3" name="">
            <a:extLst xmlns:a="http://schemas.openxmlformats.org/drawingml/2006/main">
              <a:ext uri="{FF2B5EF4-FFF2-40B4-BE49-F238E27FC236}">
                <a16:creationId xmlns:a16="http://schemas.microsoft.com/office/drawing/2014/main" id="{18B99B81-8222-49C0-BF46-E4367416FBCE}"/>
              </a:ext>
            </a:extLst>
          </p:cNvPr>
          <p:cNvPicPr>
            <a:picLocks xmlns:a="http://schemas.openxmlformats.org/drawingml/2006/main" noChangeAspect="1"/>
          </p:cNvPicPr>
          <p:nvPr/>
        </p:nvPicPr>
        <p:blipFill>
          <a:blip xmlns:r="http://schemas.openxmlformats.org/officeDocument/2006/relationships" xmlns:a="http://schemas.openxmlformats.org/drawingml/2006/main" r:embed="R52c78d3b4a384cbb"/>
          <a:stretch xmlns:a="http://schemas.openxmlformats.org/drawingml/2006/main"/>
        </p:blipFill>
        <p:spPr>
          <a:xfrm xmlns:a="http://schemas.openxmlformats.org/drawingml/2006/main">
            <a:off x="936171" y="1238250"/>
            <a:ext cx="6395357"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74D2940-B630-46FC-AF5F-C98BBCB5A127}"/>
              </a:ext>
            </a:extLst>
          </p:cNvPr>
          <p:cNvSpPr>
            <a:spLocks xmlns:a="http://schemas.openxmlformats.org/drawingml/2006/main" noGrp="1"/>
          </p:cNvSpPr>
          <p:nvPr/>
        </p:nvSpPr>
        <p:spPr>
          <a:xfrm xmlns:a="http://schemas.openxmlformats.org/drawingml/2006/main">
            <a:off x="8172450" y="12573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Router workflow</a:t>
            </a:r>
          </a:p>
        </p:txBody>
      </p:sp>
      <p:sp>
        <p:nvSpPr>
          <p:cNvPr id="5" name="">
            <a:extLst xmlns:a="http://schemas.openxmlformats.org/drawingml/2006/main">
              <a:ext uri="{FF2B5EF4-FFF2-40B4-BE49-F238E27FC236}">
                <a16:creationId xmlns:a16="http://schemas.microsoft.com/office/drawing/2014/main" id="{47D58166-C42C-48AD-9099-4C9D41ECA04D}"/>
              </a:ext>
            </a:extLst>
          </p:cNvPr>
          <p:cNvSpPr>
            <a:spLocks xmlns:a="http://schemas.openxmlformats.org/drawingml/2006/main" noGrp="1"/>
          </p:cNvSpPr>
          <p:nvPr/>
        </p:nvSpPr>
        <p:spPr>
          <a:xfrm xmlns:a="http://schemas.openxmlformats.org/drawingml/2006/main">
            <a:off x="8172450" y="1657350"/>
            <a:ext cx="32385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900"/>
              </a:spcAft>
              <a:buChar char="•"/>
              <a:defRPr sz="1350">
                <a:solidFill>
                  <a:srgbClr val="000000"/>
                </a:solidFill>
                <a:latin typeface="Arial"/>
                <a:ea typeface="Arial"/>
                <a:cs typeface="Arial"/>
              </a:defRPr>
            </a:pPr>
            <a:r>
              <a:rPr sz="1350">
                <a:solidFill>
                  <a:srgbClr val="000000"/>
                </a:solidFill>
                <a:latin typeface="Arial"/>
                <a:ea typeface="Arial"/>
                <a:cs typeface="Arial"/>
              </a:rPr>
              <a:t>Observe the workload every 10 ticks.</a:t>
            </a:r>
          </a:p>
          <a:p xmlns:a="http://schemas.openxmlformats.org/drawingml/2006/main">
            <a:pPr marL="228600" indent="-114300">
              <a:spcAft>
                <a:spcPts val="900"/>
              </a:spcAft>
              <a:buChar char="•"/>
              <a:defRPr sz="1350">
                <a:solidFill>
                  <a:srgbClr val="000000"/>
                </a:solidFill>
                <a:latin typeface="Arial"/>
                <a:ea typeface="Arial"/>
                <a:cs typeface="Arial"/>
              </a:defRPr>
            </a:pPr>
            <a:r>
              <a:rPr sz="1350">
                <a:solidFill>
                  <a:srgbClr val="000000"/>
                </a:solidFill>
                <a:latin typeface="Arial"/>
                <a:ea typeface="Arial"/>
                <a:cs typeface="Arial"/>
              </a:rPr>
              <a:t>The classifier proposes a scheduler.</a:t>
            </a:r>
          </a:p>
          <a:p xmlns:a="http://schemas.openxmlformats.org/drawingml/2006/main">
            <a:pPr marL="228600" indent="-114300">
              <a:spcAft>
                <a:spcPts val="900"/>
              </a:spcAft>
              <a:buChar char="•"/>
              <a:defRPr sz="1350">
                <a:solidFill>
                  <a:srgbClr val="000000"/>
                </a:solidFill>
                <a:latin typeface="Arial"/>
                <a:ea typeface="Arial"/>
                <a:cs typeface="Arial"/>
              </a:defRPr>
            </a:pPr>
            <a:r>
              <a:rPr sz="1350">
                <a:solidFill>
                  <a:srgbClr val="000000"/>
                </a:solidFill>
                <a:latin typeface="Arial"/>
                <a:ea typeface="Arial"/>
                <a:cs typeface="Arial"/>
              </a:rPr>
              <a:t>Confidence and 20-tick dwell checks review the proposal.</a:t>
            </a:r>
          </a:p>
          <a:p xmlns:a="http://schemas.openxmlformats.org/drawingml/2006/main">
            <a:pPr marL="228600" indent="-114300">
              <a:spcAft>
                <a:spcPts val="900"/>
              </a:spcAft>
              <a:buChar char="•"/>
              <a:defRPr sz="1350">
                <a:solidFill>
                  <a:srgbClr val="000000"/>
                </a:solidFill>
                <a:latin typeface="Arial"/>
                <a:ea typeface="Arial"/>
                <a:cs typeface="Arial"/>
              </a:defRPr>
            </a:pPr>
            <a:r>
              <a:rPr sz="1350">
                <a:solidFill>
                  <a:srgbClr val="000000"/>
                </a:solidFill>
                <a:latin typeface="Arial"/>
                <a:ea typeface="Arial"/>
                <a:cs typeface="Arial"/>
              </a:rPr>
              <a:t>The router switches only at a safe dispatch boundary.</a:t>
            </a:r>
          </a:p>
        </p:txBody>
      </p:sp>
      <p:sp>
        <p:nvSpPr>
          <p:cNvPr id="6" name="">
            <a:extLst xmlns:a="http://schemas.openxmlformats.org/drawingml/2006/main">
              <a:ext uri="{FF2B5EF4-FFF2-40B4-BE49-F238E27FC236}">
                <a16:creationId xmlns:a16="http://schemas.microsoft.com/office/drawing/2014/main" id="{3378D220-1531-4E74-930B-C540F7E82FD9}"/>
              </a:ext>
            </a:extLst>
          </p:cNvPr>
          <p:cNvSpPr>
            <a:spLocks xmlns:a="http://schemas.openxmlformats.org/drawingml/2006/main" noGrp="1"/>
          </p:cNvSpPr>
          <p:nvPr/>
        </p:nvSpPr>
        <p:spPr>
          <a:xfrm xmlns:a="http://schemas.openxmlformats.org/drawingml/2006/main">
            <a:off x="8172450" y="40957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Observed result</a:t>
            </a:r>
          </a:p>
        </p:txBody>
      </p:sp>
      <p:sp>
        <p:nvSpPr>
          <p:cNvPr id="7" name="">
            <a:extLst xmlns:a="http://schemas.openxmlformats.org/drawingml/2006/main">
              <a:ext uri="{FF2B5EF4-FFF2-40B4-BE49-F238E27FC236}">
                <a16:creationId xmlns:a16="http://schemas.microsoft.com/office/drawing/2014/main" id="{13FE118D-248C-4392-B550-B48BD0B77978}"/>
              </a:ext>
            </a:extLst>
          </p:cNvPr>
          <p:cNvSpPr>
            <a:spLocks xmlns:a="http://schemas.openxmlformats.org/drawingml/2006/main" noGrp="1"/>
          </p:cNvSpPr>
          <p:nvPr/>
        </p:nvSpPr>
        <p:spPr>
          <a:xfrm xmlns:a="http://schemas.openxmlformats.org/drawingml/2006/main">
            <a:off x="8172450" y="4476750"/>
            <a:ext cx="323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52 reviews and 8 accepted switches.</a:t>
            </a:r>
          </a:p>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Initial policy: MLFQ. Final policy: Priority.</a:t>
            </a:r>
          </a:p>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Decision P99: 0.456 ms.</a:t>
            </a:r>
          </a:p>
        </p:txBody>
      </p:sp>
      <p:sp>
        <p:nvSpPr>
          <p:cNvPr id="8" name="">
            <a:extLst xmlns:a="http://schemas.openxmlformats.org/drawingml/2006/main">
              <a:ext uri="{FF2B5EF4-FFF2-40B4-BE49-F238E27FC236}">
                <a16:creationId xmlns:a16="http://schemas.microsoft.com/office/drawing/2014/main" id="{EB9DB271-579F-4B32-84ED-5F736456A4EF}"/>
              </a:ext>
            </a:extLst>
          </p:cNvPr>
          <p:cNvSpPr>
            <a:spLocks xmlns:a="http://schemas.openxmlformats.org/drawingml/2006/main" noGrp="1"/>
          </p:cNvSpPr>
          <p:nvPr/>
        </p:nvSpPr>
        <p:spPr>
          <a:xfrm xmlns:a="http://schemas.openxmlformats.org/drawingml/2006/main">
            <a:off x="685800" y="59245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i="0">
                <a:solidFill>
                  <a:srgbClr val="000000"/>
                </a:solidFill>
                <a:latin typeface="Arial"/>
                <a:ea typeface="Arial"/>
                <a:cs typeface="Arial"/>
              </a:defRPr>
            </a:defPPr>
            <a:lvl1pPr>
              <a:defRPr sz="1125" b="0" i="0">
                <a:solidFill>
                  <a:srgbClr val="000000"/>
                </a:solidFill>
                <a:latin typeface="Arial"/>
                <a:ea typeface="Arial"/>
                <a:cs typeface="Arial"/>
              </a:defRPr>
            </a:lvl1pPr>
            <a:lvl2pPr>
              <a:defRPr sz="1125" b="0" i="0">
                <a:solidFill>
                  <a:srgbClr val="000000"/>
                </a:solidFill>
                <a:latin typeface="Arial"/>
                <a:ea typeface="Arial"/>
                <a:cs typeface="Arial"/>
              </a:defRPr>
            </a:lvl2pPr>
            <a:lvl3pPr>
              <a:defRPr sz="1125" b="0" i="0">
                <a:solidFill>
                  <a:srgbClr val="000000"/>
                </a:solidFill>
                <a:latin typeface="Arial"/>
                <a:ea typeface="Arial"/>
                <a:cs typeface="Arial"/>
              </a:defRPr>
            </a:lvl3pPr>
            <a:lvl4pPr>
              <a:defRPr sz="1125" b="0" i="0">
                <a:solidFill>
                  <a:srgbClr val="000000"/>
                </a:solidFill>
                <a:latin typeface="Arial"/>
                <a:ea typeface="Arial"/>
                <a:cs typeface="Arial"/>
              </a:defRPr>
            </a:lvl4pPr>
            <a:lvl5pPr>
              <a:defRPr sz="1125" b="0" i="0">
                <a:solidFill>
                  <a:srgbClr val="000000"/>
                </a:solidFill>
                <a:latin typeface="Arial"/>
                <a:ea typeface="Arial"/>
                <a:cs typeface="Arial"/>
              </a:defRPr>
            </a:lvl5pPr>
            <a:lvl6pPr>
              <a:defRPr sz="1125" b="0" i="0">
                <a:solidFill>
                  <a:srgbClr val="000000"/>
                </a:solidFill>
                <a:latin typeface="Arial"/>
                <a:ea typeface="Arial"/>
                <a:cs typeface="Arial"/>
              </a:defRPr>
            </a:lvl6pPr>
            <a:lvl7pPr>
              <a:defRPr sz="1125" b="0" i="0">
                <a:solidFill>
                  <a:srgbClr val="000000"/>
                </a:solidFill>
                <a:latin typeface="Arial"/>
                <a:ea typeface="Arial"/>
                <a:cs typeface="Arial"/>
              </a:defRPr>
            </a:lvl7pPr>
            <a:lvl8pPr>
              <a:defRPr sz="1125" b="0" i="0">
                <a:solidFill>
                  <a:srgbClr val="000000"/>
                </a:solidFill>
                <a:latin typeface="Arial"/>
                <a:ea typeface="Arial"/>
                <a:cs typeface="Arial"/>
              </a:defRPr>
            </a:lvl8pPr>
            <a:lvl9pPr>
              <a:defRPr sz="1125" b="0" i="0">
                <a:solidFill>
                  <a:srgbClr val="000000"/>
                </a:solidFill>
                <a:latin typeface="Arial"/>
                <a:ea typeface="Arial"/>
                <a:cs typeface="Arial"/>
              </a:defRPr>
            </a:lvl9pPr>
          </a:lstStyle>
          <a:p xmlns:a="http://schemas.openxmlformats.org/drawingml/2006/main">
            <a:pPr>
              <a:defRPr sz="1125" b="0" i="0">
                <a:solidFill>
                  <a:srgbClr val="000000"/>
                </a:solidFill>
                <a:latin typeface="Arial"/>
                <a:ea typeface="Arial"/>
                <a:cs typeface="Arial"/>
              </a:defRPr>
            </a:pPr>
            <a:r>
              <a:rPr sz="1125" b="0" i="0">
                <a:solidFill>
                  <a:srgbClr val="000000"/>
                </a:solidFill>
                <a:latin typeface="Arial"/>
                <a:ea typeface="Arial"/>
                <a:cs typeface="Arial"/>
              </a:rPr>
              <a:t>The demonstration validates the prototype workflow and latency target. It does not establish Linux kernel performance or universal policy superiority.</a:t>
            </a:r>
          </a:p>
        </p:txBody>
      </p:sp>
    </p:spTree>
    <p:extLst>
      <p:ext uri="{BB962C8B-B14F-4D97-AF65-F5344CB8AC3E}">
        <p14:creationId xmlns:p14="http://schemas.microsoft.com/office/powerpoint/2010/main" val="2318777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557D917-32CB-4D20-A94A-A3B8A27224A9}"/>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AC21450A-993A-45C0-8AAC-94AF450A9DBD}"/>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ECFDD378-EE71-42FA-A90E-1A5FE58CEAE0}"/>
              </a:ext>
            </a:extLst>
          </p:cNvPr>
          <p:cNvSpPr>
            <a:spLocks xmlns:a="http://schemas.openxmlformats.org/drawingml/2006/main" noGrp="1"/>
          </p:cNvSpPr>
          <p:nvPr/>
        </p:nvSpPr>
        <p:spPr>
          <a:xfrm xmlns:a="http://schemas.openxmlformats.org/drawingml/2006/main">
            <a:off x="609600" y="12001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[1] S. Biswas et al., “A Machine Learning Approach for Predicting Efficient CPU Scheduling Algorithm,” STI, 2023, doi: 10.1109/STI59863.2023.10464816.</a:t>
            </a:r>
          </a:p>
        </p:txBody>
      </p:sp>
      <p:sp>
        <p:nvSpPr>
          <p:cNvPr id="4" name="">
            <a:extLst xmlns:a="http://schemas.openxmlformats.org/drawingml/2006/main">
              <a:ext uri="{FF2B5EF4-FFF2-40B4-BE49-F238E27FC236}">
                <a16:creationId xmlns:a16="http://schemas.microsoft.com/office/drawing/2014/main" id="{BA0F6A32-3B65-483D-9B30-748A0986DEBB}"/>
              </a:ext>
            </a:extLst>
          </p:cNvPr>
          <p:cNvSpPr>
            <a:spLocks xmlns:a="http://schemas.openxmlformats.org/drawingml/2006/main" noGrp="1"/>
          </p:cNvSpPr>
          <p:nvPr/>
        </p:nvSpPr>
        <p:spPr>
          <a:xfrm xmlns:a="http://schemas.openxmlformats.org/drawingml/2006/main">
            <a:off x="609600" y="20002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[2] X. Wang et al., “Mixture-of-Schedulers: An Adaptive Scheduling Agent as a Learned Router for Expert Policies,” arXiv:2511.11628, 2025.</a:t>
            </a:r>
          </a:p>
        </p:txBody>
      </p:sp>
      <p:sp>
        <p:nvSpPr>
          <p:cNvPr id="5" name="">
            <a:extLst xmlns:a="http://schemas.openxmlformats.org/drawingml/2006/main">
              <a:ext uri="{FF2B5EF4-FFF2-40B4-BE49-F238E27FC236}">
                <a16:creationId xmlns:a16="http://schemas.microsoft.com/office/drawing/2014/main" id="{804F0D8D-4F3E-48E0-9F71-E95D2328FA16}"/>
              </a:ext>
            </a:extLst>
          </p:cNvPr>
          <p:cNvSpPr>
            <a:spLocks xmlns:a="http://schemas.openxmlformats.org/drawingml/2006/main" noGrp="1"/>
          </p:cNvSpPr>
          <p:nvPr/>
        </p:nvSpPr>
        <p:spPr>
          <a:xfrm xmlns:a="http://schemas.openxmlformats.org/drawingml/2006/main">
            <a:off x="609600" y="28003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[3] Y. Fu et al., “ALPS: An Adaptive Learning, Priority OS Scheduler for Serverless Functions,” USENIX ATC, 2024.</a:t>
            </a:r>
          </a:p>
        </p:txBody>
      </p:sp>
      <p:sp>
        <p:nvSpPr>
          <p:cNvPr id="6" name="">
            <a:extLst xmlns:a="http://schemas.openxmlformats.org/drawingml/2006/main">
              <a:ext uri="{FF2B5EF4-FFF2-40B4-BE49-F238E27FC236}">
                <a16:creationId xmlns:a16="http://schemas.microsoft.com/office/drawing/2014/main" id="{4B901746-CE14-4D2F-88CE-911800429840}"/>
              </a:ext>
            </a:extLst>
          </p:cNvPr>
          <p:cNvSpPr>
            <a:spLocks xmlns:a="http://schemas.openxmlformats.org/drawingml/2006/main" noGrp="1"/>
          </p:cNvSpPr>
          <p:nvPr/>
        </p:nvSpPr>
        <p:spPr>
          <a:xfrm xmlns:a="http://schemas.openxmlformats.org/drawingml/2006/main">
            <a:off x="609600" y="36004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[4] H. Lee, S. Jung, and H. Jo, “STUN: Reinforcement-Learning-Based Optimization of Kernel Scheduler Parameters,” Applied Sciences, 2022.</a:t>
            </a:r>
          </a:p>
        </p:txBody>
      </p:sp>
      <p:sp>
        <p:nvSpPr>
          <p:cNvPr id="7" name="">
            <a:extLst xmlns:a="http://schemas.openxmlformats.org/drawingml/2006/main">
              <a:ext uri="{FF2B5EF4-FFF2-40B4-BE49-F238E27FC236}">
                <a16:creationId xmlns:a16="http://schemas.microsoft.com/office/drawing/2014/main" id="{7A7D86F5-9C87-4B0A-98AA-3839688B86EC}"/>
              </a:ext>
            </a:extLst>
          </p:cNvPr>
          <p:cNvSpPr>
            <a:spLocks xmlns:a="http://schemas.openxmlformats.org/drawingml/2006/main" noGrp="1"/>
          </p:cNvSpPr>
          <p:nvPr/>
        </p:nvSpPr>
        <p:spPr>
          <a:xfrm xmlns:a="http://schemas.openxmlformats.org/drawingml/2006/main">
            <a:off x="609600" y="44005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[5] A. Negi and K. K. Pusukuri, “Applying Machine Learning Techniques to Improve Linux Process Scheduling,” TENCON, 2005.</a:t>
            </a:r>
          </a:p>
        </p:txBody>
      </p:sp>
      <p:sp>
        <p:nvSpPr>
          <p:cNvPr id="8" name="">
            <a:extLst xmlns:a="http://schemas.openxmlformats.org/drawingml/2006/main">
              <a:ext uri="{FF2B5EF4-FFF2-40B4-BE49-F238E27FC236}">
                <a16:creationId xmlns:a16="http://schemas.microsoft.com/office/drawing/2014/main" id="{0A2B8228-8919-40E7-BC30-744A4D35ADE7}"/>
              </a:ext>
            </a:extLst>
          </p:cNvPr>
          <p:cNvSpPr>
            <a:spLocks xmlns:a="http://schemas.openxmlformats.org/drawingml/2006/main" noGrp="1"/>
          </p:cNvSpPr>
          <p:nvPr/>
        </p:nvSpPr>
        <p:spPr>
          <a:xfrm xmlns:a="http://schemas.openxmlformats.org/drawingml/2006/main">
            <a:off x="609600" y="52006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[6] D. Seo et al., “SCHED: Safe CPU Scheduling Framework with Reinforcement Learning and Decision Trees,” VTC-Spring, 2025.</a:t>
            </a:r>
          </a:p>
        </p:txBody>
      </p:sp>
      <p:sp>
        <p:nvSpPr>
          <p:cNvPr id="9" name="">
            <a:extLst xmlns:a="http://schemas.openxmlformats.org/drawingml/2006/main">
              <a:ext uri="{FF2B5EF4-FFF2-40B4-BE49-F238E27FC236}">
                <a16:creationId xmlns:a16="http://schemas.microsoft.com/office/drawing/2014/main" id="{396771D1-DEE9-4C52-A73D-867F4CB186F3}"/>
              </a:ext>
            </a:extLst>
          </p:cNvPr>
          <p:cNvSpPr>
            <a:spLocks xmlns:a="http://schemas.openxmlformats.org/drawingml/2006/main" noGrp="1"/>
          </p:cNvSpPr>
          <p:nvPr/>
        </p:nvSpPr>
        <p:spPr>
          <a:xfrm xmlns:a="http://schemas.openxmlformats.org/drawingml/2006/main">
            <a:off x="6343650" y="12001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[7] F. Pedregosa et al., “Scikit-learn: Machine Learning in Python,” Journal of Machine Learning Research, vol. 12, pp. 2825–2830, 2011.</a:t>
            </a:r>
          </a:p>
        </p:txBody>
      </p:sp>
      <p:sp>
        <p:nvSpPr>
          <p:cNvPr id="10" name="">
            <a:extLst xmlns:a="http://schemas.openxmlformats.org/drawingml/2006/main">
              <a:ext uri="{FF2B5EF4-FFF2-40B4-BE49-F238E27FC236}">
                <a16:creationId xmlns:a16="http://schemas.microsoft.com/office/drawing/2014/main" id="{01F16C22-E85F-4B5E-B4C8-47ECDA1D9763}"/>
              </a:ext>
            </a:extLst>
          </p:cNvPr>
          <p:cNvSpPr>
            <a:spLocks xmlns:a="http://schemas.openxmlformats.org/drawingml/2006/main" noGrp="1"/>
          </p:cNvSpPr>
          <p:nvPr/>
        </p:nvSpPr>
        <p:spPr>
          <a:xfrm xmlns:a="http://schemas.openxmlformats.org/drawingml/2006/main">
            <a:off x="6343650" y="21526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[8] A. E. Hoerl and R. W. Kennard, “Ridge Regression: Biased Estimation for Nonorthogonal Problems,” Technometrics, vol. 12, no. 1, pp. 55–67, 1970.</a:t>
            </a:r>
          </a:p>
        </p:txBody>
      </p:sp>
      <p:sp>
        <p:nvSpPr>
          <p:cNvPr id="11" name="">
            <a:extLst xmlns:a="http://schemas.openxmlformats.org/drawingml/2006/main">
              <a:ext uri="{FF2B5EF4-FFF2-40B4-BE49-F238E27FC236}">
                <a16:creationId xmlns:a16="http://schemas.microsoft.com/office/drawing/2014/main" id="{9C34EF71-BA76-403F-B883-43ADE32A2913}"/>
              </a:ext>
            </a:extLst>
          </p:cNvPr>
          <p:cNvSpPr>
            <a:spLocks xmlns:a="http://schemas.openxmlformats.org/drawingml/2006/main" noGrp="1"/>
          </p:cNvSpPr>
          <p:nvPr/>
        </p:nvSpPr>
        <p:spPr>
          <a:xfrm xmlns:a="http://schemas.openxmlformats.org/drawingml/2006/main">
            <a:off x="6343650" y="31051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[9] J. R. Quinlan, “Induction of Decision Trees,” Machine Learning, vol. 1, pp. 81–106, 1986.</a:t>
            </a:r>
          </a:p>
        </p:txBody>
      </p:sp>
      <p:sp>
        <p:nvSpPr>
          <p:cNvPr id="12" name="">
            <a:extLst xmlns:a="http://schemas.openxmlformats.org/drawingml/2006/main">
              <a:ext uri="{FF2B5EF4-FFF2-40B4-BE49-F238E27FC236}">
                <a16:creationId xmlns:a16="http://schemas.microsoft.com/office/drawing/2014/main" id="{4FCBCCA6-12DC-4FDC-AC3C-721A4B477767}"/>
              </a:ext>
            </a:extLst>
          </p:cNvPr>
          <p:cNvSpPr>
            <a:spLocks xmlns:a="http://schemas.openxmlformats.org/drawingml/2006/main" noGrp="1"/>
          </p:cNvSpPr>
          <p:nvPr/>
        </p:nvSpPr>
        <p:spPr>
          <a:xfrm xmlns:a="http://schemas.openxmlformats.org/drawingml/2006/main">
            <a:off x="6343650" y="40576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[10] L. Breiman, “Random Forests,” Machine Learning, vol. 45, pp. 5–32, 2001.</a:t>
            </a:r>
          </a:p>
        </p:txBody>
      </p:sp>
      <p:sp>
        <p:nvSpPr>
          <p:cNvPr id="13" name="">
            <a:extLst xmlns:a="http://schemas.openxmlformats.org/drawingml/2006/main">
              <a:ext uri="{FF2B5EF4-FFF2-40B4-BE49-F238E27FC236}">
                <a16:creationId xmlns:a16="http://schemas.microsoft.com/office/drawing/2014/main" id="{8911E5E3-9617-4602-A52A-46F56CA06ECA}"/>
              </a:ext>
            </a:extLst>
          </p:cNvPr>
          <p:cNvSpPr>
            <a:spLocks xmlns:a="http://schemas.openxmlformats.org/drawingml/2006/main" noGrp="1"/>
          </p:cNvSpPr>
          <p:nvPr/>
        </p:nvSpPr>
        <p:spPr>
          <a:xfrm xmlns:a="http://schemas.openxmlformats.org/drawingml/2006/main">
            <a:off x="6343650" y="50101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[11] J. H. Friedman, “Greedy Function Approximation: A Gradient Boosting Machine,” Annals of Statistics, vol. 29, no. 5, pp. 1189–1232, 2001.</a:t>
            </a:r>
          </a:p>
        </p:txBody>
      </p:sp>
    </p:spTree>
    <p:extLst>
      <p:ext uri="{BB962C8B-B14F-4D97-AF65-F5344CB8AC3E}">
        <p14:creationId xmlns:p14="http://schemas.microsoft.com/office/powerpoint/2010/main" val="2121548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2026-10-20T07:29:13.8280000Z</dcterms:created>
  <dcterms:modified xsi:type="dcterms:W3CDTF">2026-10-20T07:29:13.8280000Z</dcterms:modified>
</coreProperties>
</file>