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e019498bcf4b78" /><Relationship Type="http://schemas.openxmlformats.org/officeDocument/2006/relationships/extended-properties" Target="/docProps/app.xml" Id="Rec373e382f8447d5" /><Relationship Type="http://schemas.openxmlformats.org/officeDocument/2006/relationships/officeDocument" Target="/ppt/presentation.xml" Id="R86be771760bb4f25" /></Relationships>
</file>

<file path=ppt/presentation.xml><?xml version="1.0" encoding="utf-8"?>
<p:presentation xmlns:p="http://schemas.openxmlformats.org/presentationml/2006/main">
  <p:sldMasterIdLst>
    <p:sldMasterId xmlns:r="http://schemas.openxmlformats.org/officeDocument/2006/relationships" id="2147483648" r:id="R6e5ca68754944147"/>
  </p:sldMasterIdLst>
  <p:notesMasterIdLst>
    <p:notesMasterId xmlns:r="http://schemas.openxmlformats.org/officeDocument/2006/relationships" r:id="R231cd89e84af40e8"/>
  </p:notesMasterIdLst>
  <p:sldIdLst>
    <p:sldId xmlns:r="http://schemas.openxmlformats.org/officeDocument/2006/relationships" id="256" r:id="Rc7895d1fd1a54262"/>
    <p:sldId xmlns:r="http://schemas.openxmlformats.org/officeDocument/2006/relationships" id="257" r:id="R2fa48c652a0c46f4"/>
    <p:sldId xmlns:r="http://schemas.openxmlformats.org/officeDocument/2006/relationships" id="258" r:id="R54e5fd10fcb8497a"/>
    <p:sldId xmlns:r="http://schemas.openxmlformats.org/officeDocument/2006/relationships" id="259" r:id="R0d53b67819484953"/>
    <p:sldId xmlns:r="http://schemas.openxmlformats.org/officeDocument/2006/relationships" id="260" r:id="Rbd6859a14f114977"/>
    <p:sldId xmlns:r="http://schemas.openxmlformats.org/officeDocument/2006/relationships" id="261" r:id="R8d3fed01493f4e8f"/>
    <p:sldId xmlns:r="http://schemas.openxmlformats.org/officeDocument/2006/relationships" id="262" r:id="Rff7af09b06b44fc4"/>
    <p:sldId xmlns:r="http://schemas.openxmlformats.org/officeDocument/2006/relationships" id="263" r:id="Rc697b080651a418c"/>
    <p:sldId xmlns:r="http://schemas.openxmlformats.org/officeDocument/2006/relationships" id="264" r:id="R2148d7c711ac4b2e"/>
    <p:sldId xmlns:r="http://schemas.openxmlformats.org/officeDocument/2006/relationships" id="265" r:id="Rba3ae4666ffb4b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bc43f84a014652" /><Relationship Type="http://schemas.openxmlformats.org/officeDocument/2006/relationships/slideMaster" Target="/ppt/slideMasters/slideMaster1.xml" Id="R6e5ca68754944147" /><Relationship Type="http://schemas.openxmlformats.org/officeDocument/2006/relationships/notesMaster" Target="/ppt/notesMasters/notesMaster1.xml" Id="R231cd89e84af40e8" /><Relationship Type="http://schemas.openxmlformats.org/officeDocument/2006/relationships/presProps" Target="/ppt/presProps.xml" Id="Rc68cf7b9da5b447b" /><Relationship Type="http://schemas.openxmlformats.org/officeDocument/2006/relationships/tableStyles" Target="/ppt/tableStyles.xml" Id="R9f42ee8262444e27" /><Relationship Type="http://schemas.openxmlformats.org/officeDocument/2006/relationships/slide" Target="/ppt/slides/slide1.xml" Id="Rc7895d1fd1a54262" /><Relationship Type="http://schemas.openxmlformats.org/officeDocument/2006/relationships/slide" Target="/ppt/slides/slide2.xml" Id="R2fa48c652a0c46f4" /><Relationship Type="http://schemas.openxmlformats.org/officeDocument/2006/relationships/slide" Target="/ppt/slides/slide3.xml" Id="R54e5fd10fcb8497a" /><Relationship Type="http://schemas.openxmlformats.org/officeDocument/2006/relationships/slide" Target="/ppt/slides/slide4.xml" Id="R0d53b67819484953" /><Relationship Type="http://schemas.openxmlformats.org/officeDocument/2006/relationships/slide" Target="/ppt/slides/slide5.xml" Id="Rbd6859a14f114977" /><Relationship Type="http://schemas.openxmlformats.org/officeDocument/2006/relationships/slide" Target="/ppt/slides/slide6.xml" Id="R8d3fed01493f4e8f" /><Relationship Type="http://schemas.openxmlformats.org/officeDocument/2006/relationships/slide" Target="/ppt/slides/slide7.xml" Id="Rff7af09b06b44fc4" /><Relationship Type="http://schemas.openxmlformats.org/officeDocument/2006/relationships/slide" Target="/ppt/slides/slide8.xml" Id="Rc697b080651a418c" /><Relationship Type="http://schemas.openxmlformats.org/officeDocument/2006/relationships/slide" Target="/ppt/slides/slide9.xml" Id="R2148d7c711ac4b2e" /><Relationship Type="http://schemas.openxmlformats.org/officeDocument/2006/relationships/slide" Target="/ppt/slides/slide10.xml" Id="Rba3ae4666ffb4b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25a89a354742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7d414503c04f1a" /><Relationship Type="http://schemas.openxmlformats.org/officeDocument/2006/relationships/notesMaster" Target="/ppt/notesMasters/notesMaster1.xml" Id="Rec2295126a4943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32edd3a4014259" /><Relationship Type="http://schemas.openxmlformats.org/officeDocument/2006/relationships/notesMaster" Target="/ppt/notesMasters/notesMaster1.xml" Id="Ra998cea951104f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8e8740f6444235" /><Relationship Type="http://schemas.openxmlformats.org/officeDocument/2006/relationships/notesMaster" Target="/ppt/notesMasters/notesMaster1.xml" Id="R00c7fba2c3904d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66570176284a6f" /><Relationship Type="http://schemas.openxmlformats.org/officeDocument/2006/relationships/notesMaster" Target="/ppt/notesMasters/notesMaster1.xml" Id="R08e5d2d3a2864a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e761b07d8b4145" /><Relationship Type="http://schemas.openxmlformats.org/officeDocument/2006/relationships/notesMaster" Target="/ppt/notesMasters/notesMaster1.xml" Id="R0d8251096b2943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48ce846c1c4e5f" /><Relationship Type="http://schemas.openxmlformats.org/officeDocument/2006/relationships/notesMaster" Target="/ppt/notesMasters/notesMaster1.xml" Id="Rc379c7f4431846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dff70f590a42ff" /><Relationship Type="http://schemas.openxmlformats.org/officeDocument/2006/relationships/notesMaster" Target="/ppt/notesMasters/notesMaster1.xml" Id="R7c5c42c0803742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79acae2af54fa9" /><Relationship Type="http://schemas.openxmlformats.org/officeDocument/2006/relationships/notesMaster" Target="/ppt/notesMasters/notesMaster1.xml" Id="Rf19209c0fe5b47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d62690fe5840c8" /><Relationship Type="http://schemas.openxmlformats.org/officeDocument/2006/relationships/notesMaster" Target="/ppt/notesMasters/notesMaster1.xml" Id="R91bdfe7c7f7443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3d6123d59c4c3f" /><Relationship Type="http://schemas.openxmlformats.org/officeDocument/2006/relationships/notesMaster" Target="/ppt/notesMasters/notesMaster1.xml" Id="R0f11909f1f8645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AutoScheduler studies whether a compact model can observe recent workload behavior and choose among existing CPU scheduling policies. The current result is a validated research prototype, not a deployed kernel scheduler.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schedulers make different trade-offs. AutoScheduler builds on policy prediction, learned routing, adaptive priority control, parameter tuning, and interpretable safety controls.</a:t>
            </a:r>
          </a:p>
          <a:p xmlns:a="http://schemas.openxmlformats.org/drawingml/2006/main">
            <a:r>
              <a:t/>
            </a:r>
          </a:p>
          <a:p xmlns:a="http://schemas.openxmlformats.org/drawingml/2006/main">
            <a:r>
              <a:t>Sources:</a:t>
            </a:r>
          </a:p>
          <a:p xmlns:a="http://schemas.openxmlformats.org/drawingml/2006/main">
            <a:r>
              <a:t>[1] https://doi.org/10.1109/STI59863.2023.10464816</a:t>
            </a:r>
          </a:p>
          <a:p xmlns:a="http://schemas.openxmlformats.org/drawingml/2006/main">
            <a:r>
              <a:t>[2] https://arxiv.org/abs/2511.11628</a:t>
            </a:r>
          </a:p>
          <a:p xmlns:a="http://schemas.openxmlformats.org/drawingml/2006/main">
            <a:r>
              <a:t>[3] https://www.usenix.org/system/files/atc24-fu.pdf</a:t>
            </a:r>
          </a:p>
          <a:p xmlns:a="http://schemas.openxmlformats.org/drawingml/2006/main">
            <a:r>
              <a:t>[4] https://doi.org/10.3390/app12147072</a:t>
            </a:r>
          </a:p>
          <a:p xmlns:a="http://schemas.openxmlformats.org/drawingml/2006/main">
            <a:r>
              <a:t>[6] https://doi.org/10.1109/VTC2025-SPRING65109.2025.11174897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uses two evidence tracks. Captured Linux traces validate the real trace pipeline. The larger controlled corpus supports model-family comparison and the Dynamic V3 routing demonstration. Whole trace groups remain in one split to prevent leakage.</a:t>
            </a:r>
          </a:p>
          <a:p xmlns:a="http://schemas.openxmlformats.org/drawingml/2006/main">
            <a:r>
              <a:t/>
            </a:r>
          </a:p>
          <a:p xmlns:a="http://schemas.openxmlformats.org/drawingml/2006/main">
            <a:r>
              <a:t>Sources:</a:t>
            </a:r>
          </a:p>
          <a:p xmlns:a="http://schemas.openxmlformats.org/drawingml/2006/main">
            <a:r>
              <a:t>/Users/knightnm/Documents/AutoScheduler-SL-CPU-Scheduler/data/processed/linux/full-002/cleaned.jsonl</a:t>
            </a:r>
          </a:p>
          <a:p xmlns:a="http://schemas.openxmlformats.org/drawingml/2006/main">
            <a:r>
              <a:t>/Users/knightnm/Documents/AutoScheduler-SL-CPU-Scheduler/data/processed/linux/full-002/observed_features.csv</a:t>
            </a:r>
          </a:p>
          <a:p xmlns:a="http://schemas.openxmlformats.org/drawingml/2006/main">
            <a:r>
              <a:t>/Users/knightnm/Documents/AutoScheduler-SL-CPU-Scheduler/data/processed/linux/full-002/action_costs.csv</a:t>
            </a:r>
          </a:p>
          <a:p xmlns:a="http://schemas.openxmlformats.org/drawingml/2006/main">
            <a:r>
              <a:t>/Users/knightnm/Documents/AutoScheduler-SL-CPU-Scheduler/artifacts/dynamic_v3_demo01/training.csv</a:t>
            </a:r>
          </a:p>
          <a:p xmlns:a="http://schemas.openxmlformats.org/drawingml/2006/main">
            <a:r>
              <a:t>/Users/knightnm/Documents/AutoScheduler-SL-CPU-Scheduler/artifacts/dynamic_v3_demo01/split.json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extraction uses only the information available at each decision time. The 16 features summarize queue state, delays, observed service, completed burst behavior, I/O activity, priority, context switches, wakeups, and CPU busy fraction.</a:t>
            </a:r>
          </a:p>
          <a:p xmlns:a="http://schemas.openxmlformats.org/drawingml/2006/main">
            <a:r>
              <a:t/>
            </a:r>
          </a:p>
          <a:p xmlns:a="http://schemas.openxmlformats.org/drawingml/2006/main">
            <a:r>
              <a:t>Sources:</a:t>
            </a:r>
          </a:p>
          <a:p xmlns:a="http://schemas.openxmlformats.org/drawingml/2006/main">
            <a:r>
              <a:t>[3] https://www.usenix.org/system/files/atc24-fu.pdf</a:t>
            </a:r>
          </a:p>
          <a:p xmlns:a="http://schemas.openxmlformats.org/drawingml/2006/main">
            <a:r>
              <a:t>[5] https://doi.org/10.1109/TENCON.2005.300837</a:t>
            </a:r>
          </a:p>
          <a:p xmlns:a="http://schemas.openxmlformats.org/drawingml/2006/main">
            <a:r>
              <a:t>/Users/knightnm/Documents/AutoScheduler-SL-CPU-Scheduler/configs/real_desktop_ml.json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five modules. The data module creates safe observed-state rows. The comparison module freezes a model. Dynamic V3 applies confidence and dwell safeguards. Every policy executes through the same simulator and reporting path.</a:t>
            </a:r>
          </a:p>
          <a:p xmlns:a="http://schemas.openxmlformats.org/drawingml/2006/main">
            <a:r>
              <a:t/>
            </a:r>
          </a:p>
          <a:p xmlns:a="http://schemas.openxmlformats.org/drawingml/2006/main">
            <a:r>
              <a:t>Sources:</a:t>
            </a:r>
          </a:p>
          <a:p xmlns:a="http://schemas.openxmlformats.org/drawingml/2006/main">
            <a:r>
              <a:t>[1] https://doi.org/10.1109/STI59863.2023.10464816</a:t>
            </a:r>
          </a:p>
          <a:p xmlns:a="http://schemas.openxmlformats.org/drawingml/2006/main">
            <a:r>
              <a:t>[2] https://arxiv.org/abs/2511.11628</a:t>
            </a:r>
          </a:p>
          <a:p xmlns:a="http://schemas.openxmlformats.org/drawingml/2006/main">
            <a:r>
              <a:t>[3] https://www.usenix.org/system/files/atc24-fu.pdf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bake-off holds the data, features, group split, target, and tuning budget constant. This isolates model-family behavior from dataset changes.</a:t>
            </a:r>
          </a:p>
          <a:p xmlns:a="http://schemas.openxmlformats.org/drawingml/2006/main">
            <a:r>
              <a:t/>
            </a:r>
          </a:p>
          <a:p xmlns:a="http://schemas.openxmlformats.org/drawingml/2006/main">
            <a:r>
              <a:t>Sources:</a:t>
            </a:r>
          </a:p>
          <a:p xmlns:a="http://schemas.openxmlformats.org/drawingml/2006/main">
            <a:r>
              <a:t>[7] F. Pedregosa et al., Journal of Machine Learning Research, 2011.</a:t>
            </a:r>
          </a:p>
          <a:p xmlns:a="http://schemas.openxmlformats.org/drawingml/2006/main">
            <a:r>
              <a:t>[8] https://doi.org/10.1080/00401706.1970.10488634</a:t>
            </a:r>
          </a:p>
          <a:p xmlns:a="http://schemas.openxmlformats.org/drawingml/2006/main">
            <a:r>
              <a:t>[9] https://doi.org/10.1007/BF00116251</a:t>
            </a:r>
          </a:p>
          <a:p xmlns:a="http://schemas.openxmlformats.org/drawingml/2006/main">
            <a:r>
              <a:t>[10] https://doi.org/10.1023/A:1010933404324</a:t>
            </a:r>
          </a:p>
          <a:p xmlns:a="http://schemas.openxmlformats.org/drawingml/2006/main">
            <a:r>
              <a:t>[11] https://doi.org/10.1214/aos/1013203451</a:t>
            </a:r>
          </a:p>
          <a:p xmlns:a="http://schemas.openxmlformats.org/drawingml/2006/main">
            <a:r>
              <a:t>[1] https://doi.org/10.1109/STI59863.2023.10464816</a:t>
            </a:r>
          </a:p>
          <a:p xmlns:a="http://schemas.openxmlformats.org/drawingml/2006/main">
            <a:r>
              <a:t>[5] https://doi.org/10.1109/TENCON.2005.300837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controlled grouped split shows that action accuracy and scheduling outcome can disagree. Decision Tree has the lowest validation scheduling score, so the prototype freezes it. In the separate captured-trace bake-off, Ridge and Decision Tree tie on realized cost and action agreement. The configured simplicity rule selects Ridge, even though the tree has lower measured P99 inference time.</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/Users/knightnm/Documents/AutoScheduler-SL-CPU-Scheduler/results/dynamic_v3_demo01/REPORT.md</a:t>
            </a:r>
          </a:p>
          <a:p xmlns:a="http://schemas.openxmlformats.org/drawingml/2006/main">
            <a:r>
              <a:t>/Users/knightnm/Documents/AutoScheduler-SL-CPU-Scheduler/results/dynamic_v3_demo01/model_family_bakeoff.csv</a:t>
            </a:r>
          </a:p>
          <a:p xmlns:a="http://schemas.openxmlformats.org/drawingml/2006/main">
            <a:r>
              <a:t>/Users/knightnm/Documents/AutoScheduler-SL-CPU-Scheduler/results/real_desktop_ml/decision-tree-demo/prototype_comparison_report.md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classifier optimizes direct policy choice. The policy-cost tree estimates each candidate action. The classifier is frozen for the demonstration because it produced the lower validation scheduling score and much lower P95 response, even though the policy-cost tree had lower test action regret and fewer starvation events.</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/Users/knightnm/Documents/AutoScheduler-SL-CPU-Scheduler/results/dynamic_v3_demo01/tree_variant_comparison.json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uses an unseen changing workload with CPU-intensive, interactive, and batch phases. The router reviews the observed state every 10 ticks. Confidence, a 20-tick minimum dwell, and safe dispatch boundaries limit switching. The result proves the prototype control flow and measured decision latency for this run. It does not prove Linux kernel scheduling performance or superiority over every fixed scheduler.</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/Users/knightnm/Documents/AutoScheduler-SL-CPU-Scheduler/results/dynamic_v3_demo01/summary.json</a:t>
            </a:r>
          </a:p>
          <a:p xmlns:a="http://schemas.openxmlformats.org/drawingml/2006/main">
            <a:r>
              <a:t>/Users/knightnm/Documents/AutoScheduler-SL-CPU-Scheduler/results/dynamic_v3_demo01/decision_log.csv</a:t>
            </a:r>
          </a:p>
          <a:p xmlns:a="http://schemas.openxmlformats.org/drawingml/2006/main">
            <a:r>
              <a:t>/Users/knightnm/Documents/AutoScheduler-SL-CPU-Scheduler/results/dynamic_v3_demo01/gantt.png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IEEE-style bibliography for all numbered citations used in the deck.</a:t>
            </a:r>
          </a:p>
          <a:p xmlns:a="http://schemas.openxmlformats.org/drawingml/2006/main">
            <a:r>
              <a:t/>
            </a:r>
          </a:p>
          <a:p xmlns:a="http://schemas.openxmlformats.org/drawingml/2006/main">
            <a:r>
              <a:t>Sources:</a:t>
            </a:r>
          </a:p>
          <a:p xmlns:a="http://schemas.openxmlformats.org/drawingml/2006/main">
            <a:r>
              <a:t>/Users/knightnm/Documents/OS_Project/AutoSchedulerPapers.md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da59c0da774a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be1e458ff746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1da566913c347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a26b33976f42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3179a92cb9b49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c448f5a466844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0F5820-7A25-45DA-9BBF-17CDB2944D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3C1A775-F901-40B5-BB6C-6297AEB3B11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41FC381-647C-494A-8DDE-F00BE054CF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B93A23-FD13-458E-BD45-DC78363E15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808B48-78EC-48C1-BE35-75B31019A2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5477CE6-1B5D-4460-9719-DD730102C5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9414B7-B0BB-42F9-B5EC-5A8BD6D56C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6D9766D-D3F7-461D-896D-CF76B4CB2BC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E53712-9EA2-4221-B1EB-8C2FD7D767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7BC245-0F44-4F2C-B0FB-042B95EB77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9ae85b85db4ead" /><Relationship Type="http://schemas.openxmlformats.org/officeDocument/2006/relationships/slideLayout" Target="/ppt/slideLayouts/slideLayout1.xml" Id="R890d0e48299e4cc2" /><Relationship Type="http://schemas.openxmlformats.org/officeDocument/2006/relationships/slideLayout" Target="/ppt/slideLayouts/slideLayout2.xml" Id="Rb3593af601b6498f" /><Relationship Type="http://schemas.openxmlformats.org/officeDocument/2006/relationships/slideLayout" Target="/ppt/slideLayouts/slideLayout3.xml" Id="Rd036f206191c420d" /><Relationship Type="http://schemas.openxmlformats.org/officeDocument/2006/relationships/slideLayout" Target="/ppt/slideLayouts/slideLayout4.xml" Id="R520764a271e34e41" /><Relationship Type="http://schemas.openxmlformats.org/officeDocument/2006/relationships/slideLayout" Target="/ppt/slideLayouts/slideLayout5.xml" Id="R030aa020f36446c9" /><Relationship Type="http://schemas.openxmlformats.org/officeDocument/2006/relationships/slideLayout" Target="/ppt/slideLayouts/slideLayout6.xml" Id="R75a7291c783648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0d0e48299e4cc2"/>
    <p:sldLayoutId xmlns:r="http://schemas.openxmlformats.org/officeDocument/2006/relationships" id="2147483650" r:id="Rb3593af601b6498f"/>
    <p:sldLayoutId xmlns:r="http://schemas.openxmlformats.org/officeDocument/2006/relationships" id="2147483651" r:id="Rd036f206191c420d"/>
    <p:sldLayoutId xmlns:r="http://schemas.openxmlformats.org/officeDocument/2006/relationships" id="2147483652" r:id="R520764a271e34e41"/>
    <p:sldLayoutId xmlns:r="http://schemas.openxmlformats.org/officeDocument/2006/relationships" id="2147483653" r:id="R030aa020f36446c9"/>
    <p:sldLayoutId xmlns:r="http://schemas.openxmlformats.org/officeDocument/2006/relationships" id="2147483654" r:id="R75a7291c783648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1989b7bfd04489" /><Relationship Type="http://schemas.openxmlformats.org/officeDocument/2006/relationships/notesSlide" Target="/ppt/notesSlides/notesSlide1.xml" Id="Re30927f1ad1343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e719a18b6c47e3" /><Relationship Type="http://schemas.openxmlformats.org/officeDocument/2006/relationships/notesSlide" Target="/ppt/notesSlides/notesSlide2.xml" Id="Ra9379d8f23e745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f9c4e6c1c384aaf" /><Relationship Type="http://schemas.openxmlformats.org/officeDocument/2006/relationships/notesSlide" Target="/ppt/notesSlides/notesSlide3.xml" Id="R68395150d5eb45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298de189c5145f9" /><Relationship Type="http://schemas.openxmlformats.org/officeDocument/2006/relationships/notesSlide" Target="/ppt/notesSlides/notesSlide4.xml" Id="R199f728726ff41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f6d25128214c1c" /><Relationship Type="http://schemas.openxmlformats.org/officeDocument/2006/relationships/notesSlide" Target="/ppt/notesSlides/notesSlide5.xml" Id="Rd7e806ceff4543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91afed01abe4408" /><Relationship Type="http://schemas.openxmlformats.org/officeDocument/2006/relationships/notesSlide" Target="/ppt/notesSlides/notesSlide6.xml" Id="R02bd473e505043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71621a123e04d7b" /><Relationship Type="http://schemas.openxmlformats.org/officeDocument/2006/relationships/chart" Target="/ppt/slides/charts/chart1.xml" Id="R566ea74da4e64a22" /><Relationship Type="http://schemas.openxmlformats.org/officeDocument/2006/relationships/notesSlide" Target="/ppt/notesSlides/notesSlide7.xml" Id="R9cc950560e4442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ee573a1999d4b7b" /><Relationship Type="http://schemas.openxmlformats.org/officeDocument/2006/relationships/notesSlide" Target="/ppt/notesSlides/notesSlide8.xml" Id="R59327d4257574b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bba7d0054fc4b3c" /><Relationship Type="http://schemas.openxmlformats.org/officeDocument/2006/relationships/image" Target="/ppt/media/image.png" Id="Rcedba03a364e4a26" /><Relationship Type="http://schemas.openxmlformats.org/officeDocument/2006/relationships/notesSlide" Target="/ppt/notesSlides/notesSlide9.xml" Id="Rdf92bfa6041646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25605ebbd174cd8" /><Relationship Type="http://schemas.openxmlformats.org/officeDocument/2006/relationships/notesSlide" Target="/ppt/notesSlides/notesSlide10.xml" Id="Rfd756e405144458d" /></Relationships>
</file>

<file path=ppt/slides/charts/chart1.xml><?xml version="1.0" encoding="utf-8"?>
<c:chartSpace xmlns:c="http://schemas.openxmlformats.org/drawingml/2006/chart">
  <c:lang val="en-US"/>
  <c:chart>
    <c:plotArea>
      <c:barChart>
        <c:barDir val="col"/>
        <c:varyColors val="0"/>
        <c:ser>
          <c:idx val="0"/>
          <c:order val="0"/>
          <c:tx>
            <c:v>Score</c:v>
          </c:tx>
          <c:spPr>
            <a:solidFill xmlns:a="http://schemas.openxmlformats.org/drawingml/2006/main">
              <a:srgbClr val="1E5AA8"/>
            </a:solidFill>
          </c:spPr>
          <c:invertIfNegative val="0"/>
          <c:cat>
            <c:strLit>
              <c:ptCount val="5"/>
              <c:pt idx="0">
                <c:v>Dummy</c:v>
              </c:pt>
              <c:pt idx="1">
                <c:v>Ridge</c:v>
              </c:pt>
              <c:pt idx="2">
                <c:v>Tree</c:v>
              </c:pt>
              <c:pt idx="3">
                <c:v>Forest</c:v>
              </c:pt>
              <c:pt idx="4">
                <c:v>HGB</c:v>
              </c:pt>
            </c:strLit>
          </c:cat>
          <c:val>
            <c:numLit>
              <c:formatCode>General</c:formatCode>
              <c:ptCount val="5"/>
              <c:pt idx="0">
                <c:v>0.162973</c:v>
              </c:pt>
              <c:pt idx="1">
                <c:v>0.143103</c:v>
              </c:pt>
              <c:pt idx="2">
                <c:v>0.120669</c:v>
              </c:pt>
              <c:pt idx="3">
                <c:v>0.126164</c:v>
              </c:pt>
              <c:pt idx="4">
                <c:v>0.140503</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EF1F4"/>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0.02"/>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366694F-EC51-49E3-89AA-D91CBCA3879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E5AA8"/>
          </a:solidFill>
          <a:ln xmlns:a="http://schemas.openxmlformats.org/drawingml/2006/main" w="0">
            <a:solidFill>
              <a:srgbClr val="1E5AA8"/>
            </a:solidFill>
          </a:ln>
        </p:spPr>
      </p:sp>
      <p:sp>
        <p:nvSpPr>
          <p:cNvPr id="2" name="">
            <a:extLst xmlns:a="http://schemas.openxmlformats.org/drawingml/2006/main">
              <a:ext uri="{FF2B5EF4-FFF2-40B4-BE49-F238E27FC236}">
                <a16:creationId xmlns:a16="http://schemas.microsoft.com/office/drawing/2014/main" id="{DD26C968-1CBD-4842-927B-A3E06193618B}"/>
              </a:ext>
            </a:extLst>
          </p:cNvPr>
          <p:cNvSpPr>
            <a:spLocks xmlns:a="http://schemas.openxmlformats.org/drawingml/2006/main" noGrp="1"/>
          </p:cNvSpPr>
          <p:nvPr/>
        </p:nvSpPr>
        <p:spPr>
          <a:xfrm xmlns:a="http://schemas.openxmlformats.org/drawingml/2006/main">
            <a:off x="781050" y="876300"/>
            <a:ext cx="542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AUTOSCHEDULER</a:t>
            </a:r>
          </a:p>
        </p:txBody>
      </p:sp>
      <p:sp>
        <p:nvSpPr>
          <p:cNvPr id="3" name="">
            <a:extLst xmlns:a="http://schemas.openxmlformats.org/drawingml/2006/main">
              <a:ext uri="{FF2B5EF4-FFF2-40B4-BE49-F238E27FC236}">
                <a16:creationId xmlns:a16="http://schemas.microsoft.com/office/drawing/2014/main" id="{8BAF79F4-479C-45CF-A802-F604FD110AA3}"/>
              </a:ext>
            </a:extLst>
          </p:cNvPr>
          <p:cNvSpPr>
            <a:spLocks xmlns:a="http://schemas.openxmlformats.org/drawingml/2006/main" noGrp="1"/>
          </p:cNvSpPr>
          <p:nvPr/>
        </p:nvSpPr>
        <p:spPr>
          <a:xfrm xmlns:a="http://schemas.openxmlformats.org/drawingml/2006/main">
            <a:off x="781050" y="1524000"/>
            <a:ext cx="5905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i="0">
                <a:solidFill>
                  <a:srgbClr val="111111"/>
                </a:solidFill>
                <a:latin typeface="Arial"/>
                <a:ea typeface="Arial"/>
                <a:cs typeface="Arial"/>
              </a:defRPr>
            </a:defPPr>
            <a:lvl1pPr>
              <a:defRPr sz="3750" b="1" i="0">
                <a:solidFill>
                  <a:srgbClr val="111111"/>
                </a:solidFill>
                <a:latin typeface="Arial"/>
                <a:ea typeface="Arial"/>
                <a:cs typeface="Arial"/>
              </a:defRPr>
            </a:lvl1pPr>
            <a:lvl2pPr>
              <a:defRPr sz="3750" b="1" i="0">
                <a:solidFill>
                  <a:srgbClr val="111111"/>
                </a:solidFill>
                <a:latin typeface="Arial"/>
                <a:ea typeface="Arial"/>
                <a:cs typeface="Arial"/>
              </a:defRPr>
            </a:lvl2pPr>
            <a:lvl3pPr>
              <a:defRPr sz="3750" b="1" i="0">
                <a:solidFill>
                  <a:srgbClr val="111111"/>
                </a:solidFill>
                <a:latin typeface="Arial"/>
                <a:ea typeface="Arial"/>
                <a:cs typeface="Arial"/>
              </a:defRPr>
            </a:lvl3pPr>
            <a:lvl4pPr>
              <a:defRPr sz="3750" b="1" i="0">
                <a:solidFill>
                  <a:srgbClr val="111111"/>
                </a:solidFill>
                <a:latin typeface="Arial"/>
                <a:ea typeface="Arial"/>
                <a:cs typeface="Arial"/>
              </a:defRPr>
            </a:lvl4pPr>
            <a:lvl5pPr>
              <a:defRPr sz="3750" b="1" i="0">
                <a:solidFill>
                  <a:srgbClr val="111111"/>
                </a:solidFill>
                <a:latin typeface="Arial"/>
                <a:ea typeface="Arial"/>
                <a:cs typeface="Arial"/>
              </a:defRPr>
            </a:lvl5pPr>
            <a:lvl6pPr>
              <a:defRPr sz="3750" b="1" i="0">
                <a:solidFill>
                  <a:srgbClr val="111111"/>
                </a:solidFill>
                <a:latin typeface="Arial"/>
                <a:ea typeface="Arial"/>
                <a:cs typeface="Arial"/>
              </a:defRPr>
            </a:lvl6pPr>
            <a:lvl7pPr>
              <a:defRPr sz="3750" b="1" i="0">
                <a:solidFill>
                  <a:srgbClr val="111111"/>
                </a:solidFill>
                <a:latin typeface="Arial"/>
                <a:ea typeface="Arial"/>
                <a:cs typeface="Arial"/>
              </a:defRPr>
            </a:lvl7pPr>
            <a:lvl8pPr>
              <a:defRPr sz="3750" b="1" i="0">
                <a:solidFill>
                  <a:srgbClr val="111111"/>
                </a:solidFill>
                <a:latin typeface="Arial"/>
                <a:ea typeface="Arial"/>
                <a:cs typeface="Arial"/>
              </a:defRPr>
            </a:lvl8pPr>
            <a:lvl9pPr>
              <a:defRPr sz="3750" b="1" i="0">
                <a:solidFill>
                  <a:srgbClr val="111111"/>
                </a:solidFill>
                <a:latin typeface="Arial"/>
                <a:ea typeface="Arial"/>
                <a:cs typeface="Arial"/>
              </a:defRPr>
            </a:lvl9pPr>
          </a:lstStyle>
          <a:p xmlns:a="http://schemas.openxmlformats.org/drawingml/2006/main">
            <a:pPr>
              <a:defRPr sz="3750" b="1" i="0">
                <a:solidFill>
                  <a:srgbClr val="111111"/>
                </a:solidFill>
                <a:latin typeface="Arial"/>
                <a:ea typeface="Arial"/>
                <a:cs typeface="Arial"/>
              </a:defRPr>
            </a:pPr>
            <a:r>
              <a:rPr sz="3750" b="1" i="0">
                <a:solidFill>
                  <a:srgbClr val="111111"/>
                </a:solidFill>
                <a:latin typeface="Arial"/>
                <a:ea typeface="Arial"/>
                <a:cs typeface="Arial"/>
              </a:rPr>
              <a:t>Workload-aware CPU</a:t>
            </a:r>
          </a:p>
          <a:p xmlns:a="http://schemas.openxmlformats.org/drawingml/2006/main">
            <a:pPr>
              <a:defRPr sz="3750" b="1" i="0">
                <a:solidFill>
                  <a:srgbClr val="111111"/>
                </a:solidFill>
                <a:latin typeface="Arial"/>
                <a:ea typeface="Arial"/>
                <a:cs typeface="Arial"/>
              </a:defRPr>
            </a:pPr>
            <a:r>
              <a:rPr sz="3750" b="1" i="0">
                <a:solidFill>
                  <a:srgbClr val="111111"/>
                </a:solidFill>
                <a:latin typeface="Arial"/>
                <a:ea typeface="Arial"/>
                <a:cs typeface="Arial"/>
              </a:rPr>
              <a:t>scheduling</a:t>
            </a:r>
          </a:p>
        </p:txBody>
      </p:sp>
      <p:sp>
        <p:nvSpPr>
          <p:cNvPr id="4" name="">
            <a:extLst xmlns:a="http://schemas.openxmlformats.org/drawingml/2006/main">
              <a:ext uri="{FF2B5EF4-FFF2-40B4-BE49-F238E27FC236}">
                <a16:creationId xmlns:a16="http://schemas.microsoft.com/office/drawing/2014/main" id="{D3D05A5A-6588-4F43-B4DC-9B74C64F3645}"/>
              </a:ext>
            </a:extLst>
          </p:cNvPr>
          <p:cNvSpPr>
            <a:spLocks xmlns:a="http://schemas.openxmlformats.org/drawingml/2006/main" noGrp="1"/>
          </p:cNvSpPr>
          <p:nvPr/>
        </p:nvSpPr>
        <p:spPr>
          <a:xfrm xmlns:a="http://schemas.openxmlformats.org/drawingml/2006/main">
            <a:off x="800100" y="32194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i="0">
                <a:solidFill>
                  <a:srgbClr val="555B63"/>
                </a:solidFill>
                <a:latin typeface="Arial"/>
                <a:ea typeface="Arial"/>
                <a:cs typeface="Arial"/>
              </a:defRPr>
            </a:defPPr>
            <a:lvl1pPr>
              <a:defRPr sz="1800" b="0" i="0">
                <a:solidFill>
                  <a:srgbClr val="555B63"/>
                </a:solidFill>
                <a:latin typeface="Arial"/>
                <a:ea typeface="Arial"/>
                <a:cs typeface="Arial"/>
              </a:defRPr>
            </a:lvl1pPr>
            <a:lvl2pPr>
              <a:defRPr sz="1800" b="0" i="0">
                <a:solidFill>
                  <a:srgbClr val="555B63"/>
                </a:solidFill>
                <a:latin typeface="Arial"/>
                <a:ea typeface="Arial"/>
                <a:cs typeface="Arial"/>
              </a:defRPr>
            </a:lvl2pPr>
            <a:lvl3pPr>
              <a:defRPr sz="1800" b="0" i="0">
                <a:solidFill>
                  <a:srgbClr val="555B63"/>
                </a:solidFill>
                <a:latin typeface="Arial"/>
                <a:ea typeface="Arial"/>
                <a:cs typeface="Arial"/>
              </a:defRPr>
            </a:lvl3pPr>
            <a:lvl4pPr>
              <a:defRPr sz="1800" b="0" i="0">
                <a:solidFill>
                  <a:srgbClr val="555B63"/>
                </a:solidFill>
                <a:latin typeface="Arial"/>
                <a:ea typeface="Arial"/>
                <a:cs typeface="Arial"/>
              </a:defRPr>
            </a:lvl4pPr>
            <a:lvl5pPr>
              <a:defRPr sz="1800" b="0" i="0">
                <a:solidFill>
                  <a:srgbClr val="555B63"/>
                </a:solidFill>
                <a:latin typeface="Arial"/>
                <a:ea typeface="Arial"/>
                <a:cs typeface="Arial"/>
              </a:defRPr>
            </a:lvl5pPr>
            <a:lvl6pPr>
              <a:defRPr sz="1800" b="0" i="0">
                <a:solidFill>
                  <a:srgbClr val="555B63"/>
                </a:solidFill>
                <a:latin typeface="Arial"/>
                <a:ea typeface="Arial"/>
                <a:cs typeface="Arial"/>
              </a:defRPr>
            </a:lvl6pPr>
            <a:lvl7pPr>
              <a:defRPr sz="1800" b="0" i="0">
                <a:solidFill>
                  <a:srgbClr val="555B63"/>
                </a:solidFill>
                <a:latin typeface="Arial"/>
                <a:ea typeface="Arial"/>
                <a:cs typeface="Arial"/>
              </a:defRPr>
            </a:lvl7pPr>
            <a:lvl8pPr>
              <a:defRPr sz="1800" b="0" i="0">
                <a:solidFill>
                  <a:srgbClr val="555B63"/>
                </a:solidFill>
                <a:latin typeface="Arial"/>
                <a:ea typeface="Arial"/>
                <a:cs typeface="Arial"/>
              </a:defRPr>
            </a:lvl8pPr>
            <a:lvl9pPr>
              <a:defRPr sz="1800" b="0" i="0">
                <a:solidFill>
                  <a:srgbClr val="555B63"/>
                </a:solidFill>
                <a:latin typeface="Arial"/>
                <a:ea typeface="Arial"/>
                <a:cs typeface="Arial"/>
              </a:defRPr>
            </a:lvl9pPr>
          </a:lstStyle>
          <a:p xmlns:a="http://schemas.openxmlformats.org/drawingml/2006/main">
            <a:pPr>
              <a:defRPr sz="1800" b="0" i="0">
                <a:solidFill>
                  <a:srgbClr val="555B63"/>
                </a:solidFill>
                <a:latin typeface="Arial"/>
                <a:ea typeface="Arial"/>
                <a:cs typeface="Arial"/>
              </a:defRPr>
            </a:pPr>
            <a:r>
              <a:rPr sz="1800" b="0" i="0">
                <a:solidFill>
                  <a:srgbClr val="555B63"/>
                </a:solidFill>
                <a:latin typeface="Arial"/>
                <a:ea typeface="Arial"/>
                <a:cs typeface="Arial"/>
              </a:rPr>
              <a:t>Machine-learning-guided CPU scheduling prototype</a:t>
            </a:r>
          </a:p>
        </p:txBody>
      </p:sp>
      <p:sp>
        <p:nvSpPr>
          <p:cNvPr id="5" name="">
            <a:extLst xmlns:a="http://schemas.openxmlformats.org/drawingml/2006/main">
              <a:ext uri="{FF2B5EF4-FFF2-40B4-BE49-F238E27FC236}">
                <a16:creationId xmlns:a16="http://schemas.microsoft.com/office/drawing/2014/main" id="{EA045042-3869-4760-AF5E-F94AE6ECA48A}"/>
              </a:ext>
            </a:extLst>
          </p:cNvPr>
          <p:cNvSpPr>
            <a:spLocks xmlns:a="http://schemas.openxmlformats.org/drawingml/2006/main" noGrp="1"/>
          </p:cNvSpPr>
          <p:nvPr/>
        </p:nvSpPr>
        <p:spPr>
          <a:xfrm xmlns:a="http://schemas.openxmlformats.org/drawingml/2006/main">
            <a:off x="800100" y="3981450"/>
            <a:ext cx="10572750" cy="0"/>
          </a:xfrm>
          <a:prstGeom xmlns:a="http://schemas.openxmlformats.org/drawingml/2006/main" prst="line">
            <a:avLst/>
          </a:prstGeom>
          <a:ln xmlns:a="http://schemas.openxmlformats.org/drawingml/2006/main" w="11430">
            <a:solidFill>
              <a:srgbClr val="D6DADE"/>
            </a:solidFill>
            <a:prstDash val="solid"/>
          </a:ln>
        </p:spPr>
      </p:sp>
      <p:sp>
        <p:nvSpPr>
          <p:cNvPr id="6" name="">
            <a:extLst xmlns:a="http://schemas.openxmlformats.org/drawingml/2006/main">
              <a:ext uri="{FF2B5EF4-FFF2-40B4-BE49-F238E27FC236}">
                <a16:creationId xmlns:a16="http://schemas.microsoft.com/office/drawing/2014/main" id="{F9D75D0C-FBDB-4F78-995E-66284502E4BA}"/>
              </a:ext>
            </a:extLst>
          </p:cNvPr>
          <p:cNvSpPr>
            <a:spLocks xmlns:a="http://schemas.openxmlformats.org/drawingml/2006/main" noGrp="1"/>
          </p:cNvSpPr>
          <p:nvPr/>
        </p:nvSpPr>
        <p:spPr>
          <a:xfrm xmlns:a="http://schemas.openxmlformats.org/drawingml/2006/main">
            <a:off x="800100" y="4362450"/>
            <a:ext cx="714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i="0">
                <a:solidFill>
                  <a:srgbClr val="111111"/>
                </a:solidFill>
                <a:latin typeface="Arial"/>
                <a:ea typeface="Arial"/>
                <a:cs typeface="Arial"/>
              </a:defRPr>
            </a:defPPr>
            <a:lvl1pPr>
              <a:defRPr sz="1650" b="0" i="0">
                <a:solidFill>
                  <a:srgbClr val="111111"/>
                </a:solidFill>
                <a:latin typeface="Arial"/>
                <a:ea typeface="Arial"/>
                <a:cs typeface="Arial"/>
              </a:defRPr>
            </a:lvl1pPr>
            <a:lvl2pPr>
              <a:defRPr sz="1650" b="0" i="0">
                <a:solidFill>
                  <a:srgbClr val="111111"/>
                </a:solidFill>
                <a:latin typeface="Arial"/>
                <a:ea typeface="Arial"/>
                <a:cs typeface="Arial"/>
              </a:defRPr>
            </a:lvl2pPr>
            <a:lvl3pPr>
              <a:defRPr sz="1650" b="0" i="0">
                <a:solidFill>
                  <a:srgbClr val="111111"/>
                </a:solidFill>
                <a:latin typeface="Arial"/>
                <a:ea typeface="Arial"/>
                <a:cs typeface="Arial"/>
              </a:defRPr>
            </a:lvl3pPr>
            <a:lvl4pPr>
              <a:defRPr sz="1650" b="0" i="0">
                <a:solidFill>
                  <a:srgbClr val="111111"/>
                </a:solidFill>
                <a:latin typeface="Arial"/>
                <a:ea typeface="Arial"/>
                <a:cs typeface="Arial"/>
              </a:defRPr>
            </a:lvl4pPr>
            <a:lvl5pPr>
              <a:defRPr sz="1650" b="0" i="0">
                <a:solidFill>
                  <a:srgbClr val="111111"/>
                </a:solidFill>
                <a:latin typeface="Arial"/>
                <a:ea typeface="Arial"/>
                <a:cs typeface="Arial"/>
              </a:defRPr>
            </a:lvl5pPr>
            <a:lvl6pPr>
              <a:defRPr sz="1650" b="0" i="0">
                <a:solidFill>
                  <a:srgbClr val="111111"/>
                </a:solidFill>
                <a:latin typeface="Arial"/>
                <a:ea typeface="Arial"/>
                <a:cs typeface="Arial"/>
              </a:defRPr>
            </a:lvl6pPr>
            <a:lvl7pPr>
              <a:defRPr sz="1650" b="0" i="0">
                <a:solidFill>
                  <a:srgbClr val="111111"/>
                </a:solidFill>
                <a:latin typeface="Arial"/>
                <a:ea typeface="Arial"/>
                <a:cs typeface="Arial"/>
              </a:defRPr>
            </a:lvl7pPr>
            <a:lvl8pPr>
              <a:defRPr sz="1650" b="0" i="0">
                <a:solidFill>
                  <a:srgbClr val="111111"/>
                </a:solidFill>
                <a:latin typeface="Arial"/>
                <a:ea typeface="Arial"/>
                <a:cs typeface="Arial"/>
              </a:defRPr>
            </a:lvl8pPr>
            <a:lvl9pPr>
              <a:defRPr sz="1650" b="0" i="0">
                <a:solidFill>
                  <a:srgbClr val="111111"/>
                </a:solidFill>
                <a:latin typeface="Arial"/>
                <a:ea typeface="Arial"/>
                <a:cs typeface="Arial"/>
              </a:defRPr>
            </a:lvl9pPr>
          </a:lstStyle>
          <a:p xmlns:a="http://schemas.openxmlformats.org/drawingml/2006/main">
            <a:pPr>
              <a:defRPr sz="1650" b="0" i="0">
                <a:solidFill>
                  <a:srgbClr val="111111"/>
                </a:solidFill>
                <a:latin typeface="Arial"/>
                <a:ea typeface="Arial"/>
                <a:cs typeface="Arial"/>
              </a:defRPr>
            </a:pPr>
            <a:r>
              <a:rPr sz="1650" b="0" i="0">
                <a:solidFill>
                  <a:srgbClr val="111111"/>
                </a:solidFill>
                <a:latin typeface="Arial"/>
                <a:ea typeface="Arial"/>
                <a:cs typeface="Arial"/>
              </a:rPr>
              <a:t>The system observes recent workload behavior and selects an existing scheduling policy. It keeps the policy implementations separate from the learning layer.</a:t>
            </a:r>
          </a:p>
        </p:txBody>
      </p:sp>
      <p:sp>
        <p:nvSpPr>
          <p:cNvPr id="7" name="">
            <a:extLst xmlns:a="http://schemas.openxmlformats.org/drawingml/2006/main">
              <a:ext uri="{FF2B5EF4-FFF2-40B4-BE49-F238E27FC236}">
                <a16:creationId xmlns:a16="http://schemas.microsoft.com/office/drawing/2014/main" id="{080503F2-D443-4A91-9083-2A7091B3F922}"/>
              </a:ext>
            </a:extLst>
          </p:cNvPr>
          <p:cNvSpPr>
            <a:spLocks xmlns:a="http://schemas.openxmlformats.org/drawingml/2006/main" noGrp="1"/>
          </p:cNvSpPr>
          <p:nvPr/>
        </p:nvSpPr>
        <p:spPr>
          <a:xfrm xmlns:a="http://schemas.openxmlformats.org/drawingml/2006/main">
            <a:off x="8724900" y="1390650"/>
            <a:ext cx="2152650" cy="2152650"/>
          </a:xfrm>
          <a:prstGeom xmlns:a="http://schemas.openxmlformats.org/drawingml/2006/main" prst="ellipse">
            <a:avLst/>
          </a:prstGeom>
          <a:solidFill xmlns:a="http://schemas.openxmlformats.org/drawingml/2006/main">
            <a:srgbClr val="E8F0FA"/>
          </a:solidFill>
          <a:ln xmlns:a="http://schemas.openxmlformats.org/drawingml/2006/main" w="19050">
            <a:solidFill>
              <a:srgbClr val="1E5AA8"/>
            </a:solidFill>
            <a:prstDash val="solid"/>
          </a:ln>
        </p:spPr>
      </p:sp>
      <p:sp>
        <p:nvSpPr>
          <p:cNvPr id="8" name="">
            <a:extLst xmlns:a="http://schemas.openxmlformats.org/drawingml/2006/main">
              <a:ext uri="{FF2B5EF4-FFF2-40B4-BE49-F238E27FC236}">
                <a16:creationId xmlns:a16="http://schemas.microsoft.com/office/drawing/2014/main" id="{02D00B89-39C9-4699-AF58-D758C0FB94F4}"/>
              </a:ext>
            </a:extLst>
          </p:cNvPr>
          <p:cNvSpPr>
            <a:spLocks xmlns:a="http://schemas.openxmlformats.org/drawingml/2006/main" noGrp="1"/>
          </p:cNvSpPr>
          <p:nvPr/>
        </p:nvSpPr>
        <p:spPr>
          <a:xfrm xmlns:a="http://schemas.openxmlformats.org/drawingml/2006/main">
            <a:off x="9144000" y="20002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E5AA8"/>
                </a:solidFill>
                <a:latin typeface="Arial"/>
                <a:ea typeface="Arial"/>
                <a:cs typeface="Arial"/>
              </a:defRPr>
            </a:defPPr>
            <a:lvl1pPr algn="ctr">
              <a:defRPr sz="1275" b="1" i="0">
                <a:solidFill>
                  <a:srgbClr val="1E5AA8"/>
                </a:solidFill>
                <a:latin typeface="Arial"/>
                <a:ea typeface="Arial"/>
                <a:cs typeface="Arial"/>
              </a:defRPr>
            </a:lvl1pPr>
            <a:lvl2pPr algn="ctr">
              <a:defRPr sz="1275" b="1" i="0">
                <a:solidFill>
                  <a:srgbClr val="1E5AA8"/>
                </a:solidFill>
                <a:latin typeface="Arial"/>
                <a:ea typeface="Arial"/>
                <a:cs typeface="Arial"/>
              </a:defRPr>
            </a:lvl2pPr>
            <a:lvl3pPr algn="ctr">
              <a:defRPr sz="1275" b="1" i="0">
                <a:solidFill>
                  <a:srgbClr val="1E5AA8"/>
                </a:solidFill>
                <a:latin typeface="Arial"/>
                <a:ea typeface="Arial"/>
                <a:cs typeface="Arial"/>
              </a:defRPr>
            </a:lvl3pPr>
            <a:lvl4pPr algn="ctr">
              <a:defRPr sz="1275" b="1" i="0">
                <a:solidFill>
                  <a:srgbClr val="1E5AA8"/>
                </a:solidFill>
                <a:latin typeface="Arial"/>
                <a:ea typeface="Arial"/>
                <a:cs typeface="Arial"/>
              </a:defRPr>
            </a:lvl4pPr>
            <a:lvl5pPr algn="ctr">
              <a:defRPr sz="1275" b="1" i="0">
                <a:solidFill>
                  <a:srgbClr val="1E5AA8"/>
                </a:solidFill>
                <a:latin typeface="Arial"/>
                <a:ea typeface="Arial"/>
                <a:cs typeface="Arial"/>
              </a:defRPr>
            </a:lvl5pPr>
            <a:lvl6pPr algn="ctr">
              <a:defRPr sz="1275" b="1" i="0">
                <a:solidFill>
                  <a:srgbClr val="1E5AA8"/>
                </a:solidFill>
                <a:latin typeface="Arial"/>
                <a:ea typeface="Arial"/>
                <a:cs typeface="Arial"/>
              </a:defRPr>
            </a:lvl6pPr>
            <a:lvl7pPr algn="ctr">
              <a:defRPr sz="1275" b="1" i="0">
                <a:solidFill>
                  <a:srgbClr val="1E5AA8"/>
                </a:solidFill>
                <a:latin typeface="Arial"/>
                <a:ea typeface="Arial"/>
                <a:cs typeface="Arial"/>
              </a:defRPr>
            </a:lvl7pPr>
            <a:lvl8pPr algn="ctr">
              <a:defRPr sz="1275" b="1" i="0">
                <a:solidFill>
                  <a:srgbClr val="1E5AA8"/>
                </a:solidFill>
                <a:latin typeface="Arial"/>
                <a:ea typeface="Arial"/>
                <a:cs typeface="Arial"/>
              </a:defRPr>
            </a:lvl8pPr>
            <a:lvl9pPr algn="ctr">
              <a:defRPr sz="1275" b="1" i="0">
                <a:solidFill>
                  <a:srgbClr val="1E5AA8"/>
                </a:solidFill>
                <a:latin typeface="Arial"/>
                <a:ea typeface="Arial"/>
                <a:cs typeface="Arial"/>
              </a:defRPr>
            </a:lvl9pPr>
          </a:lstStyle>
          <a:p xmlns:a="http://schemas.openxmlformats.org/drawingml/2006/main">
            <a:pPr algn="ctr">
              <a:defRPr sz="1275" b="1" i="0">
                <a:solidFill>
                  <a:srgbClr val="1E5AA8"/>
                </a:solidFill>
                <a:latin typeface="Arial"/>
                <a:ea typeface="Arial"/>
                <a:cs typeface="Arial"/>
              </a:defRPr>
            </a:pPr>
            <a:r>
              <a:rPr sz="1275" b="1" i="0">
                <a:solidFill>
                  <a:srgbClr val="1E5AA8"/>
                </a:solidFill>
                <a:latin typeface="Arial"/>
                <a:ea typeface="Arial"/>
                <a:cs typeface="Arial"/>
              </a:rPr>
              <a:t>OBSERVE</a:t>
            </a:r>
          </a:p>
        </p:txBody>
      </p:sp>
      <p:sp>
        <p:nvSpPr>
          <p:cNvPr id="9" name="">
            <a:extLst xmlns:a="http://schemas.openxmlformats.org/drawingml/2006/main">
              <a:ext uri="{FF2B5EF4-FFF2-40B4-BE49-F238E27FC236}">
                <a16:creationId xmlns:a16="http://schemas.microsoft.com/office/drawing/2014/main" id="{5D4C5C77-0A3D-46AF-A7DB-B81DD9F716DA}"/>
              </a:ext>
            </a:extLst>
          </p:cNvPr>
          <p:cNvSpPr>
            <a:spLocks xmlns:a="http://schemas.openxmlformats.org/drawingml/2006/main" noGrp="1"/>
          </p:cNvSpPr>
          <p:nvPr/>
        </p:nvSpPr>
        <p:spPr>
          <a:xfrm xmlns:a="http://schemas.openxmlformats.org/drawingml/2006/main">
            <a:off x="9144000" y="244792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E5AA8"/>
                </a:solidFill>
                <a:latin typeface="Arial"/>
                <a:ea typeface="Arial"/>
                <a:cs typeface="Arial"/>
              </a:defRPr>
            </a:defPPr>
            <a:lvl1pPr algn="ctr">
              <a:defRPr sz="1275" b="1" i="0">
                <a:solidFill>
                  <a:srgbClr val="1E5AA8"/>
                </a:solidFill>
                <a:latin typeface="Arial"/>
                <a:ea typeface="Arial"/>
                <a:cs typeface="Arial"/>
              </a:defRPr>
            </a:lvl1pPr>
            <a:lvl2pPr algn="ctr">
              <a:defRPr sz="1275" b="1" i="0">
                <a:solidFill>
                  <a:srgbClr val="1E5AA8"/>
                </a:solidFill>
                <a:latin typeface="Arial"/>
                <a:ea typeface="Arial"/>
                <a:cs typeface="Arial"/>
              </a:defRPr>
            </a:lvl2pPr>
            <a:lvl3pPr algn="ctr">
              <a:defRPr sz="1275" b="1" i="0">
                <a:solidFill>
                  <a:srgbClr val="1E5AA8"/>
                </a:solidFill>
                <a:latin typeface="Arial"/>
                <a:ea typeface="Arial"/>
                <a:cs typeface="Arial"/>
              </a:defRPr>
            </a:lvl3pPr>
            <a:lvl4pPr algn="ctr">
              <a:defRPr sz="1275" b="1" i="0">
                <a:solidFill>
                  <a:srgbClr val="1E5AA8"/>
                </a:solidFill>
                <a:latin typeface="Arial"/>
                <a:ea typeface="Arial"/>
                <a:cs typeface="Arial"/>
              </a:defRPr>
            </a:lvl4pPr>
            <a:lvl5pPr algn="ctr">
              <a:defRPr sz="1275" b="1" i="0">
                <a:solidFill>
                  <a:srgbClr val="1E5AA8"/>
                </a:solidFill>
                <a:latin typeface="Arial"/>
                <a:ea typeface="Arial"/>
                <a:cs typeface="Arial"/>
              </a:defRPr>
            </a:lvl5pPr>
            <a:lvl6pPr algn="ctr">
              <a:defRPr sz="1275" b="1" i="0">
                <a:solidFill>
                  <a:srgbClr val="1E5AA8"/>
                </a:solidFill>
                <a:latin typeface="Arial"/>
                <a:ea typeface="Arial"/>
                <a:cs typeface="Arial"/>
              </a:defRPr>
            </a:lvl6pPr>
            <a:lvl7pPr algn="ctr">
              <a:defRPr sz="1275" b="1" i="0">
                <a:solidFill>
                  <a:srgbClr val="1E5AA8"/>
                </a:solidFill>
                <a:latin typeface="Arial"/>
                <a:ea typeface="Arial"/>
                <a:cs typeface="Arial"/>
              </a:defRPr>
            </a:lvl7pPr>
            <a:lvl8pPr algn="ctr">
              <a:defRPr sz="1275" b="1" i="0">
                <a:solidFill>
                  <a:srgbClr val="1E5AA8"/>
                </a:solidFill>
                <a:latin typeface="Arial"/>
                <a:ea typeface="Arial"/>
                <a:cs typeface="Arial"/>
              </a:defRPr>
            </a:lvl8pPr>
            <a:lvl9pPr algn="ctr">
              <a:defRPr sz="1275" b="1" i="0">
                <a:solidFill>
                  <a:srgbClr val="1E5AA8"/>
                </a:solidFill>
                <a:latin typeface="Arial"/>
                <a:ea typeface="Arial"/>
                <a:cs typeface="Arial"/>
              </a:defRPr>
            </a:lvl9pPr>
          </a:lstStyle>
          <a:p xmlns:a="http://schemas.openxmlformats.org/drawingml/2006/main">
            <a:pPr algn="ctr">
              <a:defRPr sz="1275" b="1" i="0">
                <a:solidFill>
                  <a:srgbClr val="1E5AA8"/>
                </a:solidFill>
                <a:latin typeface="Arial"/>
                <a:ea typeface="Arial"/>
                <a:cs typeface="Arial"/>
              </a:defRPr>
            </a:pPr>
            <a:r>
              <a:rPr sz="1275" b="1" i="0">
                <a:solidFill>
                  <a:srgbClr val="1E5AA8"/>
                </a:solidFill>
                <a:latin typeface="Arial"/>
                <a:ea typeface="Arial"/>
                <a:cs typeface="Arial"/>
              </a:rPr>
              <a:t>SELECT</a:t>
            </a:r>
          </a:p>
        </p:txBody>
      </p:sp>
      <p:sp>
        <p:nvSpPr>
          <p:cNvPr id="10" name="">
            <a:extLst xmlns:a="http://schemas.openxmlformats.org/drawingml/2006/main">
              <a:ext uri="{FF2B5EF4-FFF2-40B4-BE49-F238E27FC236}">
                <a16:creationId xmlns:a16="http://schemas.microsoft.com/office/drawing/2014/main" id="{2A83EFD7-3255-4886-9DED-6550AA37DD55}"/>
              </a:ext>
            </a:extLst>
          </p:cNvPr>
          <p:cNvSpPr>
            <a:spLocks xmlns:a="http://schemas.openxmlformats.org/drawingml/2006/main" noGrp="1"/>
          </p:cNvSpPr>
          <p:nvPr/>
        </p:nvSpPr>
        <p:spPr>
          <a:xfrm xmlns:a="http://schemas.openxmlformats.org/drawingml/2006/main">
            <a:off x="9048750" y="28956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E5AA8"/>
                </a:solidFill>
                <a:latin typeface="Arial"/>
                <a:ea typeface="Arial"/>
                <a:cs typeface="Arial"/>
              </a:defRPr>
            </a:defPPr>
            <a:lvl1pPr algn="ctr">
              <a:defRPr sz="1275" b="1" i="0">
                <a:solidFill>
                  <a:srgbClr val="1E5AA8"/>
                </a:solidFill>
                <a:latin typeface="Arial"/>
                <a:ea typeface="Arial"/>
                <a:cs typeface="Arial"/>
              </a:defRPr>
            </a:lvl1pPr>
            <a:lvl2pPr algn="ctr">
              <a:defRPr sz="1275" b="1" i="0">
                <a:solidFill>
                  <a:srgbClr val="1E5AA8"/>
                </a:solidFill>
                <a:latin typeface="Arial"/>
                <a:ea typeface="Arial"/>
                <a:cs typeface="Arial"/>
              </a:defRPr>
            </a:lvl2pPr>
            <a:lvl3pPr algn="ctr">
              <a:defRPr sz="1275" b="1" i="0">
                <a:solidFill>
                  <a:srgbClr val="1E5AA8"/>
                </a:solidFill>
                <a:latin typeface="Arial"/>
                <a:ea typeface="Arial"/>
                <a:cs typeface="Arial"/>
              </a:defRPr>
            </a:lvl3pPr>
            <a:lvl4pPr algn="ctr">
              <a:defRPr sz="1275" b="1" i="0">
                <a:solidFill>
                  <a:srgbClr val="1E5AA8"/>
                </a:solidFill>
                <a:latin typeface="Arial"/>
                <a:ea typeface="Arial"/>
                <a:cs typeface="Arial"/>
              </a:defRPr>
            </a:lvl4pPr>
            <a:lvl5pPr algn="ctr">
              <a:defRPr sz="1275" b="1" i="0">
                <a:solidFill>
                  <a:srgbClr val="1E5AA8"/>
                </a:solidFill>
                <a:latin typeface="Arial"/>
                <a:ea typeface="Arial"/>
                <a:cs typeface="Arial"/>
              </a:defRPr>
            </a:lvl5pPr>
            <a:lvl6pPr algn="ctr">
              <a:defRPr sz="1275" b="1" i="0">
                <a:solidFill>
                  <a:srgbClr val="1E5AA8"/>
                </a:solidFill>
                <a:latin typeface="Arial"/>
                <a:ea typeface="Arial"/>
                <a:cs typeface="Arial"/>
              </a:defRPr>
            </a:lvl6pPr>
            <a:lvl7pPr algn="ctr">
              <a:defRPr sz="1275" b="1" i="0">
                <a:solidFill>
                  <a:srgbClr val="1E5AA8"/>
                </a:solidFill>
                <a:latin typeface="Arial"/>
                <a:ea typeface="Arial"/>
                <a:cs typeface="Arial"/>
              </a:defRPr>
            </a:lvl7pPr>
            <a:lvl8pPr algn="ctr">
              <a:defRPr sz="1275" b="1" i="0">
                <a:solidFill>
                  <a:srgbClr val="1E5AA8"/>
                </a:solidFill>
                <a:latin typeface="Arial"/>
                <a:ea typeface="Arial"/>
                <a:cs typeface="Arial"/>
              </a:defRPr>
            </a:lvl8pPr>
            <a:lvl9pPr algn="ctr">
              <a:defRPr sz="1275" b="1" i="0">
                <a:solidFill>
                  <a:srgbClr val="1E5AA8"/>
                </a:solidFill>
                <a:latin typeface="Arial"/>
                <a:ea typeface="Arial"/>
                <a:cs typeface="Arial"/>
              </a:defRPr>
            </a:lvl9pPr>
          </a:lstStyle>
          <a:p xmlns:a="http://schemas.openxmlformats.org/drawingml/2006/main">
            <a:pPr algn="ctr">
              <a:defRPr sz="1275" b="1" i="0">
                <a:solidFill>
                  <a:srgbClr val="1E5AA8"/>
                </a:solidFill>
                <a:latin typeface="Arial"/>
                <a:ea typeface="Arial"/>
                <a:cs typeface="Arial"/>
              </a:defRPr>
            </a:pPr>
            <a:r>
              <a:rPr sz="1275" b="1" i="0">
                <a:solidFill>
                  <a:srgbClr val="1E5AA8"/>
                </a:solidFill>
                <a:latin typeface="Arial"/>
                <a:ea typeface="Arial"/>
                <a:cs typeface="Arial"/>
              </a:rPr>
              <a:t>SCHEDULE</a:t>
            </a:r>
          </a:p>
        </p:txBody>
      </p:sp>
      <p:sp>
        <p:nvSpPr>
          <p:cNvPr id="11" name="">
            <a:extLst xmlns:a="http://schemas.openxmlformats.org/drawingml/2006/main">
              <a:ext uri="{FF2B5EF4-FFF2-40B4-BE49-F238E27FC236}">
                <a16:creationId xmlns:a16="http://schemas.microsoft.com/office/drawing/2014/main" id="{ED1E977E-2BE7-46E0-920C-51D8DF80F6E9}"/>
              </a:ext>
            </a:extLst>
          </p:cNvPr>
          <p:cNvSpPr>
            <a:spLocks xmlns:a="http://schemas.openxmlformats.org/drawingml/2006/main" noGrp="1"/>
          </p:cNvSpPr>
          <p:nvPr/>
        </p:nvSpPr>
        <p:spPr>
          <a:xfrm xmlns:a="http://schemas.openxmlformats.org/drawingml/2006/main">
            <a:off x="800100" y="6191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i="0">
                <a:solidFill>
                  <a:srgbClr val="555B63"/>
                </a:solidFill>
                <a:latin typeface="Arial"/>
                <a:ea typeface="Arial"/>
                <a:cs typeface="Arial"/>
              </a:defRPr>
            </a:defPPr>
            <a:lvl1pPr>
              <a:defRPr sz="975" b="0" i="0">
                <a:solidFill>
                  <a:srgbClr val="555B63"/>
                </a:solidFill>
                <a:latin typeface="Arial"/>
                <a:ea typeface="Arial"/>
                <a:cs typeface="Arial"/>
              </a:defRPr>
            </a:lvl1pPr>
            <a:lvl2pPr>
              <a:defRPr sz="975" b="0" i="0">
                <a:solidFill>
                  <a:srgbClr val="555B63"/>
                </a:solidFill>
                <a:latin typeface="Arial"/>
                <a:ea typeface="Arial"/>
                <a:cs typeface="Arial"/>
              </a:defRPr>
            </a:lvl2pPr>
            <a:lvl3pPr>
              <a:defRPr sz="975" b="0" i="0">
                <a:solidFill>
                  <a:srgbClr val="555B63"/>
                </a:solidFill>
                <a:latin typeface="Arial"/>
                <a:ea typeface="Arial"/>
                <a:cs typeface="Arial"/>
              </a:defRPr>
            </a:lvl3pPr>
            <a:lvl4pPr>
              <a:defRPr sz="975" b="0" i="0">
                <a:solidFill>
                  <a:srgbClr val="555B63"/>
                </a:solidFill>
                <a:latin typeface="Arial"/>
                <a:ea typeface="Arial"/>
                <a:cs typeface="Arial"/>
              </a:defRPr>
            </a:lvl4pPr>
            <a:lvl5pPr>
              <a:defRPr sz="975" b="0" i="0">
                <a:solidFill>
                  <a:srgbClr val="555B63"/>
                </a:solidFill>
                <a:latin typeface="Arial"/>
                <a:ea typeface="Arial"/>
                <a:cs typeface="Arial"/>
              </a:defRPr>
            </a:lvl5pPr>
            <a:lvl6pPr>
              <a:defRPr sz="975" b="0" i="0">
                <a:solidFill>
                  <a:srgbClr val="555B63"/>
                </a:solidFill>
                <a:latin typeface="Arial"/>
                <a:ea typeface="Arial"/>
                <a:cs typeface="Arial"/>
              </a:defRPr>
            </a:lvl6pPr>
            <a:lvl7pPr>
              <a:defRPr sz="975" b="0" i="0">
                <a:solidFill>
                  <a:srgbClr val="555B63"/>
                </a:solidFill>
                <a:latin typeface="Arial"/>
                <a:ea typeface="Arial"/>
                <a:cs typeface="Arial"/>
              </a:defRPr>
            </a:lvl7pPr>
            <a:lvl8pPr>
              <a:defRPr sz="975" b="0" i="0">
                <a:solidFill>
                  <a:srgbClr val="555B63"/>
                </a:solidFill>
                <a:latin typeface="Arial"/>
                <a:ea typeface="Arial"/>
                <a:cs typeface="Arial"/>
              </a:defRPr>
            </a:lvl8pPr>
            <a:lvl9pPr>
              <a:defRPr sz="975" b="0" i="0">
                <a:solidFill>
                  <a:srgbClr val="555B63"/>
                </a:solidFill>
                <a:latin typeface="Arial"/>
                <a:ea typeface="Arial"/>
                <a:cs typeface="Arial"/>
              </a:defRPr>
            </a:lvl9pPr>
          </a:lstStyle>
          <a:p xmlns:a="http://schemas.openxmlformats.org/drawingml/2006/main">
            <a:pPr>
              <a:defRPr sz="975" b="0" i="0">
                <a:solidFill>
                  <a:srgbClr val="555B63"/>
                </a:solidFill>
                <a:latin typeface="Arial"/>
                <a:ea typeface="Arial"/>
                <a:cs typeface="Arial"/>
              </a:defRPr>
            </a:pPr>
            <a:r>
              <a:rPr sz="975" b="0" i="0">
                <a:solidFill>
                  <a:srgbClr val="555B63"/>
                </a:solidFill>
                <a:latin typeface="Arial"/>
                <a:ea typeface="Arial"/>
                <a:cs typeface="Arial"/>
              </a:rPr>
              <a:t>Academic project review</a:t>
            </a:r>
          </a:p>
        </p:txBody>
      </p:sp>
    </p:spTree>
    <p:extLst>
      <p:ext uri="{BB962C8B-B14F-4D97-AF65-F5344CB8AC3E}">
        <p14:creationId xmlns:p14="http://schemas.microsoft.com/office/powerpoint/2010/main" val="684313609"/>
      </p:ext>
    </p:extLst>
  </p:cSld>
</p:sld>
</file>

<file path=ppt/slides/slide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92079A3-D9FA-49E4-A299-2724856E966D}"/>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934ADECC-432F-40FC-8567-507F7065E7B5}"/>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Problem and research gap</a:t>
            </a:r>
          </a:p>
        </p:txBody>
      </p:sp>
      <p:sp>
        <p:nvSpPr>
          <p:cNvPr id="3" name="">
            <a:extLst xmlns:a="http://schemas.openxmlformats.org/drawingml/2006/main">
              <a:ext uri="{FF2B5EF4-FFF2-40B4-BE49-F238E27FC236}">
                <a16:creationId xmlns:a16="http://schemas.microsoft.com/office/drawing/2014/main" id="{9492E575-9BE3-4FB0-BFB9-7ED5B6423F87}"/>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02313566-6A6C-40B8-A613-22109881A0E6}"/>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26482D0E-E73B-47FE-A0B5-383742E4B7B2}"/>
              </a:ext>
            </a:extLst>
          </p:cNvPr>
          <p:cNvSpPr>
            <a:spLocks xmlns:a="http://schemas.openxmlformats.org/drawingml/2006/main" noGrp="1"/>
          </p:cNvSpPr>
          <p:nvPr/>
        </p:nvSpPr>
        <p:spPr>
          <a:xfrm xmlns:a="http://schemas.openxmlformats.org/drawingml/2006/main">
            <a:off x="609600" y="129540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111111"/>
                </a:solidFill>
                <a:latin typeface="Arial"/>
                <a:ea typeface="Arial"/>
                <a:cs typeface="Arial"/>
              </a:defRPr>
            </a:defPPr>
            <a:lvl1pPr>
              <a:defRPr sz="1650" b="1" i="0">
                <a:solidFill>
                  <a:srgbClr val="111111"/>
                </a:solidFill>
                <a:latin typeface="Arial"/>
                <a:ea typeface="Arial"/>
                <a:cs typeface="Arial"/>
              </a:defRPr>
            </a:lvl1pPr>
            <a:lvl2pPr>
              <a:defRPr sz="1650" b="1" i="0">
                <a:solidFill>
                  <a:srgbClr val="111111"/>
                </a:solidFill>
                <a:latin typeface="Arial"/>
                <a:ea typeface="Arial"/>
                <a:cs typeface="Arial"/>
              </a:defRPr>
            </a:lvl2pPr>
            <a:lvl3pPr>
              <a:defRPr sz="1650" b="1" i="0">
                <a:solidFill>
                  <a:srgbClr val="111111"/>
                </a:solidFill>
                <a:latin typeface="Arial"/>
                <a:ea typeface="Arial"/>
                <a:cs typeface="Arial"/>
              </a:defRPr>
            </a:lvl3pPr>
            <a:lvl4pPr>
              <a:defRPr sz="1650" b="1" i="0">
                <a:solidFill>
                  <a:srgbClr val="111111"/>
                </a:solidFill>
                <a:latin typeface="Arial"/>
                <a:ea typeface="Arial"/>
                <a:cs typeface="Arial"/>
              </a:defRPr>
            </a:lvl4pPr>
            <a:lvl5pPr>
              <a:defRPr sz="1650" b="1" i="0">
                <a:solidFill>
                  <a:srgbClr val="111111"/>
                </a:solidFill>
                <a:latin typeface="Arial"/>
                <a:ea typeface="Arial"/>
                <a:cs typeface="Arial"/>
              </a:defRPr>
            </a:lvl5pPr>
            <a:lvl6pPr>
              <a:defRPr sz="1650" b="1" i="0">
                <a:solidFill>
                  <a:srgbClr val="111111"/>
                </a:solidFill>
                <a:latin typeface="Arial"/>
                <a:ea typeface="Arial"/>
                <a:cs typeface="Arial"/>
              </a:defRPr>
            </a:lvl6pPr>
            <a:lvl7pPr>
              <a:defRPr sz="1650" b="1" i="0">
                <a:solidFill>
                  <a:srgbClr val="111111"/>
                </a:solidFill>
                <a:latin typeface="Arial"/>
                <a:ea typeface="Arial"/>
                <a:cs typeface="Arial"/>
              </a:defRPr>
            </a:lvl7pPr>
            <a:lvl8pPr>
              <a:defRPr sz="1650" b="1" i="0">
                <a:solidFill>
                  <a:srgbClr val="111111"/>
                </a:solidFill>
                <a:latin typeface="Arial"/>
                <a:ea typeface="Arial"/>
                <a:cs typeface="Arial"/>
              </a:defRPr>
            </a:lvl8pPr>
            <a:lvl9pPr>
              <a:defRPr sz="1650" b="1" i="0">
                <a:solidFill>
                  <a:srgbClr val="111111"/>
                </a:solidFill>
                <a:latin typeface="Arial"/>
                <a:ea typeface="Arial"/>
                <a:cs typeface="Arial"/>
              </a:defRPr>
            </a:lvl9pPr>
          </a:lstStyle>
          <a:p xmlns:a="http://schemas.openxmlformats.org/drawingml/2006/main">
            <a:pPr>
              <a:defRPr sz="1650" b="1" i="0">
                <a:solidFill>
                  <a:srgbClr val="111111"/>
                </a:solidFill>
                <a:latin typeface="Arial"/>
                <a:ea typeface="Arial"/>
                <a:cs typeface="Arial"/>
              </a:defRPr>
            </a:pPr>
            <a:r>
              <a:rPr sz="1650" b="1" i="0">
                <a:solidFill>
                  <a:srgbClr val="111111"/>
                </a:solidFill>
                <a:latin typeface="Arial"/>
                <a:ea typeface="Arial"/>
                <a:cs typeface="Arial"/>
              </a:rPr>
              <a:t>One fixed policy cannot serve every workload equally well</a:t>
            </a:r>
          </a:p>
        </p:txBody>
      </p:sp>
      <p:sp>
        <p:nvSpPr>
          <p:cNvPr id="6" name="">
            <a:extLst xmlns:a="http://schemas.openxmlformats.org/drawingml/2006/main">
              <a:ext uri="{FF2B5EF4-FFF2-40B4-BE49-F238E27FC236}">
                <a16:creationId xmlns:a16="http://schemas.microsoft.com/office/drawing/2014/main" id="{C55799DB-54BD-48DF-A62B-179DCCF2D9E4}"/>
              </a:ext>
            </a:extLst>
          </p:cNvPr>
          <p:cNvSpPr>
            <a:spLocks xmlns:a="http://schemas.openxmlformats.org/drawingml/2006/main" noGrp="1"/>
          </p:cNvSpPr>
          <p:nvPr/>
        </p:nvSpPr>
        <p:spPr>
          <a:xfrm xmlns:a="http://schemas.openxmlformats.org/drawingml/2006/main">
            <a:off x="609600" y="1847850"/>
            <a:ext cx="171450" cy="457200"/>
          </a:xfrm>
          <a:prstGeom xmlns:a="http://schemas.openxmlformats.org/drawingml/2006/main" prst="rect">
            <a:avLst/>
          </a:prstGeom>
          <a:solidFill xmlns:a="http://schemas.openxmlformats.org/drawingml/2006/main">
            <a:srgbClr val="11111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E965230-28DF-4371-9221-F64A1EEC1F7B}"/>
              </a:ext>
            </a:extLst>
          </p:cNvPr>
          <p:cNvSpPr>
            <a:spLocks xmlns:a="http://schemas.openxmlformats.org/drawingml/2006/main" noGrp="1"/>
          </p:cNvSpPr>
          <p:nvPr/>
        </p:nvSpPr>
        <p:spPr>
          <a:xfrm xmlns:a="http://schemas.openxmlformats.org/drawingml/2006/main">
            <a:off x="952500" y="18669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Interactive</a:t>
            </a:r>
          </a:p>
        </p:txBody>
      </p:sp>
      <p:sp>
        <p:nvSpPr>
          <p:cNvPr id="8" name="">
            <a:extLst xmlns:a="http://schemas.openxmlformats.org/drawingml/2006/main">
              <a:ext uri="{FF2B5EF4-FFF2-40B4-BE49-F238E27FC236}">
                <a16:creationId xmlns:a16="http://schemas.microsoft.com/office/drawing/2014/main" id="{C9FAE6A0-0A08-4DD1-915F-CADF77BB74C1}"/>
              </a:ext>
            </a:extLst>
          </p:cNvPr>
          <p:cNvSpPr>
            <a:spLocks xmlns:a="http://schemas.openxmlformats.org/drawingml/2006/main" noGrp="1"/>
          </p:cNvSpPr>
          <p:nvPr/>
        </p:nvSpPr>
        <p:spPr>
          <a:xfrm xmlns:a="http://schemas.openxmlformats.org/drawingml/2006/main">
            <a:off x="2381250" y="186690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Needs a quick first response</a:t>
            </a:r>
          </a:p>
        </p:txBody>
      </p:sp>
      <p:sp>
        <p:nvSpPr>
          <p:cNvPr id="9" name="">
            <a:extLst xmlns:a="http://schemas.openxmlformats.org/drawingml/2006/main">
              <a:ext uri="{FF2B5EF4-FFF2-40B4-BE49-F238E27FC236}">
                <a16:creationId xmlns:a16="http://schemas.microsoft.com/office/drawing/2014/main" id="{3DF977A2-5CAF-457A-AE80-9E6783B16F52}"/>
              </a:ext>
            </a:extLst>
          </p:cNvPr>
          <p:cNvSpPr>
            <a:spLocks xmlns:a="http://schemas.openxmlformats.org/drawingml/2006/main" noGrp="1"/>
          </p:cNvSpPr>
          <p:nvPr/>
        </p:nvSpPr>
        <p:spPr>
          <a:xfrm xmlns:a="http://schemas.openxmlformats.org/drawingml/2006/main">
            <a:off x="609600" y="2552700"/>
            <a:ext cx="171450" cy="457200"/>
          </a:xfrm>
          <a:prstGeom xmlns:a="http://schemas.openxmlformats.org/drawingml/2006/main" prst="rect">
            <a:avLst/>
          </a:prstGeom>
          <a:solidFill xmlns:a="http://schemas.openxmlformats.org/drawingml/2006/main">
            <a:srgbClr val="11111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E076535-B72C-47D5-B55A-242F13D8A2E0}"/>
              </a:ext>
            </a:extLst>
          </p:cNvPr>
          <p:cNvSpPr>
            <a:spLocks xmlns:a="http://schemas.openxmlformats.org/drawingml/2006/main" noGrp="1"/>
          </p:cNvSpPr>
          <p:nvPr/>
        </p:nvSpPr>
        <p:spPr>
          <a:xfrm xmlns:a="http://schemas.openxmlformats.org/drawingml/2006/main">
            <a:off x="952500" y="25717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CPU-heavy</a:t>
            </a:r>
          </a:p>
        </p:txBody>
      </p:sp>
      <p:sp>
        <p:nvSpPr>
          <p:cNvPr id="11" name="">
            <a:extLst xmlns:a="http://schemas.openxmlformats.org/drawingml/2006/main">
              <a:ext uri="{FF2B5EF4-FFF2-40B4-BE49-F238E27FC236}">
                <a16:creationId xmlns:a16="http://schemas.microsoft.com/office/drawing/2014/main" id="{E911EEEF-A3D7-4918-B77C-ABD52E5FEF88}"/>
              </a:ext>
            </a:extLst>
          </p:cNvPr>
          <p:cNvSpPr>
            <a:spLocks xmlns:a="http://schemas.openxmlformats.org/drawingml/2006/main" noGrp="1"/>
          </p:cNvSpPr>
          <p:nvPr/>
        </p:nvSpPr>
        <p:spPr>
          <a:xfrm xmlns:a="http://schemas.openxmlformats.org/drawingml/2006/main">
            <a:off x="2381250" y="257175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Needs sustained processor service</a:t>
            </a:r>
          </a:p>
        </p:txBody>
      </p:sp>
      <p:sp>
        <p:nvSpPr>
          <p:cNvPr id="12" name="">
            <a:extLst xmlns:a="http://schemas.openxmlformats.org/drawingml/2006/main">
              <a:ext uri="{FF2B5EF4-FFF2-40B4-BE49-F238E27FC236}">
                <a16:creationId xmlns:a16="http://schemas.microsoft.com/office/drawing/2014/main" id="{3EB276E1-B41A-4891-96E3-761BCBB5F72F}"/>
              </a:ext>
            </a:extLst>
          </p:cNvPr>
          <p:cNvSpPr>
            <a:spLocks xmlns:a="http://schemas.openxmlformats.org/drawingml/2006/main" noGrp="1"/>
          </p:cNvSpPr>
          <p:nvPr/>
        </p:nvSpPr>
        <p:spPr>
          <a:xfrm xmlns:a="http://schemas.openxmlformats.org/drawingml/2006/main">
            <a:off x="609600" y="3257550"/>
            <a:ext cx="171450" cy="457200"/>
          </a:xfrm>
          <a:prstGeom xmlns:a="http://schemas.openxmlformats.org/drawingml/2006/main" prst="rect">
            <a:avLst/>
          </a:prstGeom>
          <a:solidFill xmlns:a="http://schemas.openxmlformats.org/drawingml/2006/main">
            <a:srgbClr val="11111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A39A1C5-2157-4728-9146-280024263F10}"/>
              </a:ext>
            </a:extLst>
          </p:cNvPr>
          <p:cNvSpPr>
            <a:spLocks xmlns:a="http://schemas.openxmlformats.org/drawingml/2006/main" noGrp="1"/>
          </p:cNvSpPr>
          <p:nvPr/>
        </p:nvSpPr>
        <p:spPr>
          <a:xfrm xmlns:a="http://schemas.openxmlformats.org/drawingml/2006/main">
            <a:off x="952500" y="32766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I/O-heavy</a:t>
            </a:r>
          </a:p>
        </p:txBody>
      </p:sp>
      <p:sp>
        <p:nvSpPr>
          <p:cNvPr id="14" name="">
            <a:extLst xmlns:a="http://schemas.openxmlformats.org/drawingml/2006/main">
              <a:ext uri="{FF2B5EF4-FFF2-40B4-BE49-F238E27FC236}">
                <a16:creationId xmlns:a16="http://schemas.microsoft.com/office/drawing/2014/main" id="{CFADEC8D-022C-4D71-82CE-22C8DB6CFA47}"/>
              </a:ext>
            </a:extLst>
          </p:cNvPr>
          <p:cNvSpPr>
            <a:spLocks xmlns:a="http://schemas.openxmlformats.org/drawingml/2006/main" noGrp="1"/>
          </p:cNvSpPr>
          <p:nvPr/>
        </p:nvSpPr>
        <p:spPr>
          <a:xfrm xmlns:a="http://schemas.openxmlformats.org/drawingml/2006/main">
            <a:off x="2381250" y="327660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Blocks and returns often</a:t>
            </a:r>
          </a:p>
        </p:txBody>
      </p:sp>
      <p:sp>
        <p:nvSpPr>
          <p:cNvPr id="15" name="">
            <a:extLst xmlns:a="http://schemas.openxmlformats.org/drawingml/2006/main">
              <a:ext uri="{FF2B5EF4-FFF2-40B4-BE49-F238E27FC236}">
                <a16:creationId xmlns:a16="http://schemas.microsoft.com/office/drawing/2014/main" id="{B1DFADEC-ECEA-4991-ACB0-3005D05F30D7}"/>
              </a:ext>
            </a:extLst>
          </p:cNvPr>
          <p:cNvSpPr>
            <a:spLocks xmlns:a="http://schemas.openxmlformats.org/drawingml/2006/main" noGrp="1"/>
          </p:cNvSpPr>
          <p:nvPr/>
        </p:nvSpPr>
        <p:spPr>
          <a:xfrm xmlns:a="http://schemas.openxmlformats.org/drawingml/2006/main">
            <a:off x="609600" y="3962400"/>
            <a:ext cx="171450" cy="457200"/>
          </a:xfrm>
          <a:prstGeom xmlns:a="http://schemas.openxmlformats.org/drawingml/2006/main" prst="rect">
            <a:avLst/>
          </a:prstGeom>
          <a:solidFill xmlns:a="http://schemas.openxmlformats.org/drawingml/2006/main">
            <a:srgbClr val="1E5AA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5EAF621-89AD-486A-9467-54674B950EE3}"/>
              </a:ext>
            </a:extLst>
          </p:cNvPr>
          <p:cNvSpPr>
            <a:spLocks xmlns:a="http://schemas.openxmlformats.org/drawingml/2006/main" noGrp="1"/>
          </p:cNvSpPr>
          <p:nvPr/>
        </p:nvSpPr>
        <p:spPr>
          <a:xfrm xmlns:a="http://schemas.openxmlformats.org/drawingml/2006/main">
            <a:off x="952500" y="39814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Changing</a:t>
            </a:r>
          </a:p>
        </p:txBody>
      </p:sp>
      <p:sp>
        <p:nvSpPr>
          <p:cNvPr id="17" name="">
            <a:extLst xmlns:a="http://schemas.openxmlformats.org/drawingml/2006/main">
              <a:ext uri="{FF2B5EF4-FFF2-40B4-BE49-F238E27FC236}">
                <a16:creationId xmlns:a16="http://schemas.microsoft.com/office/drawing/2014/main" id="{8E40EDE6-FE20-463B-82A6-42205A74167B}"/>
              </a:ext>
            </a:extLst>
          </p:cNvPr>
          <p:cNvSpPr>
            <a:spLocks xmlns:a="http://schemas.openxmlformats.org/drawingml/2006/main" noGrp="1"/>
          </p:cNvSpPr>
          <p:nvPr/>
        </p:nvSpPr>
        <p:spPr>
          <a:xfrm xmlns:a="http://schemas.openxmlformats.org/drawingml/2006/main">
            <a:off x="2381250" y="398145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Needs stable policy transitions</a:t>
            </a:r>
          </a:p>
        </p:txBody>
      </p:sp>
      <p:sp>
        <p:nvSpPr>
          <p:cNvPr id="18" name="">
            <a:extLst xmlns:a="http://schemas.openxmlformats.org/drawingml/2006/main">
              <a:ext uri="{FF2B5EF4-FFF2-40B4-BE49-F238E27FC236}">
                <a16:creationId xmlns:a16="http://schemas.microsoft.com/office/drawing/2014/main" id="{CBFEC068-64F8-46A7-B66E-5CE4F173E394}"/>
              </a:ext>
            </a:extLst>
          </p:cNvPr>
          <p:cNvSpPr>
            <a:spLocks xmlns:a="http://schemas.openxmlformats.org/drawingml/2006/main" noGrp="1"/>
          </p:cNvSpPr>
          <p:nvPr/>
        </p:nvSpPr>
        <p:spPr>
          <a:xfrm xmlns:a="http://schemas.openxmlformats.org/drawingml/2006/main">
            <a:off x="6076950" y="1428750"/>
            <a:ext cx="0" cy="3143250"/>
          </a:xfrm>
          <a:prstGeom xmlns:a="http://schemas.openxmlformats.org/drawingml/2006/main" prst="line">
            <a:avLst/>
          </a:prstGeom>
          <a:ln xmlns:a="http://schemas.openxmlformats.org/drawingml/2006/main" w="9525">
            <a:solidFill>
              <a:srgbClr val="D6DADE"/>
            </a:solidFill>
            <a:prstDash val="solid"/>
          </a:ln>
        </p:spPr>
      </p:sp>
      <p:sp>
        <p:nvSpPr>
          <p:cNvPr id="19" name="">
            <a:extLst xmlns:a="http://schemas.openxmlformats.org/drawingml/2006/main">
              <a:ext uri="{FF2B5EF4-FFF2-40B4-BE49-F238E27FC236}">
                <a16:creationId xmlns:a16="http://schemas.microsoft.com/office/drawing/2014/main" id="{71F17B28-810D-4432-B3C2-59B0B5817332}"/>
              </a:ext>
            </a:extLst>
          </p:cNvPr>
          <p:cNvSpPr>
            <a:spLocks xmlns:a="http://schemas.openxmlformats.org/drawingml/2006/main" noGrp="1"/>
          </p:cNvSpPr>
          <p:nvPr/>
        </p:nvSpPr>
        <p:spPr>
          <a:xfrm xmlns:a="http://schemas.openxmlformats.org/drawingml/2006/main">
            <a:off x="6334125" y="1428750"/>
            <a:ext cx="5000625" cy="31432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20" name="">
            <a:extLst xmlns:a="http://schemas.openxmlformats.org/drawingml/2006/main">
              <a:ext uri="{FF2B5EF4-FFF2-40B4-BE49-F238E27FC236}">
                <a16:creationId xmlns:a16="http://schemas.microsoft.com/office/drawing/2014/main" id="{2AB7F80D-FB45-49DB-AE94-AC227C045243}"/>
              </a:ext>
            </a:extLst>
          </p:cNvPr>
          <p:cNvSpPr>
            <a:spLocks xmlns:a="http://schemas.openxmlformats.org/drawingml/2006/main" noGrp="1"/>
          </p:cNvSpPr>
          <p:nvPr/>
        </p:nvSpPr>
        <p:spPr>
          <a:xfrm xmlns:a="http://schemas.openxmlformats.org/drawingml/2006/main">
            <a:off x="6591300" y="16764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E5AA8"/>
                </a:solidFill>
                <a:latin typeface="Arial"/>
                <a:ea typeface="Arial"/>
                <a:cs typeface="Arial"/>
              </a:defRPr>
            </a:defPPr>
            <a:lvl1pPr>
              <a:defRPr sz="1575" b="1" i="0">
                <a:solidFill>
                  <a:srgbClr val="1E5AA8"/>
                </a:solidFill>
                <a:latin typeface="Arial"/>
                <a:ea typeface="Arial"/>
                <a:cs typeface="Arial"/>
              </a:defRPr>
            </a:lvl1pPr>
            <a:lvl2pPr>
              <a:defRPr sz="1575" b="1" i="0">
                <a:solidFill>
                  <a:srgbClr val="1E5AA8"/>
                </a:solidFill>
                <a:latin typeface="Arial"/>
                <a:ea typeface="Arial"/>
                <a:cs typeface="Arial"/>
              </a:defRPr>
            </a:lvl2pPr>
            <a:lvl3pPr>
              <a:defRPr sz="1575" b="1" i="0">
                <a:solidFill>
                  <a:srgbClr val="1E5AA8"/>
                </a:solidFill>
                <a:latin typeface="Arial"/>
                <a:ea typeface="Arial"/>
                <a:cs typeface="Arial"/>
              </a:defRPr>
            </a:lvl3pPr>
            <a:lvl4pPr>
              <a:defRPr sz="1575" b="1" i="0">
                <a:solidFill>
                  <a:srgbClr val="1E5AA8"/>
                </a:solidFill>
                <a:latin typeface="Arial"/>
                <a:ea typeface="Arial"/>
                <a:cs typeface="Arial"/>
              </a:defRPr>
            </a:lvl4pPr>
            <a:lvl5pPr>
              <a:defRPr sz="1575" b="1" i="0">
                <a:solidFill>
                  <a:srgbClr val="1E5AA8"/>
                </a:solidFill>
                <a:latin typeface="Arial"/>
                <a:ea typeface="Arial"/>
                <a:cs typeface="Arial"/>
              </a:defRPr>
            </a:lvl5pPr>
            <a:lvl6pPr>
              <a:defRPr sz="1575" b="1" i="0">
                <a:solidFill>
                  <a:srgbClr val="1E5AA8"/>
                </a:solidFill>
                <a:latin typeface="Arial"/>
                <a:ea typeface="Arial"/>
                <a:cs typeface="Arial"/>
              </a:defRPr>
            </a:lvl6pPr>
            <a:lvl7pPr>
              <a:defRPr sz="1575" b="1" i="0">
                <a:solidFill>
                  <a:srgbClr val="1E5AA8"/>
                </a:solidFill>
                <a:latin typeface="Arial"/>
                <a:ea typeface="Arial"/>
                <a:cs typeface="Arial"/>
              </a:defRPr>
            </a:lvl7pPr>
            <a:lvl8pPr>
              <a:defRPr sz="1575" b="1" i="0">
                <a:solidFill>
                  <a:srgbClr val="1E5AA8"/>
                </a:solidFill>
                <a:latin typeface="Arial"/>
                <a:ea typeface="Arial"/>
                <a:cs typeface="Arial"/>
              </a:defRPr>
            </a:lvl8pPr>
            <a:lvl9pPr>
              <a:defRPr sz="1575" b="1" i="0">
                <a:solidFill>
                  <a:srgbClr val="1E5AA8"/>
                </a:solidFill>
                <a:latin typeface="Arial"/>
                <a:ea typeface="Arial"/>
                <a:cs typeface="Arial"/>
              </a:defRPr>
            </a:lvl9pPr>
          </a:lstStyle>
          <a:p xmlns:a="http://schemas.openxmlformats.org/drawingml/2006/main">
            <a:pPr>
              <a:defRPr sz="1575" b="1" i="0">
                <a:solidFill>
                  <a:srgbClr val="1E5AA8"/>
                </a:solidFill>
                <a:latin typeface="Arial"/>
                <a:ea typeface="Arial"/>
                <a:cs typeface="Arial"/>
              </a:defRPr>
            </a:pPr>
            <a:r>
              <a:rPr sz="1575" b="1" i="0">
                <a:solidFill>
                  <a:srgbClr val="1E5AA8"/>
                </a:solidFill>
                <a:latin typeface="Arial"/>
                <a:ea typeface="Arial"/>
                <a:cs typeface="Arial"/>
              </a:rPr>
              <a:t>What earlier work established</a:t>
            </a:r>
          </a:p>
        </p:txBody>
      </p:sp>
      <p:sp>
        <p:nvSpPr>
          <p:cNvPr id="21" name="">
            <a:extLst xmlns:a="http://schemas.openxmlformats.org/drawingml/2006/main">
              <a:ext uri="{FF2B5EF4-FFF2-40B4-BE49-F238E27FC236}">
                <a16:creationId xmlns:a16="http://schemas.microsoft.com/office/drawing/2014/main" id="{A407E882-F5EE-45C7-8F3C-09DFC39329FF}"/>
              </a:ext>
            </a:extLst>
          </p:cNvPr>
          <p:cNvSpPr>
            <a:spLocks xmlns:a="http://schemas.openxmlformats.org/drawingml/2006/main" noGrp="1"/>
          </p:cNvSpPr>
          <p:nvPr/>
        </p:nvSpPr>
        <p:spPr>
          <a:xfrm xmlns:a="http://schemas.openxmlformats.org/drawingml/2006/main">
            <a:off x="6591300" y="2152650"/>
            <a:ext cx="4305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Policy prediction and scheduler tuning can improve workload-specific outcomes [1], [4].</a:t>
            </a:r>
          </a:p>
        </p:txBody>
      </p:sp>
      <p:sp>
        <p:nvSpPr>
          <p:cNvPr id="22" name="">
            <a:extLst xmlns:a="http://schemas.openxmlformats.org/drawingml/2006/main">
              <a:ext uri="{FF2B5EF4-FFF2-40B4-BE49-F238E27FC236}">
                <a16:creationId xmlns:a16="http://schemas.microsoft.com/office/drawing/2014/main" id="{E20CFC64-EEDC-44E3-8B74-C542E0D9D0D5}"/>
              </a:ext>
            </a:extLst>
          </p:cNvPr>
          <p:cNvSpPr>
            <a:spLocks xmlns:a="http://schemas.openxmlformats.org/drawingml/2006/main" noGrp="1"/>
          </p:cNvSpPr>
          <p:nvPr/>
        </p:nvSpPr>
        <p:spPr>
          <a:xfrm xmlns:a="http://schemas.openxmlformats.org/drawingml/2006/main">
            <a:off x="6591300" y="2876550"/>
            <a:ext cx="4305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Learned routers can choose among expert policies while stability filters limit rapid switching [2].</a:t>
            </a:r>
          </a:p>
        </p:txBody>
      </p:sp>
      <p:sp>
        <p:nvSpPr>
          <p:cNvPr id="23" name="">
            <a:extLst xmlns:a="http://schemas.openxmlformats.org/drawingml/2006/main">
              <a:ext uri="{FF2B5EF4-FFF2-40B4-BE49-F238E27FC236}">
                <a16:creationId xmlns:a16="http://schemas.microsoft.com/office/drawing/2014/main" id="{573798F0-A1FC-4777-8A19-5960FA54E3C8}"/>
              </a:ext>
            </a:extLst>
          </p:cNvPr>
          <p:cNvSpPr>
            <a:spLocks xmlns:a="http://schemas.openxmlformats.org/drawingml/2006/main" noGrp="1"/>
          </p:cNvSpPr>
          <p:nvPr/>
        </p:nvSpPr>
        <p:spPr>
          <a:xfrm xmlns:a="http://schemas.openxmlformats.org/drawingml/2006/main">
            <a:off x="6591300" y="3733800"/>
            <a:ext cx="4305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Recent systems separate learned control from a small execution path [3], [6].</a:t>
            </a:r>
          </a:p>
        </p:txBody>
      </p:sp>
      <p:sp>
        <p:nvSpPr>
          <p:cNvPr id="24" name="">
            <a:extLst xmlns:a="http://schemas.openxmlformats.org/drawingml/2006/main">
              <a:ext uri="{FF2B5EF4-FFF2-40B4-BE49-F238E27FC236}">
                <a16:creationId xmlns:a16="http://schemas.microsoft.com/office/drawing/2014/main" id="{E664B300-97A5-4943-AF93-0ED366019171}"/>
              </a:ext>
            </a:extLst>
          </p:cNvPr>
          <p:cNvSpPr>
            <a:spLocks xmlns:a="http://schemas.openxmlformats.org/drawingml/2006/main" noGrp="1"/>
          </p:cNvSpPr>
          <p:nvPr/>
        </p:nvSpPr>
        <p:spPr>
          <a:xfrm xmlns:a="http://schemas.openxmlformats.org/drawingml/2006/main">
            <a:off x="609600" y="4972050"/>
            <a:ext cx="10725150" cy="1066800"/>
          </a:xfrm>
          <a:prstGeom xmlns:a="http://schemas.openxmlformats.org/drawingml/2006/main" prst="rect">
            <a:avLst/>
          </a:prstGeom>
          <a:solidFill xmlns:a="http://schemas.openxmlformats.org/drawingml/2006/main">
            <a:srgbClr val="E8F0FA"/>
          </a:solidFill>
          <a:ln xmlns:a="http://schemas.openxmlformats.org/drawingml/2006/main" w="14288">
            <a:solidFill>
              <a:srgbClr val="1E5AA8"/>
            </a:solidFill>
            <a:prstDash val="solid"/>
          </a:ln>
        </p:spPr>
      </p:sp>
      <p:sp>
        <p:nvSpPr>
          <p:cNvPr id="25" name="">
            <a:extLst xmlns:a="http://schemas.openxmlformats.org/drawingml/2006/main">
              <a:ext uri="{FF2B5EF4-FFF2-40B4-BE49-F238E27FC236}">
                <a16:creationId xmlns:a16="http://schemas.microsoft.com/office/drawing/2014/main" id="{A033617D-5CF5-46A3-B032-1456BECDA1A4}"/>
              </a:ext>
            </a:extLst>
          </p:cNvPr>
          <p:cNvSpPr>
            <a:spLocks xmlns:a="http://schemas.openxmlformats.org/drawingml/2006/main" noGrp="1"/>
          </p:cNvSpPr>
          <p:nvPr/>
        </p:nvSpPr>
        <p:spPr>
          <a:xfrm xmlns:a="http://schemas.openxmlformats.org/drawingml/2006/main">
            <a:off x="838200" y="51816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E5AA8"/>
                </a:solidFill>
                <a:latin typeface="Arial"/>
                <a:ea typeface="Arial"/>
                <a:cs typeface="Arial"/>
              </a:defRPr>
            </a:defPPr>
            <a:lvl1pPr>
              <a:defRPr sz="1500" b="1" i="0">
                <a:solidFill>
                  <a:srgbClr val="1E5AA8"/>
                </a:solidFill>
                <a:latin typeface="Arial"/>
                <a:ea typeface="Arial"/>
                <a:cs typeface="Arial"/>
              </a:defRPr>
            </a:lvl1pPr>
            <a:lvl2pPr>
              <a:defRPr sz="1500" b="1" i="0">
                <a:solidFill>
                  <a:srgbClr val="1E5AA8"/>
                </a:solidFill>
                <a:latin typeface="Arial"/>
                <a:ea typeface="Arial"/>
                <a:cs typeface="Arial"/>
              </a:defRPr>
            </a:lvl2pPr>
            <a:lvl3pPr>
              <a:defRPr sz="1500" b="1" i="0">
                <a:solidFill>
                  <a:srgbClr val="1E5AA8"/>
                </a:solidFill>
                <a:latin typeface="Arial"/>
                <a:ea typeface="Arial"/>
                <a:cs typeface="Arial"/>
              </a:defRPr>
            </a:lvl3pPr>
            <a:lvl4pPr>
              <a:defRPr sz="1500" b="1" i="0">
                <a:solidFill>
                  <a:srgbClr val="1E5AA8"/>
                </a:solidFill>
                <a:latin typeface="Arial"/>
                <a:ea typeface="Arial"/>
                <a:cs typeface="Arial"/>
              </a:defRPr>
            </a:lvl4pPr>
            <a:lvl5pPr>
              <a:defRPr sz="1500" b="1" i="0">
                <a:solidFill>
                  <a:srgbClr val="1E5AA8"/>
                </a:solidFill>
                <a:latin typeface="Arial"/>
                <a:ea typeface="Arial"/>
                <a:cs typeface="Arial"/>
              </a:defRPr>
            </a:lvl5pPr>
            <a:lvl6pPr>
              <a:defRPr sz="1500" b="1" i="0">
                <a:solidFill>
                  <a:srgbClr val="1E5AA8"/>
                </a:solidFill>
                <a:latin typeface="Arial"/>
                <a:ea typeface="Arial"/>
                <a:cs typeface="Arial"/>
              </a:defRPr>
            </a:lvl6pPr>
            <a:lvl7pPr>
              <a:defRPr sz="1500" b="1" i="0">
                <a:solidFill>
                  <a:srgbClr val="1E5AA8"/>
                </a:solidFill>
                <a:latin typeface="Arial"/>
                <a:ea typeface="Arial"/>
                <a:cs typeface="Arial"/>
              </a:defRPr>
            </a:lvl7pPr>
            <a:lvl8pPr>
              <a:defRPr sz="1500" b="1" i="0">
                <a:solidFill>
                  <a:srgbClr val="1E5AA8"/>
                </a:solidFill>
                <a:latin typeface="Arial"/>
                <a:ea typeface="Arial"/>
                <a:cs typeface="Arial"/>
              </a:defRPr>
            </a:lvl8pPr>
            <a:lvl9pPr>
              <a:defRPr sz="1500" b="1" i="0">
                <a:solidFill>
                  <a:srgbClr val="1E5AA8"/>
                </a:solidFill>
                <a:latin typeface="Arial"/>
                <a:ea typeface="Arial"/>
                <a:cs typeface="Arial"/>
              </a:defRPr>
            </a:lvl9pPr>
          </a:lstStyle>
          <a:p xmlns:a="http://schemas.openxmlformats.org/drawingml/2006/main">
            <a:pPr>
              <a:defRPr sz="1500" b="1" i="0">
                <a:solidFill>
                  <a:srgbClr val="1E5AA8"/>
                </a:solidFill>
                <a:latin typeface="Arial"/>
                <a:ea typeface="Arial"/>
                <a:cs typeface="Arial"/>
              </a:defRPr>
            </a:pPr>
            <a:r>
              <a:rPr sz="1500" b="1" i="0">
                <a:solidFill>
                  <a:srgbClr val="1E5AA8"/>
                </a:solidFill>
                <a:latin typeface="Arial"/>
                <a:ea typeface="Arial"/>
                <a:cs typeface="Arial"/>
              </a:rPr>
              <a:t>AutoScheduler contribution</a:t>
            </a:r>
          </a:p>
        </p:txBody>
      </p:sp>
      <p:sp>
        <p:nvSpPr>
          <p:cNvPr id="26" name="">
            <a:extLst xmlns:a="http://schemas.openxmlformats.org/drawingml/2006/main">
              <a:ext uri="{FF2B5EF4-FFF2-40B4-BE49-F238E27FC236}">
                <a16:creationId xmlns:a16="http://schemas.microsoft.com/office/drawing/2014/main" id="{D724F8BD-B960-4CFA-91F7-7653BBDFB88C}"/>
              </a:ext>
            </a:extLst>
          </p:cNvPr>
          <p:cNvSpPr>
            <a:spLocks xmlns:a="http://schemas.openxmlformats.org/drawingml/2006/main" noGrp="1"/>
          </p:cNvSpPr>
          <p:nvPr/>
        </p:nvSpPr>
        <p:spPr>
          <a:xfrm xmlns:a="http://schemas.openxmlformats.org/drawingml/2006/main">
            <a:off x="838200" y="552450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i="0">
                <a:solidFill>
                  <a:srgbClr val="111111"/>
                </a:solidFill>
                <a:latin typeface="Arial"/>
                <a:ea typeface="Arial"/>
                <a:cs typeface="Arial"/>
              </a:defRPr>
            </a:defPPr>
            <a:lvl1pPr>
              <a:defRPr sz="1500" b="0" i="0">
                <a:solidFill>
                  <a:srgbClr val="111111"/>
                </a:solidFill>
                <a:latin typeface="Arial"/>
                <a:ea typeface="Arial"/>
                <a:cs typeface="Arial"/>
              </a:defRPr>
            </a:lvl1pPr>
            <a:lvl2pPr>
              <a:defRPr sz="1500" b="0" i="0">
                <a:solidFill>
                  <a:srgbClr val="111111"/>
                </a:solidFill>
                <a:latin typeface="Arial"/>
                <a:ea typeface="Arial"/>
                <a:cs typeface="Arial"/>
              </a:defRPr>
            </a:lvl2pPr>
            <a:lvl3pPr>
              <a:defRPr sz="1500" b="0" i="0">
                <a:solidFill>
                  <a:srgbClr val="111111"/>
                </a:solidFill>
                <a:latin typeface="Arial"/>
                <a:ea typeface="Arial"/>
                <a:cs typeface="Arial"/>
              </a:defRPr>
            </a:lvl3pPr>
            <a:lvl4pPr>
              <a:defRPr sz="1500" b="0" i="0">
                <a:solidFill>
                  <a:srgbClr val="111111"/>
                </a:solidFill>
                <a:latin typeface="Arial"/>
                <a:ea typeface="Arial"/>
                <a:cs typeface="Arial"/>
              </a:defRPr>
            </a:lvl4pPr>
            <a:lvl5pPr>
              <a:defRPr sz="1500" b="0" i="0">
                <a:solidFill>
                  <a:srgbClr val="111111"/>
                </a:solidFill>
                <a:latin typeface="Arial"/>
                <a:ea typeface="Arial"/>
                <a:cs typeface="Arial"/>
              </a:defRPr>
            </a:lvl5pPr>
            <a:lvl6pPr>
              <a:defRPr sz="1500" b="0" i="0">
                <a:solidFill>
                  <a:srgbClr val="111111"/>
                </a:solidFill>
                <a:latin typeface="Arial"/>
                <a:ea typeface="Arial"/>
                <a:cs typeface="Arial"/>
              </a:defRPr>
            </a:lvl6pPr>
            <a:lvl7pPr>
              <a:defRPr sz="1500" b="0" i="0">
                <a:solidFill>
                  <a:srgbClr val="111111"/>
                </a:solidFill>
                <a:latin typeface="Arial"/>
                <a:ea typeface="Arial"/>
                <a:cs typeface="Arial"/>
              </a:defRPr>
            </a:lvl7pPr>
            <a:lvl8pPr>
              <a:defRPr sz="1500" b="0" i="0">
                <a:solidFill>
                  <a:srgbClr val="111111"/>
                </a:solidFill>
                <a:latin typeface="Arial"/>
                <a:ea typeface="Arial"/>
                <a:cs typeface="Arial"/>
              </a:defRPr>
            </a:lvl8pPr>
            <a:lvl9pPr>
              <a:defRPr sz="1500" b="0" i="0">
                <a:solidFill>
                  <a:srgbClr val="111111"/>
                </a:solidFill>
                <a:latin typeface="Arial"/>
                <a:ea typeface="Arial"/>
                <a:cs typeface="Arial"/>
              </a:defRPr>
            </a:lvl9pPr>
          </a:lstStyle>
          <a:p xmlns:a="http://schemas.openxmlformats.org/drawingml/2006/main">
            <a:pPr>
              <a:defRPr sz="1500" b="0" i="0">
                <a:solidFill>
                  <a:srgbClr val="111111"/>
                </a:solidFill>
                <a:latin typeface="Arial"/>
                <a:ea typeface="Arial"/>
                <a:cs typeface="Arial"/>
              </a:defRPr>
            </a:pPr>
            <a:r>
              <a:rPr sz="1500" b="0" i="0">
                <a:solidFill>
                  <a:srgbClr val="111111"/>
                </a:solidFill>
                <a:latin typeface="Arial"/>
                <a:ea typeface="Arial"/>
                <a:cs typeface="Arial"/>
              </a:rPr>
              <a:t>A lightweight selector, observed-only features, guarded switching, and one shared simulator for all policy comparisons.</a:t>
            </a:r>
          </a:p>
        </p:txBody>
      </p:sp>
      <p:sp>
        <p:nvSpPr>
          <p:cNvPr id="27" name="">
            <a:extLst xmlns:a="http://schemas.openxmlformats.org/drawingml/2006/main">
              <a:ext uri="{FF2B5EF4-FFF2-40B4-BE49-F238E27FC236}">
                <a16:creationId xmlns:a16="http://schemas.microsoft.com/office/drawing/2014/main" id="{C4E74D6D-7B7E-4245-BBC1-526B3530F97B}"/>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Prior work: [1] Biswas et al.  [2] Wang et al.  [3] Fu et al.  [4] Lee et al.  [6] Seo et al.</a:t>
            </a:r>
          </a:p>
        </p:txBody>
      </p:sp>
    </p:spTree>
    <p:extLst>
      <p:ext uri="{BB962C8B-B14F-4D97-AF65-F5344CB8AC3E}">
        <p14:creationId xmlns:p14="http://schemas.microsoft.com/office/powerpoint/2010/main" val="387713677"/>
      </p:ext>
    </p:extLst>
  </p:cSld>
</p:sld>
</file>

<file path=ppt/slides/slide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5259E6E6-5EE4-4C66-9C04-A9B4B151E009}"/>
              </a:ext>
            </a:extLst>
          </p:cNvPr>
          <p:cNvCxnSpPr>
            <a:stCxn xmlns:a="http://schemas.openxmlformats.org/drawingml/2006/main" id="36" idx="3"/>
            <a:endCxn xmlns:a="http://schemas.openxmlformats.org/drawingml/2006/main" id="39" idx="1"/>
          </p:cNvCxnSpPr>
          <p:nvPr/>
        </p:nvCxnSpPr>
        <p:spPr>
          <a:xfrm xmlns:a="http://schemas.openxmlformats.org/drawingml/2006/main">
            <a:off x="8458200" y="5610225"/>
            <a:ext cx="1333500" cy="0"/>
          </a:xfrm>
          <a:prstGeom xmlns:a="http://schemas.openxmlformats.org/drawingml/2006/main" prst="straightConnector1">
            <a:avLst/>
          </a:prstGeom>
          <a:ln xmlns:a="http://schemas.openxmlformats.org/drawingml/2006/main" w="14288">
            <a:solidFill>
              <a:srgbClr val="555B63"/>
            </a:solidFill>
            <a:prstDash val="solid"/>
            <a:tailEnd type="triangle" w="sm" len="sm"/>
          </a:ln>
        </p:spPr>
      </p:cxnSp>
      <p:cxnSp>
        <p:nvCxnSpPr>
          <p:cNvPr id="44" name="">
            <a:extLst xmlns:a="http://schemas.openxmlformats.org/drawingml/2006/main">
              <a:ext uri="{FF2B5EF4-FFF2-40B4-BE49-F238E27FC236}">
                <a16:creationId xmlns:a16="http://schemas.microsoft.com/office/drawing/2014/main" id="{FE5E9A42-E316-4998-8B86-B1477B5A222D}"/>
              </a:ext>
            </a:extLst>
          </p:cNvPr>
          <p:cNvCxnSpPr>
            <a:stCxn xmlns:a="http://schemas.openxmlformats.org/drawingml/2006/main" id="33" idx="3"/>
            <a:endCxn xmlns:a="http://schemas.openxmlformats.org/drawingml/2006/main" id="36" idx="1"/>
          </p:cNvCxnSpPr>
          <p:nvPr/>
        </p:nvCxnSpPr>
        <p:spPr>
          <a:xfrm xmlns:a="http://schemas.openxmlformats.org/drawingml/2006/main">
            <a:off x="6096000" y="5610225"/>
            <a:ext cx="1333500" cy="0"/>
          </a:xfrm>
          <a:prstGeom xmlns:a="http://schemas.openxmlformats.org/drawingml/2006/main" prst="straightConnector1">
            <a:avLst/>
          </a:prstGeom>
          <a:ln xmlns:a="http://schemas.openxmlformats.org/drawingml/2006/main" w="14288">
            <a:solidFill>
              <a:srgbClr val="555B63"/>
            </a:solidFill>
            <a:prstDash val="solid"/>
            <a:tailEnd type="triangle" w="sm" len="sm"/>
          </a:ln>
        </p:spPr>
      </p:cxnSp>
      <p:cxnSp>
        <p:nvCxnSpPr>
          <p:cNvPr id="43" name="">
            <a:extLst xmlns:a="http://schemas.openxmlformats.org/drawingml/2006/main">
              <a:ext uri="{FF2B5EF4-FFF2-40B4-BE49-F238E27FC236}">
                <a16:creationId xmlns:a16="http://schemas.microsoft.com/office/drawing/2014/main" id="{073782D4-A9A8-445D-8855-8DC141D721F2}"/>
              </a:ext>
            </a:extLst>
          </p:cNvPr>
          <p:cNvCxnSpPr>
            <a:stCxn xmlns:a="http://schemas.openxmlformats.org/drawingml/2006/main" id="30" idx="3"/>
            <a:endCxn xmlns:a="http://schemas.openxmlformats.org/drawingml/2006/main" id="33" idx="1"/>
          </p:cNvCxnSpPr>
          <p:nvPr/>
        </p:nvCxnSpPr>
        <p:spPr>
          <a:xfrm xmlns:a="http://schemas.openxmlformats.org/drawingml/2006/main">
            <a:off x="3733800" y="5610225"/>
            <a:ext cx="1333500" cy="0"/>
          </a:xfrm>
          <a:prstGeom xmlns:a="http://schemas.openxmlformats.org/drawingml/2006/main" prst="straightConnector1">
            <a:avLst/>
          </a:prstGeom>
          <a:ln xmlns:a="http://schemas.openxmlformats.org/drawingml/2006/main" w="14288">
            <a:solidFill>
              <a:srgbClr val="555B63"/>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E70BC6C9-43B0-4667-8A36-BEEAD13220F0}"/>
              </a:ext>
            </a:extLst>
          </p:cNvPr>
          <p:cNvCxnSpPr>
            <a:stCxn xmlns:a="http://schemas.openxmlformats.org/drawingml/2006/main" id="27" idx="3"/>
            <a:endCxn xmlns:a="http://schemas.openxmlformats.org/drawingml/2006/main" id="30" idx="1"/>
          </p:cNvCxnSpPr>
          <p:nvPr/>
        </p:nvCxnSpPr>
        <p:spPr>
          <a:xfrm xmlns:a="http://schemas.openxmlformats.org/drawingml/2006/main">
            <a:off x="1371600" y="5610225"/>
            <a:ext cx="1333500" cy="0"/>
          </a:xfrm>
          <a:prstGeom xmlns:a="http://schemas.openxmlformats.org/drawingml/2006/main" prst="straightConnector1">
            <a:avLst/>
          </a:prstGeom>
          <a:ln xmlns:a="http://schemas.openxmlformats.org/drawingml/2006/main" w="14288">
            <a:solidFill>
              <a:srgbClr val="555B63"/>
            </a:solidFill>
            <a:prstDash val="solid"/>
            <a:tailEnd type="triangle" w="sm" len="sm"/>
          </a:ln>
        </p:spPr>
      </p:cxnSp>
      <p:sp>
        <p:nvSpPr>
          <p:cNvPr id="46" name="">
            <a:extLst xmlns:a="http://schemas.openxmlformats.org/drawingml/2006/main">
              <a:ext uri="{FF2B5EF4-FFF2-40B4-BE49-F238E27FC236}">
                <a16:creationId xmlns:a16="http://schemas.microsoft.com/office/drawing/2014/main" id="{DA684517-8CE7-436B-B691-94E6B9DE6642}"/>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DD8F5C93-00C4-47CC-9CF1-2DC1C9099AC5}"/>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Dataset sources and split discipline</a:t>
            </a:r>
          </a:p>
        </p:txBody>
      </p:sp>
      <p:sp>
        <p:nvSpPr>
          <p:cNvPr id="3" name="">
            <a:extLst xmlns:a="http://schemas.openxmlformats.org/drawingml/2006/main">
              <a:ext uri="{FF2B5EF4-FFF2-40B4-BE49-F238E27FC236}">
                <a16:creationId xmlns:a16="http://schemas.microsoft.com/office/drawing/2014/main" id="{D06B2870-A4BA-45A8-A33B-CE7E56A1FB7D}"/>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E66E52CB-DEFC-41D0-8E00-09A7325013ED}"/>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C653B2A-F66E-4DFA-8DA1-B467B97E95D4}"/>
              </a:ext>
            </a:extLst>
          </p:cNvPr>
          <p:cNvSpPr>
            <a:spLocks xmlns:a="http://schemas.openxmlformats.org/drawingml/2006/main" noGrp="1"/>
          </p:cNvSpPr>
          <p:nvPr/>
        </p:nvSpPr>
        <p:spPr>
          <a:xfrm xmlns:a="http://schemas.openxmlformats.org/drawingml/2006/main">
            <a:off x="514350" y="1352550"/>
            <a:ext cx="5314950" cy="34671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6" name="">
            <a:extLst xmlns:a="http://schemas.openxmlformats.org/drawingml/2006/main">
              <a:ext uri="{FF2B5EF4-FFF2-40B4-BE49-F238E27FC236}">
                <a16:creationId xmlns:a16="http://schemas.microsoft.com/office/drawing/2014/main" id="{B211441F-FD29-4F9E-83EC-6AC5A23A230D}"/>
              </a:ext>
            </a:extLst>
          </p:cNvPr>
          <p:cNvSpPr>
            <a:spLocks xmlns:a="http://schemas.openxmlformats.org/drawingml/2006/main" noGrp="1"/>
          </p:cNvSpPr>
          <p:nvPr/>
        </p:nvSpPr>
        <p:spPr>
          <a:xfrm xmlns:a="http://schemas.openxmlformats.org/drawingml/2006/main">
            <a:off x="742950" y="15621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CAPTURED LINUX TRACES</a:t>
            </a:r>
          </a:p>
        </p:txBody>
      </p:sp>
      <p:sp>
        <p:nvSpPr>
          <p:cNvPr id="7" name="">
            <a:extLst xmlns:a="http://schemas.openxmlformats.org/drawingml/2006/main">
              <a:ext uri="{FF2B5EF4-FFF2-40B4-BE49-F238E27FC236}">
                <a16:creationId xmlns:a16="http://schemas.microsoft.com/office/drawing/2014/main" id="{05063DEE-7765-47A4-A868-806E8EEF59AD}"/>
              </a:ext>
            </a:extLst>
          </p:cNvPr>
          <p:cNvSpPr>
            <a:spLocks xmlns:a="http://schemas.openxmlformats.org/drawingml/2006/main" noGrp="1"/>
          </p:cNvSpPr>
          <p:nvPr/>
        </p:nvSpPr>
        <p:spPr>
          <a:xfrm xmlns:a="http://schemas.openxmlformats.org/drawingml/2006/main">
            <a:off x="742950" y="19050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i="0">
                <a:solidFill>
                  <a:srgbClr val="111111"/>
                </a:solidFill>
                <a:latin typeface="Arial"/>
                <a:ea typeface="Arial"/>
                <a:cs typeface="Arial"/>
              </a:defRPr>
            </a:defPPr>
            <a:lvl1pPr>
              <a:defRPr sz="2025" b="1" i="0">
                <a:solidFill>
                  <a:srgbClr val="111111"/>
                </a:solidFill>
                <a:latin typeface="Arial"/>
                <a:ea typeface="Arial"/>
                <a:cs typeface="Arial"/>
              </a:defRPr>
            </a:lvl1pPr>
            <a:lvl2pPr>
              <a:defRPr sz="2025" b="1" i="0">
                <a:solidFill>
                  <a:srgbClr val="111111"/>
                </a:solidFill>
                <a:latin typeface="Arial"/>
                <a:ea typeface="Arial"/>
                <a:cs typeface="Arial"/>
              </a:defRPr>
            </a:lvl2pPr>
            <a:lvl3pPr>
              <a:defRPr sz="2025" b="1" i="0">
                <a:solidFill>
                  <a:srgbClr val="111111"/>
                </a:solidFill>
                <a:latin typeface="Arial"/>
                <a:ea typeface="Arial"/>
                <a:cs typeface="Arial"/>
              </a:defRPr>
            </a:lvl3pPr>
            <a:lvl4pPr>
              <a:defRPr sz="2025" b="1" i="0">
                <a:solidFill>
                  <a:srgbClr val="111111"/>
                </a:solidFill>
                <a:latin typeface="Arial"/>
                <a:ea typeface="Arial"/>
                <a:cs typeface="Arial"/>
              </a:defRPr>
            </a:lvl4pPr>
            <a:lvl5pPr>
              <a:defRPr sz="2025" b="1" i="0">
                <a:solidFill>
                  <a:srgbClr val="111111"/>
                </a:solidFill>
                <a:latin typeface="Arial"/>
                <a:ea typeface="Arial"/>
                <a:cs typeface="Arial"/>
              </a:defRPr>
            </a:lvl5pPr>
            <a:lvl6pPr>
              <a:defRPr sz="2025" b="1" i="0">
                <a:solidFill>
                  <a:srgbClr val="111111"/>
                </a:solidFill>
                <a:latin typeface="Arial"/>
                <a:ea typeface="Arial"/>
                <a:cs typeface="Arial"/>
              </a:defRPr>
            </a:lvl6pPr>
            <a:lvl7pPr>
              <a:defRPr sz="2025" b="1" i="0">
                <a:solidFill>
                  <a:srgbClr val="111111"/>
                </a:solidFill>
                <a:latin typeface="Arial"/>
                <a:ea typeface="Arial"/>
                <a:cs typeface="Arial"/>
              </a:defRPr>
            </a:lvl7pPr>
            <a:lvl8pPr>
              <a:defRPr sz="2025" b="1" i="0">
                <a:solidFill>
                  <a:srgbClr val="111111"/>
                </a:solidFill>
                <a:latin typeface="Arial"/>
                <a:ea typeface="Arial"/>
                <a:cs typeface="Arial"/>
              </a:defRPr>
            </a:lvl8pPr>
            <a:lvl9pPr>
              <a:defRPr sz="2025" b="1" i="0">
                <a:solidFill>
                  <a:srgbClr val="111111"/>
                </a:solidFill>
                <a:latin typeface="Arial"/>
                <a:ea typeface="Arial"/>
                <a:cs typeface="Arial"/>
              </a:defRPr>
            </a:lvl9pPr>
          </a:lstStyle>
          <a:p xmlns:a="http://schemas.openxmlformats.org/drawingml/2006/main">
            <a:pPr>
              <a:defRPr sz="2025" b="1" i="0">
                <a:solidFill>
                  <a:srgbClr val="111111"/>
                </a:solidFill>
                <a:latin typeface="Arial"/>
                <a:ea typeface="Arial"/>
                <a:cs typeface="Arial"/>
              </a:defRPr>
            </a:pPr>
            <a:r>
              <a:rPr sz="2025" b="1" i="0">
                <a:solidFill>
                  <a:srgbClr val="111111"/>
                </a:solidFill>
                <a:latin typeface="Arial"/>
                <a:ea typeface="Arial"/>
                <a:cs typeface="Arial"/>
              </a:rPr>
              <a:t>9 accepted traces</a:t>
            </a:r>
          </a:p>
        </p:txBody>
      </p:sp>
      <p:sp>
        <p:nvSpPr>
          <p:cNvPr id="8" name="">
            <a:extLst xmlns:a="http://schemas.openxmlformats.org/drawingml/2006/main">
              <a:ext uri="{FF2B5EF4-FFF2-40B4-BE49-F238E27FC236}">
                <a16:creationId xmlns:a16="http://schemas.microsoft.com/office/drawing/2014/main" id="{9F47BAC5-A5FC-449A-B600-2FE75A3FC72A}"/>
              </a:ext>
            </a:extLst>
          </p:cNvPr>
          <p:cNvSpPr>
            <a:spLocks xmlns:a="http://schemas.openxmlformats.org/drawingml/2006/main" noGrp="1"/>
          </p:cNvSpPr>
          <p:nvPr/>
        </p:nvSpPr>
        <p:spPr>
          <a:xfrm xmlns:a="http://schemas.openxmlformats.org/drawingml/2006/main">
            <a:off x="742950" y="2324100"/>
            <a:ext cx="457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555B63"/>
                </a:solidFill>
                <a:latin typeface="Arial"/>
                <a:ea typeface="Arial"/>
                <a:cs typeface="Arial"/>
              </a:defRPr>
            </a:defPPr>
            <a:lvl1pPr>
              <a:defRPr sz="1350" b="0" i="0">
                <a:solidFill>
                  <a:srgbClr val="555B63"/>
                </a:solidFill>
                <a:latin typeface="Arial"/>
                <a:ea typeface="Arial"/>
                <a:cs typeface="Arial"/>
              </a:defRPr>
            </a:lvl1pPr>
            <a:lvl2pPr>
              <a:defRPr sz="1350" b="0" i="0">
                <a:solidFill>
                  <a:srgbClr val="555B63"/>
                </a:solidFill>
                <a:latin typeface="Arial"/>
                <a:ea typeface="Arial"/>
                <a:cs typeface="Arial"/>
              </a:defRPr>
            </a:lvl2pPr>
            <a:lvl3pPr>
              <a:defRPr sz="1350" b="0" i="0">
                <a:solidFill>
                  <a:srgbClr val="555B63"/>
                </a:solidFill>
                <a:latin typeface="Arial"/>
                <a:ea typeface="Arial"/>
                <a:cs typeface="Arial"/>
              </a:defRPr>
            </a:lvl3pPr>
            <a:lvl4pPr>
              <a:defRPr sz="1350" b="0" i="0">
                <a:solidFill>
                  <a:srgbClr val="555B63"/>
                </a:solidFill>
                <a:latin typeface="Arial"/>
                <a:ea typeface="Arial"/>
                <a:cs typeface="Arial"/>
              </a:defRPr>
            </a:lvl4pPr>
            <a:lvl5pPr>
              <a:defRPr sz="1350" b="0" i="0">
                <a:solidFill>
                  <a:srgbClr val="555B63"/>
                </a:solidFill>
                <a:latin typeface="Arial"/>
                <a:ea typeface="Arial"/>
                <a:cs typeface="Arial"/>
              </a:defRPr>
            </a:lvl5pPr>
            <a:lvl6pPr>
              <a:defRPr sz="1350" b="0" i="0">
                <a:solidFill>
                  <a:srgbClr val="555B63"/>
                </a:solidFill>
                <a:latin typeface="Arial"/>
                <a:ea typeface="Arial"/>
                <a:cs typeface="Arial"/>
              </a:defRPr>
            </a:lvl6pPr>
            <a:lvl7pPr>
              <a:defRPr sz="1350" b="0" i="0">
                <a:solidFill>
                  <a:srgbClr val="555B63"/>
                </a:solidFill>
                <a:latin typeface="Arial"/>
                <a:ea typeface="Arial"/>
                <a:cs typeface="Arial"/>
              </a:defRPr>
            </a:lvl7pPr>
            <a:lvl8pPr>
              <a:defRPr sz="1350" b="0" i="0">
                <a:solidFill>
                  <a:srgbClr val="555B63"/>
                </a:solidFill>
                <a:latin typeface="Arial"/>
                <a:ea typeface="Arial"/>
                <a:cs typeface="Arial"/>
              </a:defRPr>
            </a:lvl8pPr>
            <a:lvl9pPr>
              <a:defRPr sz="1350" b="0" i="0">
                <a:solidFill>
                  <a:srgbClr val="555B63"/>
                </a:solidFill>
                <a:latin typeface="Arial"/>
                <a:ea typeface="Arial"/>
                <a:cs typeface="Arial"/>
              </a:defRPr>
            </a:lvl9pPr>
          </a:lstStyle>
          <a:p xmlns:a="http://schemas.openxmlformats.org/drawingml/2006/main">
            <a:pPr>
              <a:defRPr sz="1350" b="0" i="0">
                <a:solidFill>
                  <a:srgbClr val="555B63"/>
                </a:solidFill>
                <a:latin typeface="Arial"/>
                <a:ea typeface="Arial"/>
                <a:cs typeface="Arial"/>
              </a:defRPr>
            </a:pPr>
            <a:r>
              <a:rPr sz="1350" b="0" i="0">
                <a:solidFill>
                  <a:srgbClr val="555B63"/>
                </a:solidFill>
                <a:latin typeface="Arial"/>
                <a:ea typeface="Arial"/>
                <a:cs typeface="Arial"/>
              </a:rPr>
              <a:t>CPU and compression scenarios recorded on all CPUs in a Linux VM.</a:t>
            </a:r>
          </a:p>
        </p:txBody>
      </p:sp>
      <p:sp>
        <p:nvSpPr>
          <p:cNvPr id="9" name="">
            <a:extLst xmlns:a="http://schemas.openxmlformats.org/drawingml/2006/main">
              <a:ext uri="{FF2B5EF4-FFF2-40B4-BE49-F238E27FC236}">
                <a16:creationId xmlns:a16="http://schemas.microsoft.com/office/drawing/2014/main" id="{9019CE5C-4FBE-415E-91C8-0A7CD3183C94}"/>
              </a:ext>
            </a:extLst>
          </p:cNvPr>
          <p:cNvSpPr>
            <a:spLocks xmlns:a="http://schemas.openxmlformats.org/drawingml/2006/main" noGrp="1"/>
          </p:cNvSpPr>
          <p:nvPr/>
        </p:nvSpPr>
        <p:spPr>
          <a:xfrm xmlns:a="http://schemas.openxmlformats.org/drawingml/2006/main">
            <a:off x="742950" y="30670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2,590,010</a:t>
            </a:r>
          </a:p>
        </p:txBody>
      </p:sp>
      <p:sp>
        <p:nvSpPr>
          <p:cNvPr id="10" name="">
            <a:extLst xmlns:a="http://schemas.openxmlformats.org/drawingml/2006/main">
              <a:ext uri="{FF2B5EF4-FFF2-40B4-BE49-F238E27FC236}">
                <a16:creationId xmlns:a16="http://schemas.microsoft.com/office/drawing/2014/main" id="{D7107F59-05BC-4CFE-BB66-A0D3DD5E3080}"/>
              </a:ext>
            </a:extLst>
          </p:cNvPr>
          <p:cNvSpPr>
            <a:spLocks xmlns:a="http://schemas.openxmlformats.org/drawingml/2006/main" noGrp="1"/>
          </p:cNvSpPr>
          <p:nvPr/>
        </p:nvSpPr>
        <p:spPr>
          <a:xfrm xmlns:a="http://schemas.openxmlformats.org/drawingml/2006/main">
            <a:off x="742950" y="33813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scheduler events</a:t>
            </a:r>
          </a:p>
        </p:txBody>
      </p:sp>
      <p:sp>
        <p:nvSpPr>
          <p:cNvPr id="11" name="">
            <a:extLst xmlns:a="http://schemas.openxmlformats.org/drawingml/2006/main">
              <a:ext uri="{FF2B5EF4-FFF2-40B4-BE49-F238E27FC236}">
                <a16:creationId xmlns:a16="http://schemas.microsoft.com/office/drawing/2014/main" id="{CA62C8F1-CB96-4D41-AEBC-F43C3E5F45A8}"/>
              </a:ext>
            </a:extLst>
          </p:cNvPr>
          <p:cNvSpPr>
            <a:spLocks xmlns:a="http://schemas.openxmlformats.org/drawingml/2006/main" noGrp="1"/>
          </p:cNvSpPr>
          <p:nvPr/>
        </p:nvSpPr>
        <p:spPr>
          <a:xfrm xmlns:a="http://schemas.openxmlformats.org/drawingml/2006/main">
            <a:off x="2571750" y="30670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25</a:t>
            </a:r>
          </a:p>
        </p:txBody>
      </p:sp>
      <p:sp>
        <p:nvSpPr>
          <p:cNvPr id="12" name="">
            <a:extLst xmlns:a="http://schemas.openxmlformats.org/drawingml/2006/main">
              <a:ext uri="{FF2B5EF4-FFF2-40B4-BE49-F238E27FC236}">
                <a16:creationId xmlns:a16="http://schemas.microsoft.com/office/drawing/2014/main" id="{9104FDBD-547D-4315-8B1A-1042BEF512C7}"/>
              </a:ext>
            </a:extLst>
          </p:cNvPr>
          <p:cNvSpPr>
            <a:spLocks xmlns:a="http://schemas.openxmlformats.org/drawingml/2006/main" noGrp="1"/>
          </p:cNvSpPr>
          <p:nvPr/>
        </p:nvSpPr>
        <p:spPr>
          <a:xfrm xmlns:a="http://schemas.openxmlformats.org/drawingml/2006/main">
            <a:off x="2571750" y="3381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processes</a:t>
            </a:r>
          </a:p>
        </p:txBody>
      </p:sp>
      <p:sp>
        <p:nvSpPr>
          <p:cNvPr id="13" name="">
            <a:extLst xmlns:a="http://schemas.openxmlformats.org/drawingml/2006/main">
              <a:ext uri="{FF2B5EF4-FFF2-40B4-BE49-F238E27FC236}">
                <a16:creationId xmlns:a16="http://schemas.microsoft.com/office/drawing/2014/main" id="{8368CB65-C222-4C1A-81D7-C529E42A60FB}"/>
              </a:ext>
            </a:extLst>
          </p:cNvPr>
          <p:cNvSpPr>
            <a:spLocks xmlns:a="http://schemas.openxmlformats.org/drawingml/2006/main" noGrp="1"/>
          </p:cNvSpPr>
          <p:nvPr/>
        </p:nvSpPr>
        <p:spPr>
          <a:xfrm xmlns:a="http://schemas.openxmlformats.org/drawingml/2006/main">
            <a:off x="3790950" y="306705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1,053</a:t>
            </a:r>
          </a:p>
        </p:txBody>
      </p:sp>
      <p:sp>
        <p:nvSpPr>
          <p:cNvPr id="14" name="">
            <a:extLst xmlns:a="http://schemas.openxmlformats.org/drawingml/2006/main">
              <a:ext uri="{FF2B5EF4-FFF2-40B4-BE49-F238E27FC236}">
                <a16:creationId xmlns:a16="http://schemas.microsoft.com/office/drawing/2014/main" id="{5A547204-D86A-4248-AAC7-DD259AA27987}"/>
              </a:ext>
            </a:extLst>
          </p:cNvPr>
          <p:cNvSpPr>
            <a:spLocks xmlns:a="http://schemas.openxmlformats.org/drawingml/2006/main" noGrp="1"/>
          </p:cNvSpPr>
          <p:nvPr/>
        </p:nvSpPr>
        <p:spPr>
          <a:xfrm xmlns:a="http://schemas.openxmlformats.org/drawingml/2006/main">
            <a:off x="3790950" y="338137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state snapshots</a:t>
            </a:r>
          </a:p>
        </p:txBody>
      </p:sp>
      <p:sp>
        <p:nvSpPr>
          <p:cNvPr id="15" name="">
            <a:extLst xmlns:a="http://schemas.openxmlformats.org/drawingml/2006/main">
              <a:ext uri="{FF2B5EF4-FFF2-40B4-BE49-F238E27FC236}">
                <a16:creationId xmlns:a16="http://schemas.microsoft.com/office/drawing/2014/main" id="{7E162E91-1AC2-4ABA-A5AD-151DA2A459DE}"/>
              </a:ext>
            </a:extLst>
          </p:cNvPr>
          <p:cNvSpPr>
            <a:spLocks xmlns:a="http://schemas.openxmlformats.org/drawingml/2006/main" noGrp="1"/>
          </p:cNvSpPr>
          <p:nvPr/>
        </p:nvSpPr>
        <p:spPr>
          <a:xfrm xmlns:a="http://schemas.openxmlformats.org/drawingml/2006/main">
            <a:off x="742950" y="385762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5,265 action-cost rows</a:t>
            </a:r>
          </a:p>
        </p:txBody>
      </p:sp>
      <p:sp>
        <p:nvSpPr>
          <p:cNvPr id="16" name="">
            <a:extLst xmlns:a="http://schemas.openxmlformats.org/drawingml/2006/main">
              <a:ext uri="{FF2B5EF4-FFF2-40B4-BE49-F238E27FC236}">
                <a16:creationId xmlns:a16="http://schemas.microsoft.com/office/drawing/2014/main" id="{1C42D1DE-51ED-4FC2-9CC1-6D6D2085CDFB}"/>
              </a:ext>
            </a:extLst>
          </p:cNvPr>
          <p:cNvSpPr>
            <a:spLocks xmlns:a="http://schemas.openxmlformats.org/drawingml/2006/main" noGrp="1"/>
          </p:cNvSpPr>
          <p:nvPr/>
        </p:nvSpPr>
        <p:spPr>
          <a:xfrm xmlns:a="http://schemas.openxmlformats.org/drawingml/2006/main">
            <a:off x="742950" y="4257675"/>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Cleaned and anonymized. Incomplete traces rejected. Group split: 6 train, 1 validation, 2 test.</a:t>
            </a:r>
          </a:p>
        </p:txBody>
      </p:sp>
      <p:sp>
        <p:nvSpPr>
          <p:cNvPr id="17" name="">
            <a:extLst xmlns:a="http://schemas.openxmlformats.org/drawingml/2006/main">
              <a:ext uri="{FF2B5EF4-FFF2-40B4-BE49-F238E27FC236}">
                <a16:creationId xmlns:a16="http://schemas.microsoft.com/office/drawing/2014/main" id="{26BDE37B-B790-475D-A643-648259EBD077}"/>
              </a:ext>
            </a:extLst>
          </p:cNvPr>
          <p:cNvSpPr>
            <a:spLocks xmlns:a="http://schemas.openxmlformats.org/drawingml/2006/main" noGrp="1"/>
          </p:cNvSpPr>
          <p:nvPr/>
        </p:nvSpPr>
        <p:spPr>
          <a:xfrm xmlns:a="http://schemas.openxmlformats.org/drawingml/2006/main">
            <a:off x="6115050" y="1352550"/>
            <a:ext cx="5562600" cy="34671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8" name="">
            <a:extLst xmlns:a="http://schemas.openxmlformats.org/drawingml/2006/main">
              <a:ext uri="{FF2B5EF4-FFF2-40B4-BE49-F238E27FC236}">
                <a16:creationId xmlns:a16="http://schemas.microsoft.com/office/drawing/2014/main" id="{9DD99947-DA70-4C2D-A4BA-696F69431BE7}"/>
              </a:ext>
            </a:extLst>
          </p:cNvPr>
          <p:cNvSpPr>
            <a:spLocks xmlns:a="http://schemas.openxmlformats.org/drawingml/2006/main" noGrp="1"/>
          </p:cNvSpPr>
          <p:nvPr/>
        </p:nvSpPr>
        <p:spPr>
          <a:xfrm xmlns:a="http://schemas.openxmlformats.org/drawingml/2006/main">
            <a:off x="6362700" y="15621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CONTROLLED DYNAMIC V3 CORPUS</a:t>
            </a:r>
          </a:p>
        </p:txBody>
      </p:sp>
      <p:sp>
        <p:nvSpPr>
          <p:cNvPr id="19" name="">
            <a:extLst xmlns:a="http://schemas.openxmlformats.org/drawingml/2006/main">
              <a:ext uri="{FF2B5EF4-FFF2-40B4-BE49-F238E27FC236}">
                <a16:creationId xmlns:a16="http://schemas.microsoft.com/office/drawing/2014/main" id="{1FD75BA4-3F70-4278-B7DE-C0F84604B277}"/>
              </a:ext>
            </a:extLst>
          </p:cNvPr>
          <p:cNvSpPr>
            <a:spLocks xmlns:a="http://schemas.openxmlformats.org/drawingml/2006/main" noGrp="1"/>
          </p:cNvSpPr>
          <p:nvPr/>
        </p:nvSpPr>
        <p:spPr>
          <a:xfrm xmlns:a="http://schemas.openxmlformats.org/drawingml/2006/main">
            <a:off x="6362700" y="1905000"/>
            <a:ext cx="485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11111"/>
                </a:solidFill>
                <a:latin typeface="Arial"/>
                <a:ea typeface="Arial"/>
                <a:cs typeface="Arial"/>
              </a:defRPr>
            </a:defPPr>
            <a:lvl1pPr>
              <a:defRPr sz="1950" b="1" i="0">
                <a:solidFill>
                  <a:srgbClr val="111111"/>
                </a:solidFill>
                <a:latin typeface="Arial"/>
                <a:ea typeface="Arial"/>
                <a:cs typeface="Arial"/>
              </a:defRPr>
            </a:lvl1pPr>
            <a:lvl2pPr>
              <a:defRPr sz="1950" b="1" i="0">
                <a:solidFill>
                  <a:srgbClr val="111111"/>
                </a:solidFill>
                <a:latin typeface="Arial"/>
                <a:ea typeface="Arial"/>
                <a:cs typeface="Arial"/>
              </a:defRPr>
            </a:lvl2pPr>
            <a:lvl3pPr>
              <a:defRPr sz="1950" b="1" i="0">
                <a:solidFill>
                  <a:srgbClr val="111111"/>
                </a:solidFill>
                <a:latin typeface="Arial"/>
                <a:ea typeface="Arial"/>
                <a:cs typeface="Arial"/>
              </a:defRPr>
            </a:lvl3pPr>
            <a:lvl4pPr>
              <a:defRPr sz="1950" b="1" i="0">
                <a:solidFill>
                  <a:srgbClr val="111111"/>
                </a:solidFill>
                <a:latin typeface="Arial"/>
                <a:ea typeface="Arial"/>
                <a:cs typeface="Arial"/>
              </a:defRPr>
            </a:lvl4pPr>
            <a:lvl5pPr>
              <a:defRPr sz="1950" b="1" i="0">
                <a:solidFill>
                  <a:srgbClr val="111111"/>
                </a:solidFill>
                <a:latin typeface="Arial"/>
                <a:ea typeface="Arial"/>
                <a:cs typeface="Arial"/>
              </a:defRPr>
            </a:lvl5pPr>
            <a:lvl6pPr>
              <a:defRPr sz="1950" b="1" i="0">
                <a:solidFill>
                  <a:srgbClr val="111111"/>
                </a:solidFill>
                <a:latin typeface="Arial"/>
                <a:ea typeface="Arial"/>
                <a:cs typeface="Arial"/>
              </a:defRPr>
            </a:lvl6pPr>
            <a:lvl7pPr>
              <a:defRPr sz="1950" b="1" i="0">
                <a:solidFill>
                  <a:srgbClr val="111111"/>
                </a:solidFill>
                <a:latin typeface="Arial"/>
                <a:ea typeface="Arial"/>
                <a:cs typeface="Arial"/>
              </a:defRPr>
            </a:lvl7pPr>
            <a:lvl8pPr>
              <a:defRPr sz="1950" b="1" i="0">
                <a:solidFill>
                  <a:srgbClr val="111111"/>
                </a:solidFill>
                <a:latin typeface="Arial"/>
                <a:ea typeface="Arial"/>
                <a:cs typeface="Arial"/>
              </a:defRPr>
            </a:lvl8pPr>
            <a:lvl9pPr>
              <a:defRPr sz="1950" b="1" i="0">
                <a:solidFill>
                  <a:srgbClr val="111111"/>
                </a:solidFill>
                <a:latin typeface="Arial"/>
                <a:ea typeface="Arial"/>
                <a:cs typeface="Arial"/>
              </a:defRPr>
            </a:lvl9pPr>
          </a:lstStyle>
          <a:p xmlns:a="http://schemas.openxmlformats.org/drawingml/2006/main">
            <a:pPr>
              <a:defRPr sz="1950" b="1" i="0">
                <a:solidFill>
                  <a:srgbClr val="111111"/>
                </a:solidFill>
                <a:latin typeface="Arial"/>
                <a:ea typeface="Arial"/>
                <a:cs typeface="Arial"/>
              </a:defRPr>
            </a:pPr>
            <a:r>
              <a:rPr sz="1950" b="1" i="0">
                <a:solidFill>
                  <a:srgbClr val="111111"/>
                </a:solidFill>
                <a:latin typeface="Arial"/>
                <a:ea typeface="Arial"/>
                <a:cs typeface="Arial"/>
              </a:rPr>
              <a:t>144 grouped development traces</a:t>
            </a:r>
          </a:p>
        </p:txBody>
      </p:sp>
      <p:sp>
        <p:nvSpPr>
          <p:cNvPr id="20" name="">
            <a:extLst xmlns:a="http://schemas.openxmlformats.org/drawingml/2006/main">
              <a:ext uri="{FF2B5EF4-FFF2-40B4-BE49-F238E27FC236}">
                <a16:creationId xmlns:a16="http://schemas.microsoft.com/office/drawing/2014/main" id="{3D9B3E57-212E-4CB2-988D-F9D3ECA88966}"/>
              </a:ext>
            </a:extLst>
          </p:cNvPr>
          <p:cNvSpPr>
            <a:spLocks xmlns:a="http://schemas.openxmlformats.org/drawingml/2006/main" noGrp="1"/>
          </p:cNvSpPr>
          <p:nvPr/>
        </p:nvSpPr>
        <p:spPr>
          <a:xfrm xmlns:a="http://schemas.openxmlformats.org/drawingml/2006/main">
            <a:off x="6362700" y="23241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555B63"/>
                </a:solidFill>
                <a:latin typeface="Arial"/>
                <a:ea typeface="Arial"/>
                <a:cs typeface="Arial"/>
              </a:defRPr>
            </a:defPPr>
            <a:lvl1pPr>
              <a:defRPr sz="1350" b="0" i="0">
                <a:solidFill>
                  <a:srgbClr val="555B63"/>
                </a:solidFill>
                <a:latin typeface="Arial"/>
                <a:ea typeface="Arial"/>
                <a:cs typeface="Arial"/>
              </a:defRPr>
            </a:lvl1pPr>
            <a:lvl2pPr>
              <a:defRPr sz="1350" b="0" i="0">
                <a:solidFill>
                  <a:srgbClr val="555B63"/>
                </a:solidFill>
                <a:latin typeface="Arial"/>
                <a:ea typeface="Arial"/>
                <a:cs typeface="Arial"/>
              </a:defRPr>
            </a:lvl2pPr>
            <a:lvl3pPr>
              <a:defRPr sz="1350" b="0" i="0">
                <a:solidFill>
                  <a:srgbClr val="555B63"/>
                </a:solidFill>
                <a:latin typeface="Arial"/>
                <a:ea typeface="Arial"/>
                <a:cs typeface="Arial"/>
              </a:defRPr>
            </a:lvl3pPr>
            <a:lvl4pPr>
              <a:defRPr sz="1350" b="0" i="0">
                <a:solidFill>
                  <a:srgbClr val="555B63"/>
                </a:solidFill>
                <a:latin typeface="Arial"/>
                <a:ea typeface="Arial"/>
                <a:cs typeface="Arial"/>
              </a:defRPr>
            </a:lvl4pPr>
            <a:lvl5pPr>
              <a:defRPr sz="1350" b="0" i="0">
                <a:solidFill>
                  <a:srgbClr val="555B63"/>
                </a:solidFill>
                <a:latin typeface="Arial"/>
                <a:ea typeface="Arial"/>
                <a:cs typeface="Arial"/>
              </a:defRPr>
            </a:lvl5pPr>
            <a:lvl6pPr>
              <a:defRPr sz="1350" b="0" i="0">
                <a:solidFill>
                  <a:srgbClr val="555B63"/>
                </a:solidFill>
                <a:latin typeface="Arial"/>
                <a:ea typeface="Arial"/>
                <a:cs typeface="Arial"/>
              </a:defRPr>
            </a:lvl6pPr>
            <a:lvl7pPr>
              <a:defRPr sz="1350" b="0" i="0">
                <a:solidFill>
                  <a:srgbClr val="555B63"/>
                </a:solidFill>
                <a:latin typeface="Arial"/>
                <a:ea typeface="Arial"/>
                <a:cs typeface="Arial"/>
              </a:defRPr>
            </a:lvl7pPr>
            <a:lvl8pPr>
              <a:defRPr sz="1350" b="0" i="0">
                <a:solidFill>
                  <a:srgbClr val="555B63"/>
                </a:solidFill>
                <a:latin typeface="Arial"/>
                <a:ea typeface="Arial"/>
                <a:cs typeface="Arial"/>
              </a:defRPr>
            </a:lvl8pPr>
            <a:lvl9pPr>
              <a:defRPr sz="1350" b="0" i="0">
                <a:solidFill>
                  <a:srgbClr val="555B63"/>
                </a:solidFill>
                <a:latin typeface="Arial"/>
                <a:ea typeface="Arial"/>
                <a:cs typeface="Arial"/>
              </a:defRPr>
            </a:lvl9pPr>
          </a:lstStyle>
          <a:p xmlns:a="http://schemas.openxmlformats.org/drawingml/2006/main">
            <a:pPr>
              <a:defRPr sz="1350" b="0" i="0">
                <a:solidFill>
                  <a:srgbClr val="555B63"/>
                </a:solidFill>
                <a:latin typeface="Arial"/>
                <a:ea typeface="Arial"/>
                <a:cs typeface="Arial"/>
              </a:defRPr>
            </a:pPr>
            <a:r>
              <a:rPr sz="1350" b="0" i="0">
                <a:solidFill>
                  <a:srgbClr val="555B63"/>
                </a:solidFill>
                <a:latin typeface="Arial"/>
                <a:ea typeface="Arial"/>
                <a:cs typeface="Arial"/>
              </a:rPr>
              <a:t>Generated by the project simulator across controlled workload families and changing phases.</a:t>
            </a:r>
          </a:p>
        </p:txBody>
      </p:sp>
      <p:sp>
        <p:nvSpPr>
          <p:cNvPr id="21" name="">
            <a:extLst xmlns:a="http://schemas.openxmlformats.org/drawingml/2006/main">
              <a:ext uri="{FF2B5EF4-FFF2-40B4-BE49-F238E27FC236}">
                <a16:creationId xmlns:a16="http://schemas.microsoft.com/office/drawing/2014/main" id="{6A3F72A4-6CC8-4133-8783-2E8CCA8545EE}"/>
              </a:ext>
            </a:extLst>
          </p:cNvPr>
          <p:cNvSpPr>
            <a:spLocks xmlns:a="http://schemas.openxmlformats.org/drawingml/2006/main" noGrp="1"/>
          </p:cNvSpPr>
          <p:nvPr/>
        </p:nvSpPr>
        <p:spPr>
          <a:xfrm xmlns:a="http://schemas.openxmlformats.org/drawingml/2006/main">
            <a:off x="6362700" y="30670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10,387</a:t>
            </a:r>
          </a:p>
        </p:txBody>
      </p:sp>
      <p:sp>
        <p:nvSpPr>
          <p:cNvPr id="22" name="">
            <a:extLst xmlns:a="http://schemas.openxmlformats.org/drawingml/2006/main">
              <a:ext uri="{FF2B5EF4-FFF2-40B4-BE49-F238E27FC236}">
                <a16:creationId xmlns:a16="http://schemas.microsoft.com/office/drawing/2014/main" id="{87814217-D53A-435B-8E96-D79E7CF7DFFA}"/>
              </a:ext>
            </a:extLst>
          </p:cNvPr>
          <p:cNvSpPr>
            <a:spLocks xmlns:a="http://schemas.openxmlformats.org/drawingml/2006/main" noGrp="1"/>
          </p:cNvSpPr>
          <p:nvPr/>
        </p:nvSpPr>
        <p:spPr>
          <a:xfrm xmlns:a="http://schemas.openxmlformats.org/drawingml/2006/main">
            <a:off x="6362700" y="33813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decision rows</a:t>
            </a:r>
          </a:p>
        </p:txBody>
      </p:sp>
      <p:sp>
        <p:nvSpPr>
          <p:cNvPr id="23" name="">
            <a:extLst xmlns:a="http://schemas.openxmlformats.org/drawingml/2006/main">
              <a:ext uri="{FF2B5EF4-FFF2-40B4-BE49-F238E27FC236}">
                <a16:creationId xmlns:a16="http://schemas.microsoft.com/office/drawing/2014/main" id="{FB1B9EB6-609A-4936-AC41-28871302454F}"/>
              </a:ext>
            </a:extLst>
          </p:cNvPr>
          <p:cNvSpPr>
            <a:spLocks xmlns:a="http://schemas.openxmlformats.org/drawingml/2006/main" noGrp="1"/>
          </p:cNvSpPr>
          <p:nvPr/>
        </p:nvSpPr>
        <p:spPr>
          <a:xfrm xmlns:a="http://schemas.openxmlformats.org/drawingml/2006/main">
            <a:off x="8096250" y="30670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100 / 22 / 22</a:t>
            </a:r>
          </a:p>
        </p:txBody>
      </p:sp>
      <p:sp>
        <p:nvSpPr>
          <p:cNvPr id="24" name="">
            <a:extLst xmlns:a="http://schemas.openxmlformats.org/drawingml/2006/main">
              <a:ext uri="{FF2B5EF4-FFF2-40B4-BE49-F238E27FC236}">
                <a16:creationId xmlns:a16="http://schemas.microsoft.com/office/drawing/2014/main" id="{7EF2C5EC-77C7-4A3F-9B95-D48A6E7B6FE3}"/>
              </a:ext>
            </a:extLst>
          </p:cNvPr>
          <p:cNvSpPr>
            <a:spLocks xmlns:a="http://schemas.openxmlformats.org/drawingml/2006/main" noGrp="1"/>
          </p:cNvSpPr>
          <p:nvPr/>
        </p:nvSpPr>
        <p:spPr>
          <a:xfrm xmlns:a="http://schemas.openxmlformats.org/drawingml/2006/main">
            <a:off x="8096250" y="33813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trace-group split</a:t>
            </a:r>
          </a:p>
        </p:txBody>
      </p:sp>
      <p:sp>
        <p:nvSpPr>
          <p:cNvPr id="25" name="">
            <a:extLst xmlns:a="http://schemas.openxmlformats.org/drawingml/2006/main">
              <a:ext uri="{FF2B5EF4-FFF2-40B4-BE49-F238E27FC236}">
                <a16:creationId xmlns:a16="http://schemas.microsoft.com/office/drawing/2014/main" id="{C11BC05E-7E70-45D0-8179-4AB3FD25F1C9}"/>
              </a:ext>
            </a:extLst>
          </p:cNvPr>
          <p:cNvSpPr>
            <a:spLocks xmlns:a="http://schemas.openxmlformats.org/drawingml/2006/main" noGrp="1"/>
          </p:cNvSpPr>
          <p:nvPr/>
        </p:nvSpPr>
        <p:spPr>
          <a:xfrm xmlns:a="http://schemas.openxmlformats.org/drawingml/2006/main">
            <a:off x="6362700" y="3857625"/>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60 separate validation workloads</a:t>
            </a:r>
          </a:p>
        </p:txBody>
      </p:sp>
      <p:sp>
        <p:nvSpPr>
          <p:cNvPr id="26" name="">
            <a:extLst xmlns:a="http://schemas.openxmlformats.org/drawingml/2006/main">
              <a:ext uri="{FF2B5EF4-FFF2-40B4-BE49-F238E27FC236}">
                <a16:creationId xmlns:a16="http://schemas.microsoft.com/office/drawing/2014/main" id="{94169D94-FD84-4DD5-BF00-9E78F1770611}"/>
              </a:ext>
            </a:extLst>
          </p:cNvPr>
          <p:cNvSpPr>
            <a:spLocks xmlns:a="http://schemas.openxmlformats.org/drawingml/2006/main" noGrp="1"/>
          </p:cNvSpPr>
          <p:nvPr/>
        </p:nvSpPr>
        <p:spPr>
          <a:xfrm xmlns:a="http://schemas.openxmlformats.org/drawingml/2006/main">
            <a:off x="6362700" y="4257675"/>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Used to compare model families and exercise changing-workload routing under controlled conditions.</a:t>
            </a:r>
          </a:p>
        </p:txBody>
      </p:sp>
      <p:sp>
        <p:nvSpPr>
          <p:cNvPr id="27" name="">
            <a:extLst xmlns:a="http://schemas.openxmlformats.org/drawingml/2006/main">
              <a:ext uri="{FF2B5EF4-FFF2-40B4-BE49-F238E27FC236}">
                <a16:creationId xmlns:a16="http://schemas.microsoft.com/office/drawing/2014/main" id="{5B200924-2BAB-4AA6-B222-2839C81DD982}"/>
              </a:ext>
            </a:extLst>
          </p:cNvPr>
          <p:cNvSpPr>
            <a:spLocks xmlns:a="http://schemas.openxmlformats.org/drawingml/2006/main" noGrp="1"/>
          </p:cNvSpPr>
          <p:nvPr/>
        </p:nvSpPr>
        <p:spPr>
          <a:xfrm xmlns:a="http://schemas.openxmlformats.org/drawingml/2006/main">
            <a:off x="3429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28" name="">
            <a:extLst xmlns:a="http://schemas.openxmlformats.org/drawingml/2006/main">
              <a:ext uri="{FF2B5EF4-FFF2-40B4-BE49-F238E27FC236}">
                <a16:creationId xmlns:a16="http://schemas.microsoft.com/office/drawing/2014/main" id="{F6BCC2F8-AC1C-4240-87B3-CE27EC543509}"/>
              </a:ext>
            </a:extLst>
          </p:cNvPr>
          <p:cNvSpPr>
            <a:spLocks xmlns:a="http://schemas.openxmlformats.org/drawingml/2006/main" noGrp="1"/>
          </p:cNvSpPr>
          <p:nvPr/>
        </p:nvSpPr>
        <p:spPr>
          <a:xfrm xmlns:a="http://schemas.openxmlformats.org/drawingml/2006/main">
            <a:off x="4286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Capture</a:t>
            </a:r>
          </a:p>
        </p:txBody>
      </p:sp>
      <p:sp>
        <p:nvSpPr>
          <p:cNvPr id="29" name="">
            <a:extLst xmlns:a="http://schemas.openxmlformats.org/drawingml/2006/main">
              <a:ext uri="{FF2B5EF4-FFF2-40B4-BE49-F238E27FC236}">
                <a16:creationId xmlns:a16="http://schemas.microsoft.com/office/drawing/2014/main" id="{EE964A99-B145-4C96-938B-2BCEAF2EBC86}"/>
              </a:ext>
            </a:extLst>
          </p:cNvPr>
          <p:cNvSpPr>
            <a:spLocks xmlns:a="http://schemas.openxmlformats.org/drawingml/2006/main" noGrp="1"/>
          </p:cNvSpPr>
          <p:nvPr/>
        </p:nvSpPr>
        <p:spPr>
          <a:xfrm xmlns:a="http://schemas.openxmlformats.org/drawingml/2006/main">
            <a:off x="4000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all CPUs</a:t>
            </a:r>
          </a:p>
        </p:txBody>
      </p:sp>
      <p:sp>
        <p:nvSpPr>
          <p:cNvPr id="30" name="">
            <a:extLst xmlns:a="http://schemas.openxmlformats.org/drawingml/2006/main">
              <a:ext uri="{FF2B5EF4-FFF2-40B4-BE49-F238E27FC236}">
                <a16:creationId xmlns:a16="http://schemas.microsoft.com/office/drawing/2014/main" id="{830D62D4-3F86-47E3-842F-4285E7B257B3}"/>
              </a:ext>
            </a:extLst>
          </p:cNvPr>
          <p:cNvSpPr>
            <a:spLocks xmlns:a="http://schemas.openxmlformats.org/drawingml/2006/main" noGrp="1"/>
          </p:cNvSpPr>
          <p:nvPr/>
        </p:nvSpPr>
        <p:spPr>
          <a:xfrm xmlns:a="http://schemas.openxmlformats.org/drawingml/2006/main">
            <a:off x="27051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31" name="">
            <a:extLst xmlns:a="http://schemas.openxmlformats.org/drawingml/2006/main">
              <a:ext uri="{FF2B5EF4-FFF2-40B4-BE49-F238E27FC236}">
                <a16:creationId xmlns:a16="http://schemas.microsoft.com/office/drawing/2014/main" id="{D5B831CB-8D12-4233-8826-342F2976BD12}"/>
              </a:ext>
            </a:extLst>
          </p:cNvPr>
          <p:cNvSpPr>
            <a:spLocks xmlns:a="http://schemas.openxmlformats.org/drawingml/2006/main" noGrp="1"/>
          </p:cNvSpPr>
          <p:nvPr/>
        </p:nvSpPr>
        <p:spPr>
          <a:xfrm xmlns:a="http://schemas.openxmlformats.org/drawingml/2006/main">
            <a:off x="27908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Clean</a:t>
            </a:r>
          </a:p>
        </p:txBody>
      </p:sp>
      <p:sp>
        <p:nvSpPr>
          <p:cNvPr id="32" name="">
            <a:extLst xmlns:a="http://schemas.openxmlformats.org/drawingml/2006/main">
              <a:ext uri="{FF2B5EF4-FFF2-40B4-BE49-F238E27FC236}">
                <a16:creationId xmlns:a16="http://schemas.microsoft.com/office/drawing/2014/main" id="{9D518BB8-A413-4B34-A987-185971922F94}"/>
              </a:ext>
            </a:extLst>
          </p:cNvPr>
          <p:cNvSpPr>
            <a:spLocks xmlns:a="http://schemas.openxmlformats.org/drawingml/2006/main" noGrp="1"/>
          </p:cNvSpPr>
          <p:nvPr/>
        </p:nvSpPr>
        <p:spPr>
          <a:xfrm xmlns:a="http://schemas.openxmlformats.org/drawingml/2006/main">
            <a:off x="27622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remove identity</a:t>
            </a:r>
          </a:p>
        </p:txBody>
      </p:sp>
      <p:sp>
        <p:nvSpPr>
          <p:cNvPr id="33" name="">
            <a:extLst xmlns:a="http://schemas.openxmlformats.org/drawingml/2006/main">
              <a:ext uri="{FF2B5EF4-FFF2-40B4-BE49-F238E27FC236}">
                <a16:creationId xmlns:a16="http://schemas.microsoft.com/office/drawing/2014/main" id="{C605782E-F7D1-4587-B4E2-03788DA00ED4}"/>
              </a:ext>
            </a:extLst>
          </p:cNvPr>
          <p:cNvSpPr>
            <a:spLocks xmlns:a="http://schemas.openxmlformats.org/drawingml/2006/main" noGrp="1"/>
          </p:cNvSpPr>
          <p:nvPr/>
        </p:nvSpPr>
        <p:spPr>
          <a:xfrm xmlns:a="http://schemas.openxmlformats.org/drawingml/2006/main">
            <a:off x="50673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34" name="">
            <a:extLst xmlns:a="http://schemas.openxmlformats.org/drawingml/2006/main">
              <a:ext uri="{FF2B5EF4-FFF2-40B4-BE49-F238E27FC236}">
                <a16:creationId xmlns:a16="http://schemas.microsoft.com/office/drawing/2014/main" id="{8B1C2B8E-C3D5-4058-9EAD-93FD872FC3D3}"/>
              </a:ext>
            </a:extLst>
          </p:cNvPr>
          <p:cNvSpPr>
            <a:spLocks xmlns:a="http://schemas.openxmlformats.org/drawingml/2006/main" noGrp="1"/>
          </p:cNvSpPr>
          <p:nvPr/>
        </p:nvSpPr>
        <p:spPr>
          <a:xfrm xmlns:a="http://schemas.openxmlformats.org/drawingml/2006/main">
            <a:off x="51530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Extract</a:t>
            </a:r>
          </a:p>
        </p:txBody>
      </p:sp>
      <p:sp>
        <p:nvSpPr>
          <p:cNvPr id="35" name="">
            <a:extLst xmlns:a="http://schemas.openxmlformats.org/drawingml/2006/main">
              <a:ext uri="{FF2B5EF4-FFF2-40B4-BE49-F238E27FC236}">
                <a16:creationId xmlns:a16="http://schemas.microsoft.com/office/drawing/2014/main" id="{00495DD9-5626-4127-8F5D-1573F7D62F65}"/>
              </a:ext>
            </a:extLst>
          </p:cNvPr>
          <p:cNvSpPr>
            <a:spLocks xmlns:a="http://schemas.openxmlformats.org/drawingml/2006/main" noGrp="1"/>
          </p:cNvSpPr>
          <p:nvPr/>
        </p:nvSpPr>
        <p:spPr>
          <a:xfrm xmlns:a="http://schemas.openxmlformats.org/drawingml/2006/main">
            <a:off x="51244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past events</a:t>
            </a:r>
          </a:p>
        </p:txBody>
      </p:sp>
      <p:sp>
        <p:nvSpPr>
          <p:cNvPr id="36" name="">
            <a:extLst xmlns:a="http://schemas.openxmlformats.org/drawingml/2006/main">
              <a:ext uri="{FF2B5EF4-FFF2-40B4-BE49-F238E27FC236}">
                <a16:creationId xmlns:a16="http://schemas.microsoft.com/office/drawing/2014/main" id="{D13A62AB-277D-4200-B3EA-7FD370CCD00F}"/>
              </a:ext>
            </a:extLst>
          </p:cNvPr>
          <p:cNvSpPr>
            <a:spLocks xmlns:a="http://schemas.openxmlformats.org/drawingml/2006/main" noGrp="1"/>
          </p:cNvSpPr>
          <p:nvPr/>
        </p:nvSpPr>
        <p:spPr>
          <a:xfrm xmlns:a="http://schemas.openxmlformats.org/drawingml/2006/main">
            <a:off x="74295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37" name="">
            <a:extLst xmlns:a="http://schemas.openxmlformats.org/drawingml/2006/main">
              <a:ext uri="{FF2B5EF4-FFF2-40B4-BE49-F238E27FC236}">
                <a16:creationId xmlns:a16="http://schemas.microsoft.com/office/drawing/2014/main" id="{C9385EC1-C744-4EEC-886E-B82ABEFF3E95}"/>
              </a:ext>
            </a:extLst>
          </p:cNvPr>
          <p:cNvSpPr>
            <a:spLocks xmlns:a="http://schemas.openxmlformats.org/drawingml/2006/main" noGrp="1"/>
          </p:cNvSpPr>
          <p:nvPr/>
        </p:nvSpPr>
        <p:spPr>
          <a:xfrm xmlns:a="http://schemas.openxmlformats.org/drawingml/2006/main">
            <a:off x="75152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Split</a:t>
            </a:r>
          </a:p>
        </p:txBody>
      </p:sp>
      <p:sp>
        <p:nvSpPr>
          <p:cNvPr id="38" name="">
            <a:extLst xmlns:a="http://schemas.openxmlformats.org/drawingml/2006/main">
              <a:ext uri="{FF2B5EF4-FFF2-40B4-BE49-F238E27FC236}">
                <a16:creationId xmlns:a16="http://schemas.microsoft.com/office/drawing/2014/main" id="{33CF4E83-660C-425D-B020-9F3EE20B89B8}"/>
              </a:ext>
            </a:extLst>
          </p:cNvPr>
          <p:cNvSpPr>
            <a:spLocks xmlns:a="http://schemas.openxmlformats.org/drawingml/2006/main" noGrp="1"/>
          </p:cNvSpPr>
          <p:nvPr/>
        </p:nvSpPr>
        <p:spPr>
          <a:xfrm xmlns:a="http://schemas.openxmlformats.org/drawingml/2006/main">
            <a:off x="74866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whole traces</a:t>
            </a:r>
          </a:p>
        </p:txBody>
      </p:sp>
      <p:sp>
        <p:nvSpPr>
          <p:cNvPr id="39" name="">
            <a:extLst xmlns:a="http://schemas.openxmlformats.org/drawingml/2006/main">
              <a:ext uri="{FF2B5EF4-FFF2-40B4-BE49-F238E27FC236}">
                <a16:creationId xmlns:a16="http://schemas.microsoft.com/office/drawing/2014/main" id="{367DB421-A8F9-4058-911F-669DBC04DC71}"/>
              </a:ext>
            </a:extLst>
          </p:cNvPr>
          <p:cNvSpPr>
            <a:spLocks xmlns:a="http://schemas.openxmlformats.org/drawingml/2006/main" noGrp="1"/>
          </p:cNvSpPr>
          <p:nvPr/>
        </p:nvSpPr>
        <p:spPr>
          <a:xfrm xmlns:a="http://schemas.openxmlformats.org/drawingml/2006/main">
            <a:off x="9791700" y="5314950"/>
            <a:ext cx="1028700" cy="590550"/>
          </a:xfrm>
          <a:prstGeom xmlns:a="http://schemas.openxmlformats.org/drawingml/2006/main" prst="rect">
            <a:avLst/>
          </a:prstGeom>
          <a:solidFill xmlns:a="http://schemas.openxmlformats.org/drawingml/2006/main">
            <a:srgbClr val="E8F0FA"/>
          </a:solidFill>
          <a:ln xmlns:a="http://schemas.openxmlformats.org/drawingml/2006/main" w="11430">
            <a:solidFill>
              <a:srgbClr val="1E5AA8"/>
            </a:solidFill>
            <a:prstDash val="solid"/>
          </a:ln>
        </p:spPr>
      </p:sp>
      <p:sp>
        <p:nvSpPr>
          <p:cNvPr id="40" name="">
            <a:extLst xmlns:a="http://schemas.openxmlformats.org/drawingml/2006/main">
              <a:ext uri="{FF2B5EF4-FFF2-40B4-BE49-F238E27FC236}">
                <a16:creationId xmlns:a16="http://schemas.microsoft.com/office/drawing/2014/main" id="{8AF8D79A-1895-4B94-B7BB-978B0DA51E2B}"/>
              </a:ext>
            </a:extLst>
          </p:cNvPr>
          <p:cNvSpPr>
            <a:spLocks xmlns:a="http://schemas.openxmlformats.org/drawingml/2006/main" noGrp="1"/>
          </p:cNvSpPr>
          <p:nvPr/>
        </p:nvSpPr>
        <p:spPr>
          <a:xfrm xmlns:a="http://schemas.openxmlformats.org/drawingml/2006/main">
            <a:off x="98774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E5AA8"/>
                </a:solidFill>
                <a:latin typeface="Arial"/>
                <a:ea typeface="Arial"/>
                <a:cs typeface="Arial"/>
              </a:defRPr>
            </a:defPPr>
            <a:lvl1pPr algn="ctr">
              <a:defRPr sz="1125" b="1" i="0">
                <a:solidFill>
                  <a:srgbClr val="1E5AA8"/>
                </a:solidFill>
                <a:latin typeface="Arial"/>
                <a:ea typeface="Arial"/>
                <a:cs typeface="Arial"/>
              </a:defRPr>
            </a:lvl1pPr>
            <a:lvl2pPr algn="ctr">
              <a:defRPr sz="1125" b="1" i="0">
                <a:solidFill>
                  <a:srgbClr val="1E5AA8"/>
                </a:solidFill>
                <a:latin typeface="Arial"/>
                <a:ea typeface="Arial"/>
                <a:cs typeface="Arial"/>
              </a:defRPr>
            </a:lvl2pPr>
            <a:lvl3pPr algn="ctr">
              <a:defRPr sz="1125" b="1" i="0">
                <a:solidFill>
                  <a:srgbClr val="1E5AA8"/>
                </a:solidFill>
                <a:latin typeface="Arial"/>
                <a:ea typeface="Arial"/>
                <a:cs typeface="Arial"/>
              </a:defRPr>
            </a:lvl3pPr>
            <a:lvl4pPr algn="ctr">
              <a:defRPr sz="1125" b="1" i="0">
                <a:solidFill>
                  <a:srgbClr val="1E5AA8"/>
                </a:solidFill>
                <a:latin typeface="Arial"/>
                <a:ea typeface="Arial"/>
                <a:cs typeface="Arial"/>
              </a:defRPr>
            </a:lvl4pPr>
            <a:lvl5pPr algn="ctr">
              <a:defRPr sz="1125" b="1" i="0">
                <a:solidFill>
                  <a:srgbClr val="1E5AA8"/>
                </a:solidFill>
                <a:latin typeface="Arial"/>
                <a:ea typeface="Arial"/>
                <a:cs typeface="Arial"/>
              </a:defRPr>
            </a:lvl5pPr>
            <a:lvl6pPr algn="ctr">
              <a:defRPr sz="1125" b="1" i="0">
                <a:solidFill>
                  <a:srgbClr val="1E5AA8"/>
                </a:solidFill>
                <a:latin typeface="Arial"/>
                <a:ea typeface="Arial"/>
                <a:cs typeface="Arial"/>
              </a:defRPr>
            </a:lvl6pPr>
            <a:lvl7pPr algn="ctr">
              <a:defRPr sz="1125" b="1" i="0">
                <a:solidFill>
                  <a:srgbClr val="1E5AA8"/>
                </a:solidFill>
                <a:latin typeface="Arial"/>
                <a:ea typeface="Arial"/>
                <a:cs typeface="Arial"/>
              </a:defRPr>
            </a:lvl7pPr>
            <a:lvl8pPr algn="ctr">
              <a:defRPr sz="1125" b="1" i="0">
                <a:solidFill>
                  <a:srgbClr val="1E5AA8"/>
                </a:solidFill>
                <a:latin typeface="Arial"/>
                <a:ea typeface="Arial"/>
                <a:cs typeface="Arial"/>
              </a:defRPr>
            </a:lvl8pPr>
            <a:lvl9pPr algn="ctr">
              <a:defRPr sz="1125" b="1" i="0">
                <a:solidFill>
                  <a:srgbClr val="1E5AA8"/>
                </a:solidFill>
                <a:latin typeface="Arial"/>
                <a:ea typeface="Arial"/>
                <a:cs typeface="Arial"/>
              </a:defRPr>
            </a:lvl9pPr>
          </a:lstStyle>
          <a:p xmlns:a="http://schemas.openxmlformats.org/drawingml/2006/main">
            <a:pPr algn="ctr">
              <a:defRPr sz="1125" b="1" i="0">
                <a:solidFill>
                  <a:srgbClr val="1E5AA8"/>
                </a:solidFill>
                <a:latin typeface="Arial"/>
                <a:ea typeface="Arial"/>
                <a:cs typeface="Arial"/>
              </a:defRPr>
            </a:pPr>
            <a:r>
              <a:rPr sz="1125" b="1" i="0">
                <a:solidFill>
                  <a:srgbClr val="1E5AA8"/>
                </a:solidFill>
                <a:latin typeface="Arial"/>
                <a:ea typeface="Arial"/>
                <a:cs typeface="Arial"/>
              </a:rPr>
              <a:t>Evaluate</a:t>
            </a:r>
          </a:p>
        </p:txBody>
      </p:sp>
      <p:sp>
        <p:nvSpPr>
          <p:cNvPr id="41" name="">
            <a:extLst xmlns:a="http://schemas.openxmlformats.org/drawingml/2006/main">
              <a:ext uri="{FF2B5EF4-FFF2-40B4-BE49-F238E27FC236}">
                <a16:creationId xmlns:a16="http://schemas.microsoft.com/office/drawing/2014/main" id="{D1CCDD36-D07F-4108-8D40-6F7C7E94570E}"/>
              </a:ext>
            </a:extLst>
          </p:cNvPr>
          <p:cNvSpPr>
            <a:spLocks xmlns:a="http://schemas.openxmlformats.org/drawingml/2006/main" noGrp="1"/>
          </p:cNvSpPr>
          <p:nvPr/>
        </p:nvSpPr>
        <p:spPr>
          <a:xfrm xmlns:a="http://schemas.openxmlformats.org/drawingml/2006/main">
            <a:off x="98488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locked groups</a:t>
            </a:r>
          </a:p>
        </p:txBody>
      </p:sp>
    </p:spTree>
    <p:extLst>
      <p:ext uri="{BB962C8B-B14F-4D97-AF65-F5344CB8AC3E}">
        <p14:creationId xmlns:p14="http://schemas.microsoft.com/office/powerpoint/2010/main" val="1908317339"/>
      </p:ext>
    </p:extLst>
  </p:cSld>
</p:sld>
</file>

<file path=ppt/slides/slide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6190AD8-D295-4C2F-8C79-CD928DD1F9AC}"/>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CF9D7036-5845-424E-90D5-7EF7F0E03300}"/>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Observed-only feature extraction</a:t>
            </a:r>
          </a:p>
        </p:txBody>
      </p:sp>
      <p:sp>
        <p:nvSpPr>
          <p:cNvPr id="3" name="">
            <a:extLst xmlns:a="http://schemas.openxmlformats.org/drawingml/2006/main">
              <a:ext uri="{FF2B5EF4-FFF2-40B4-BE49-F238E27FC236}">
                <a16:creationId xmlns:a16="http://schemas.microsoft.com/office/drawing/2014/main" id="{8A426EAE-178A-4069-8CED-247F2611F30B}"/>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75CF36DD-715C-48F3-9354-50DD0660CBF4}"/>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FDD147BD-A859-44C1-AC92-D737CA0247B9}"/>
              </a:ext>
            </a:extLst>
          </p:cNvPr>
          <p:cNvSpPr>
            <a:spLocks xmlns:a="http://schemas.openxmlformats.org/drawingml/2006/main" noGrp="1"/>
          </p:cNvSpPr>
          <p:nvPr/>
        </p:nvSpPr>
        <p:spPr>
          <a:xfrm xmlns:a="http://schemas.openxmlformats.org/drawingml/2006/main">
            <a:off x="609600" y="1333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i="0">
                <a:solidFill>
                  <a:srgbClr val="1E5AA8"/>
                </a:solidFill>
                <a:latin typeface="Arial"/>
                <a:ea typeface="Arial"/>
                <a:cs typeface="Arial"/>
              </a:defRPr>
            </a:defPPr>
            <a:lvl1pPr>
              <a:defRPr sz="1050" b="1" i="0">
                <a:solidFill>
                  <a:srgbClr val="1E5AA8"/>
                </a:solidFill>
                <a:latin typeface="Arial"/>
                <a:ea typeface="Arial"/>
                <a:cs typeface="Arial"/>
              </a:defRPr>
            </a:lvl1pPr>
            <a:lvl2pPr>
              <a:defRPr sz="1050" b="1" i="0">
                <a:solidFill>
                  <a:srgbClr val="1E5AA8"/>
                </a:solidFill>
                <a:latin typeface="Arial"/>
                <a:ea typeface="Arial"/>
                <a:cs typeface="Arial"/>
              </a:defRPr>
            </a:lvl2pPr>
            <a:lvl3pPr>
              <a:defRPr sz="1050" b="1" i="0">
                <a:solidFill>
                  <a:srgbClr val="1E5AA8"/>
                </a:solidFill>
                <a:latin typeface="Arial"/>
                <a:ea typeface="Arial"/>
                <a:cs typeface="Arial"/>
              </a:defRPr>
            </a:lvl3pPr>
            <a:lvl4pPr>
              <a:defRPr sz="1050" b="1" i="0">
                <a:solidFill>
                  <a:srgbClr val="1E5AA8"/>
                </a:solidFill>
                <a:latin typeface="Arial"/>
                <a:ea typeface="Arial"/>
                <a:cs typeface="Arial"/>
              </a:defRPr>
            </a:lvl4pPr>
            <a:lvl5pPr>
              <a:defRPr sz="1050" b="1" i="0">
                <a:solidFill>
                  <a:srgbClr val="1E5AA8"/>
                </a:solidFill>
                <a:latin typeface="Arial"/>
                <a:ea typeface="Arial"/>
                <a:cs typeface="Arial"/>
              </a:defRPr>
            </a:lvl5pPr>
            <a:lvl6pPr>
              <a:defRPr sz="1050" b="1" i="0">
                <a:solidFill>
                  <a:srgbClr val="1E5AA8"/>
                </a:solidFill>
                <a:latin typeface="Arial"/>
                <a:ea typeface="Arial"/>
                <a:cs typeface="Arial"/>
              </a:defRPr>
            </a:lvl6pPr>
            <a:lvl7pPr>
              <a:defRPr sz="1050" b="1" i="0">
                <a:solidFill>
                  <a:srgbClr val="1E5AA8"/>
                </a:solidFill>
                <a:latin typeface="Arial"/>
                <a:ea typeface="Arial"/>
                <a:cs typeface="Arial"/>
              </a:defRPr>
            </a:lvl7pPr>
            <a:lvl8pPr>
              <a:defRPr sz="1050" b="1" i="0">
                <a:solidFill>
                  <a:srgbClr val="1E5AA8"/>
                </a:solidFill>
                <a:latin typeface="Arial"/>
                <a:ea typeface="Arial"/>
                <a:cs typeface="Arial"/>
              </a:defRPr>
            </a:lvl8pPr>
            <a:lvl9pPr>
              <a:defRPr sz="1050" b="1" i="0">
                <a:solidFill>
                  <a:srgbClr val="1E5AA8"/>
                </a:solidFill>
                <a:latin typeface="Arial"/>
                <a:ea typeface="Arial"/>
                <a:cs typeface="Arial"/>
              </a:defRPr>
            </a:lvl9pPr>
          </a:lstStyle>
          <a:p xmlns:a="http://schemas.openxmlformats.org/drawingml/2006/main">
            <a:pPr>
              <a:defRPr sz="1050" b="1" i="0">
                <a:solidFill>
                  <a:srgbClr val="1E5AA8"/>
                </a:solidFill>
                <a:latin typeface="Arial"/>
                <a:ea typeface="Arial"/>
                <a:cs typeface="Arial"/>
              </a:defRPr>
            </a:pPr>
            <a:r>
              <a:rPr sz="1050" b="1" i="0">
                <a:solidFill>
                  <a:srgbClr val="1E5AA8"/>
                </a:solidFill>
                <a:latin typeface="Arial"/>
                <a:ea typeface="Arial"/>
                <a:cs typeface="Arial"/>
              </a:rPr>
              <a:t>Linux observation window</a:t>
            </a:r>
          </a:p>
        </p:txBody>
      </p:sp>
      <p:sp>
        <p:nvSpPr>
          <p:cNvPr id="6" name="">
            <a:extLst xmlns:a="http://schemas.openxmlformats.org/drawingml/2006/main">
              <a:ext uri="{FF2B5EF4-FFF2-40B4-BE49-F238E27FC236}">
                <a16:creationId xmlns:a16="http://schemas.microsoft.com/office/drawing/2014/main" id="{8B99A768-7775-4BC5-91AD-4B3DC22A961B}"/>
              </a:ext>
            </a:extLst>
          </p:cNvPr>
          <p:cNvSpPr>
            <a:spLocks xmlns:a="http://schemas.openxmlformats.org/drawingml/2006/main" noGrp="1"/>
          </p:cNvSpPr>
          <p:nvPr/>
        </p:nvSpPr>
        <p:spPr>
          <a:xfrm xmlns:a="http://schemas.openxmlformats.org/drawingml/2006/main">
            <a:off x="609600" y="15811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i="0">
                <a:solidFill>
                  <a:srgbClr val="111111"/>
                </a:solidFill>
                <a:latin typeface="Arial"/>
                <a:ea typeface="Arial"/>
                <a:cs typeface="Arial"/>
              </a:defRPr>
            </a:defPPr>
            <a:lvl1pPr>
              <a:defRPr sz="2325" b="1" i="0">
                <a:solidFill>
                  <a:srgbClr val="111111"/>
                </a:solidFill>
                <a:latin typeface="Arial"/>
                <a:ea typeface="Arial"/>
                <a:cs typeface="Arial"/>
              </a:defRPr>
            </a:lvl1pPr>
            <a:lvl2pPr>
              <a:defRPr sz="2325" b="1" i="0">
                <a:solidFill>
                  <a:srgbClr val="111111"/>
                </a:solidFill>
                <a:latin typeface="Arial"/>
                <a:ea typeface="Arial"/>
                <a:cs typeface="Arial"/>
              </a:defRPr>
            </a:lvl2pPr>
            <a:lvl3pPr>
              <a:defRPr sz="2325" b="1" i="0">
                <a:solidFill>
                  <a:srgbClr val="111111"/>
                </a:solidFill>
                <a:latin typeface="Arial"/>
                <a:ea typeface="Arial"/>
                <a:cs typeface="Arial"/>
              </a:defRPr>
            </a:lvl3pPr>
            <a:lvl4pPr>
              <a:defRPr sz="2325" b="1" i="0">
                <a:solidFill>
                  <a:srgbClr val="111111"/>
                </a:solidFill>
                <a:latin typeface="Arial"/>
                <a:ea typeface="Arial"/>
                <a:cs typeface="Arial"/>
              </a:defRPr>
            </a:lvl4pPr>
            <a:lvl5pPr>
              <a:defRPr sz="2325" b="1" i="0">
                <a:solidFill>
                  <a:srgbClr val="111111"/>
                </a:solidFill>
                <a:latin typeface="Arial"/>
                <a:ea typeface="Arial"/>
                <a:cs typeface="Arial"/>
              </a:defRPr>
            </a:lvl5pPr>
            <a:lvl6pPr>
              <a:defRPr sz="2325" b="1" i="0">
                <a:solidFill>
                  <a:srgbClr val="111111"/>
                </a:solidFill>
                <a:latin typeface="Arial"/>
                <a:ea typeface="Arial"/>
                <a:cs typeface="Arial"/>
              </a:defRPr>
            </a:lvl6pPr>
            <a:lvl7pPr>
              <a:defRPr sz="2325" b="1" i="0">
                <a:solidFill>
                  <a:srgbClr val="111111"/>
                </a:solidFill>
                <a:latin typeface="Arial"/>
                <a:ea typeface="Arial"/>
                <a:cs typeface="Arial"/>
              </a:defRPr>
            </a:lvl7pPr>
            <a:lvl8pPr>
              <a:defRPr sz="2325" b="1" i="0">
                <a:solidFill>
                  <a:srgbClr val="111111"/>
                </a:solidFill>
                <a:latin typeface="Arial"/>
                <a:ea typeface="Arial"/>
                <a:cs typeface="Arial"/>
              </a:defRPr>
            </a:lvl8pPr>
            <a:lvl9pPr>
              <a:defRPr sz="2325" b="1" i="0">
                <a:solidFill>
                  <a:srgbClr val="111111"/>
                </a:solidFill>
                <a:latin typeface="Arial"/>
                <a:ea typeface="Arial"/>
                <a:cs typeface="Arial"/>
              </a:defRPr>
            </a:lvl9pPr>
          </a:lstStyle>
          <a:p xmlns:a="http://schemas.openxmlformats.org/drawingml/2006/main">
            <a:pPr>
              <a:defRPr sz="2325" b="1" i="0">
                <a:solidFill>
                  <a:srgbClr val="111111"/>
                </a:solidFill>
                <a:latin typeface="Arial"/>
                <a:ea typeface="Arial"/>
                <a:cs typeface="Arial"/>
              </a:defRPr>
            </a:pPr>
            <a:r>
              <a:rPr sz="2325" b="1" i="0">
                <a:solidFill>
                  <a:srgbClr val="111111"/>
                </a:solidFill>
                <a:latin typeface="Arial"/>
                <a:ea typeface="Arial"/>
                <a:cs typeface="Arial"/>
              </a:rPr>
              <a:t>2 seconds</a:t>
            </a:r>
          </a:p>
        </p:txBody>
      </p:sp>
      <p:sp>
        <p:nvSpPr>
          <p:cNvPr id="7" name="">
            <a:extLst xmlns:a="http://schemas.openxmlformats.org/drawingml/2006/main">
              <a:ext uri="{FF2B5EF4-FFF2-40B4-BE49-F238E27FC236}">
                <a16:creationId xmlns:a16="http://schemas.microsoft.com/office/drawing/2014/main" id="{BBF46DCE-BA39-4400-B9EB-6E083C06C935}"/>
              </a:ext>
            </a:extLst>
          </p:cNvPr>
          <p:cNvSpPr>
            <a:spLocks xmlns:a="http://schemas.openxmlformats.org/drawingml/2006/main" noGrp="1"/>
          </p:cNvSpPr>
          <p:nvPr/>
        </p:nvSpPr>
        <p:spPr>
          <a:xfrm xmlns:a="http://schemas.openxmlformats.org/drawingml/2006/main">
            <a:off x="2857500" y="13335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i="0">
                <a:solidFill>
                  <a:srgbClr val="1E5AA8"/>
                </a:solidFill>
                <a:latin typeface="Arial"/>
                <a:ea typeface="Arial"/>
                <a:cs typeface="Arial"/>
              </a:defRPr>
            </a:defPPr>
            <a:lvl1pPr>
              <a:defRPr sz="1050" b="1" i="0">
                <a:solidFill>
                  <a:srgbClr val="1E5AA8"/>
                </a:solidFill>
                <a:latin typeface="Arial"/>
                <a:ea typeface="Arial"/>
                <a:cs typeface="Arial"/>
              </a:defRPr>
            </a:lvl1pPr>
            <a:lvl2pPr>
              <a:defRPr sz="1050" b="1" i="0">
                <a:solidFill>
                  <a:srgbClr val="1E5AA8"/>
                </a:solidFill>
                <a:latin typeface="Arial"/>
                <a:ea typeface="Arial"/>
                <a:cs typeface="Arial"/>
              </a:defRPr>
            </a:lvl2pPr>
            <a:lvl3pPr>
              <a:defRPr sz="1050" b="1" i="0">
                <a:solidFill>
                  <a:srgbClr val="1E5AA8"/>
                </a:solidFill>
                <a:latin typeface="Arial"/>
                <a:ea typeface="Arial"/>
                <a:cs typeface="Arial"/>
              </a:defRPr>
            </a:lvl3pPr>
            <a:lvl4pPr>
              <a:defRPr sz="1050" b="1" i="0">
                <a:solidFill>
                  <a:srgbClr val="1E5AA8"/>
                </a:solidFill>
                <a:latin typeface="Arial"/>
                <a:ea typeface="Arial"/>
                <a:cs typeface="Arial"/>
              </a:defRPr>
            </a:lvl4pPr>
            <a:lvl5pPr>
              <a:defRPr sz="1050" b="1" i="0">
                <a:solidFill>
                  <a:srgbClr val="1E5AA8"/>
                </a:solidFill>
                <a:latin typeface="Arial"/>
                <a:ea typeface="Arial"/>
                <a:cs typeface="Arial"/>
              </a:defRPr>
            </a:lvl5pPr>
            <a:lvl6pPr>
              <a:defRPr sz="1050" b="1" i="0">
                <a:solidFill>
                  <a:srgbClr val="1E5AA8"/>
                </a:solidFill>
                <a:latin typeface="Arial"/>
                <a:ea typeface="Arial"/>
                <a:cs typeface="Arial"/>
              </a:defRPr>
            </a:lvl6pPr>
            <a:lvl7pPr>
              <a:defRPr sz="1050" b="1" i="0">
                <a:solidFill>
                  <a:srgbClr val="1E5AA8"/>
                </a:solidFill>
                <a:latin typeface="Arial"/>
                <a:ea typeface="Arial"/>
                <a:cs typeface="Arial"/>
              </a:defRPr>
            </a:lvl7pPr>
            <a:lvl8pPr>
              <a:defRPr sz="1050" b="1" i="0">
                <a:solidFill>
                  <a:srgbClr val="1E5AA8"/>
                </a:solidFill>
                <a:latin typeface="Arial"/>
                <a:ea typeface="Arial"/>
                <a:cs typeface="Arial"/>
              </a:defRPr>
            </a:lvl8pPr>
            <a:lvl9pPr>
              <a:defRPr sz="1050" b="1" i="0">
                <a:solidFill>
                  <a:srgbClr val="1E5AA8"/>
                </a:solidFill>
                <a:latin typeface="Arial"/>
                <a:ea typeface="Arial"/>
                <a:cs typeface="Arial"/>
              </a:defRPr>
            </a:lvl9pPr>
          </a:lstStyle>
          <a:p xmlns:a="http://schemas.openxmlformats.org/drawingml/2006/main">
            <a:pPr>
              <a:defRPr sz="1050" b="1" i="0">
                <a:solidFill>
                  <a:srgbClr val="1E5AA8"/>
                </a:solidFill>
                <a:latin typeface="Arial"/>
                <a:ea typeface="Arial"/>
                <a:cs typeface="Arial"/>
              </a:defRPr>
            </a:pPr>
            <a:r>
              <a:rPr sz="1050" b="1" i="0">
                <a:solidFill>
                  <a:srgbClr val="1E5AA8"/>
                </a:solidFill>
                <a:latin typeface="Arial"/>
                <a:ea typeface="Arial"/>
                <a:cs typeface="Arial"/>
              </a:rPr>
              <a:t>Decision interval</a:t>
            </a:r>
          </a:p>
        </p:txBody>
      </p:sp>
      <p:sp>
        <p:nvSpPr>
          <p:cNvPr id="8" name="">
            <a:extLst xmlns:a="http://schemas.openxmlformats.org/drawingml/2006/main">
              <a:ext uri="{FF2B5EF4-FFF2-40B4-BE49-F238E27FC236}">
                <a16:creationId xmlns:a16="http://schemas.microsoft.com/office/drawing/2014/main" id="{5E1EEDE6-802A-4E7C-ADE7-970D17D42507}"/>
              </a:ext>
            </a:extLst>
          </p:cNvPr>
          <p:cNvSpPr>
            <a:spLocks xmlns:a="http://schemas.openxmlformats.org/drawingml/2006/main" noGrp="1"/>
          </p:cNvSpPr>
          <p:nvPr/>
        </p:nvSpPr>
        <p:spPr>
          <a:xfrm xmlns:a="http://schemas.openxmlformats.org/drawingml/2006/main">
            <a:off x="2857500" y="15811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i="0">
                <a:solidFill>
                  <a:srgbClr val="111111"/>
                </a:solidFill>
                <a:latin typeface="Arial"/>
                <a:ea typeface="Arial"/>
                <a:cs typeface="Arial"/>
              </a:defRPr>
            </a:defPPr>
            <a:lvl1pPr>
              <a:defRPr sz="2325" b="1" i="0">
                <a:solidFill>
                  <a:srgbClr val="111111"/>
                </a:solidFill>
                <a:latin typeface="Arial"/>
                <a:ea typeface="Arial"/>
                <a:cs typeface="Arial"/>
              </a:defRPr>
            </a:lvl1pPr>
            <a:lvl2pPr>
              <a:defRPr sz="2325" b="1" i="0">
                <a:solidFill>
                  <a:srgbClr val="111111"/>
                </a:solidFill>
                <a:latin typeface="Arial"/>
                <a:ea typeface="Arial"/>
                <a:cs typeface="Arial"/>
              </a:defRPr>
            </a:lvl2pPr>
            <a:lvl3pPr>
              <a:defRPr sz="2325" b="1" i="0">
                <a:solidFill>
                  <a:srgbClr val="111111"/>
                </a:solidFill>
                <a:latin typeface="Arial"/>
                <a:ea typeface="Arial"/>
                <a:cs typeface="Arial"/>
              </a:defRPr>
            </a:lvl3pPr>
            <a:lvl4pPr>
              <a:defRPr sz="2325" b="1" i="0">
                <a:solidFill>
                  <a:srgbClr val="111111"/>
                </a:solidFill>
                <a:latin typeface="Arial"/>
                <a:ea typeface="Arial"/>
                <a:cs typeface="Arial"/>
              </a:defRPr>
            </a:lvl4pPr>
            <a:lvl5pPr>
              <a:defRPr sz="2325" b="1" i="0">
                <a:solidFill>
                  <a:srgbClr val="111111"/>
                </a:solidFill>
                <a:latin typeface="Arial"/>
                <a:ea typeface="Arial"/>
                <a:cs typeface="Arial"/>
              </a:defRPr>
            </a:lvl5pPr>
            <a:lvl6pPr>
              <a:defRPr sz="2325" b="1" i="0">
                <a:solidFill>
                  <a:srgbClr val="111111"/>
                </a:solidFill>
                <a:latin typeface="Arial"/>
                <a:ea typeface="Arial"/>
                <a:cs typeface="Arial"/>
              </a:defRPr>
            </a:lvl6pPr>
            <a:lvl7pPr>
              <a:defRPr sz="2325" b="1" i="0">
                <a:solidFill>
                  <a:srgbClr val="111111"/>
                </a:solidFill>
                <a:latin typeface="Arial"/>
                <a:ea typeface="Arial"/>
                <a:cs typeface="Arial"/>
              </a:defRPr>
            </a:lvl7pPr>
            <a:lvl8pPr>
              <a:defRPr sz="2325" b="1" i="0">
                <a:solidFill>
                  <a:srgbClr val="111111"/>
                </a:solidFill>
                <a:latin typeface="Arial"/>
                <a:ea typeface="Arial"/>
                <a:cs typeface="Arial"/>
              </a:defRPr>
            </a:lvl8pPr>
            <a:lvl9pPr>
              <a:defRPr sz="2325" b="1" i="0">
                <a:solidFill>
                  <a:srgbClr val="111111"/>
                </a:solidFill>
                <a:latin typeface="Arial"/>
                <a:ea typeface="Arial"/>
                <a:cs typeface="Arial"/>
              </a:defRPr>
            </a:lvl9pPr>
          </a:lstStyle>
          <a:p xmlns:a="http://schemas.openxmlformats.org/drawingml/2006/main">
            <a:pPr>
              <a:defRPr sz="2325" b="1" i="0">
                <a:solidFill>
                  <a:srgbClr val="111111"/>
                </a:solidFill>
                <a:latin typeface="Arial"/>
                <a:ea typeface="Arial"/>
                <a:cs typeface="Arial"/>
              </a:defRPr>
            </a:pPr>
            <a:r>
              <a:rPr sz="2325" b="1" i="0">
                <a:solidFill>
                  <a:srgbClr val="111111"/>
                </a:solidFill>
                <a:latin typeface="Arial"/>
                <a:ea typeface="Arial"/>
                <a:cs typeface="Arial"/>
              </a:rPr>
              <a:t>500 ms</a:t>
            </a:r>
          </a:p>
        </p:txBody>
      </p:sp>
      <p:sp>
        <p:nvSpPr>
          <p:cNvPr id="9" name="">
            <a:extLst xmlns:a="http://schemas.openxmlformats.org/drawingml/2006/main">
              <a:ext uri="{FF2B5EF4-FFF2-40B4-BE49-F238E27FC236}">
                <a16:creationId xmlns:a16="http://schemas.microsoft.com/office/drawing/2014/main" id="{6CBE064D-470C-45C2-917B-C2A8B9D4E9B1}"/>
              </a:ext>
            </a:extLst>
          </p:cNvPr>
          <p:cNvSpPr>
            <a:spLocks xmlns:a="http://schemas.openxmlformats.org/drawingml/2006/main" noGrp="1"/>
          </p:cNvSpPr>
          <p:nvPr/>
        </p:nvSpPr>
        <p:spPr>
          <a:xfrm xmlns:a="http://schemas.openxmlformats.org/drawingml/2006/main">
            <a:off x="609600" y="2114550"/>
            <a:ext cx="4762500" cy="0"/>
          </a:xfrm>
          <a:prstGeom xmlns:a="http://schemas.openxmlformats.org/drawingml/2006/main" prst="line">
            <a:avLst/>
          </a:prstGeom>
          <a:ln xmlns:a="http://schemas.openxmlformats.org/drawingml/2006/main" w="9525">
            <a:solidFill>
              <a:srgbClr val="D6DADE"/>
            </a:solidFill>
            <a:prstDash val="solid"/>
          </a:ln>
        </p:spPr>
      </p:sp>
      <p:sp>
        <p:nvSpPr>
          <p:cNvPr id="10" name="">
            <a:extLst xmlns:a="http://schemas.openxmlformats.org/drawingml/2006/main">
              <a:ext uri="{FF2B5EF4-FFF2-40B4-BE49-F238E27FC236}">
                <a16:creationId xmlns:a16="http://schemas.microsoft.com/office/drawing/2014/main" id="{322DBAA7-643C-4A09-A3BD-4D4BB7395B68}"/>
              </a:ext>
            </a:extLst>
          </p:cNvPr>
          <p:cNvSpPr>
            <a:spLocks xmlns:a="http://schemas.openxmlformats.org/drawingml/2006/main" noGrp="1"/>
          </p:cNvSpPr>
          <p:nvPr/>
        </p:nvSpPr>
        <p:spPr>
          <a:xfrm xmlns:a="http://schemas.openxmlformats.org/drawingml/2006/main">
            <a:off x="609600" y="2343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QUEUE STATE</a:t>
            </a:r>
          </a:p>
        </p:txBody>
      </p:sp>
      <p:sp>
        <p:nvSpPr>
          <p:cNvPr id="11" name="">
            <a:extLst xmlns:a="http://schemas.openxmlformats.org/drawingml/2006/main">
              <a:ext uri="{FF2B5EF4-FFF2-40B4-BE49-F238E27FC236}">
                <a16:creationId xmlns:a16="http://schemas.microsoft.com/office/drawing/2014/main" id="{FA7908B0-2FFB-4196-878F-B3D80C36514B}"/>
              </a:ext>
            </a:extLst>
          </p:cNvPr>
          <p:cNvSpPr>
            <a:spLocks xmlns:a="http://schemas.openxmlformats.org/drawingml/2006/main" noGrp="1"/>
          </p:cNvSpPr>
          <p:nvPr/>
        </p:nvSpPr>
        <p:spPr>
          <a:xfrm xmlns:a="http://schemas.openxmlformats.org/drawingml/2006/main">
            <a:off x="609600" y="26289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arrivals_seen</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ready_count</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blocked_count</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running_count</a:t>
            </a:r>
          </a:p>
        </p:txBody>
      </p:sp>
      <p:sp>
        <p:nvSpPr>
          <p:cNvPr id="12" name="">
            <a:extLst xmlns:a="http://schemas.openxmlformats.org/drawingml/2006/main">
              <a:ext uri="{FF2B5EF4-FFF2-40B4-BE49-F238E27FC236}">
                <a16:creationId xmlns:a16="http://schemas.microsoft.com/office/drawing/2014/main" id="{7659E7A8-FEC9-43B4-B212-D1E22533494D}"/>
              </a:ext>
            </a:extLst>
          </p:cNvPr>
          <p:cNvSpPr>
            <a:spLocks xmlns:a="http://schemas.openxmlformats.org/drawingml/2006/main" noGrp="1"/>
          </p:cNvSpPr>
          <p:nvPr/>
        </p:nvSpPr>
        <p:spPr>
          <a:xfrm xmlns:a="http://schemas.openxmlformats.org/drawingml/2006/main">
            <a:off x="3390900" y="2343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DELAY AND SERVICE</a:t>
            </a:r>
          </a:p>
        </p:txBody>
      </p:sp>
      <p:sp>
        <p:nvSpPr>
          <p:cNvPr id="13" name="">
            <a:extLst xmlns:a="http://schemas.openxmlformats.org/drawingml/2006/main">
              <a:ext uri="{FF2B5EF4-FFF2-40B4-BE49-F238E27FC236}">
                <a16:creationId xmlns:a16="http://schemas.microsoft.com/office/drawing/2014/main" id="{606DEAEE-8842-4652-853B-919C846D3B7B}"/>
              </a:ext>
            </a:extLst>
          </p:cNvPr>
          <p:cNvSpPr>
            <a:spLocks xmlns:a="http://schemas.openxmlformats.org/drawingml/2006/main" noGrp="1"/>
          </p:cNvSpPr>
          <p:nvPr/>
        </p:nvSpPr>
        <p:spPr>
          <a:xfrm xmlns:a="http://schemas.openxmlformats.org/drawingml/2006/main">
            <a:off x="3390900" y="26289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wait_mean_ms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wait_p95_ms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observed_service_mean_ms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observed_service_variance_ms2</a:t>
            </a:r>
          </a:p>
        </p:txBody>
      </p:sp>
      <p:sp>
        <p:nvSpPr>
          <p:cNvPr id="14" name="">
            <a:extLst xmlns:a="http://schemas.openxmlformats.org/drawingml/2006/main">
              <a:ext uri="{FF2B5EF4-FFF2-40B4-BE49-F238E27FC236}">
                <a16:creationId xmlns:a16="http://schemas.microsoft.com/office/drawing/2014/main" id="{E1CDF9FD-0AD0-4ABD-BA3E-D072D96245E9}"/>
              </a:ext>
            </a:extLst>
          </p:cNvPr>
          <p:cNvSpPr>
            <a:spLocks xmlns:a="http://schemas.openxmlformats.org/drawingml/2006/main" noGrp="1"/>
          </p:cNvSpPr>
          <p:nvPr/>
        </p:nvSpPr>
        <p:spPr>
          <a:xfrm xmlns:a="http://schemas.openxmlformats.org/drawingml/2006/main">
            <a:off x="609600" y="40957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BURST AND I/O HISTORY</a:t>
            </a:r>
          </a:p>
        </p:txBody>
      </p:sp>
      <p:sp>
        <p:nvSpPr>
          <p:cNvPr id="15" name="">
            <a:extLst xmlns:a="http://schemas.openxmlformats.org/drawingml/2006/main">
              <a:ext uri="{FF2B5EF4-FFF2-40B4-BE49-F238E27FC236}">
                <a16:creationId xmlns:a16="http://schemas.microsoft.com/office/drawing/2014/main" id="{D9AD06B2-70DE-4AF2-9BBC-09C246DC7420}"/>
              </a:ext>
            </a:extLst>
          </p:cNvPr>
          <p:cNvSpPr>
            <a:spLocks xmlns:a="http://schemas.openxmlformats.org/drawingml/2006/main" noGrp="1"/>
          </p:cNvSpPr>
          <p:nvPr/>
        </p:nvSpPr>
        <p:spPr>
          <a:xfrm xmlns:a="http://schemas.openxmlformats.org/drawingml/2006/main">
            <a:off x="609600" y="43815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completed_burst_mean_ms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completed_burst_variance_ms2</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io_returns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wakeups</a:t>
            </a:r>
          </a:p>
        </p:txBody>
      </p:sp>
      <p:sp>
        <p:nvSpPr>
          <p:cNvPr id="16" name="">
            <a:extLst xmlns:a="http://schemas.openxmlformats.org/drawingml/2006/main">
              <a:ext uri="{FF2B5EF4-FFF2-40B4-BE49-F238E27FC236}">
                <a16:creationId xmlns:a16="http://schemas.microsoft.com/office/drawing/2014/main" id="{3C386985-BF90-40B8-8875-41281457452D}"/>
              </a:ext>
            </a:extLst>
          </p:cNvPr>
          <p:cNvSpPr>
            <a:spLocks xmlns:a="http://schemas.openxmlformats.org/drawingml/2006/main" noGrp="1"/>
          </p:cNvSpPr>
          <p:nvPr/>
        </p:nvSpPr>
        <p:spPr>
          <a:xfrm xmlns:a="http://schemas.openxmlformats.org/drawingml/2006/main">
            <a:off x="3390900" y="40957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SCHEDULING CONTEXT</a:t>
            </a:r>
          </a:p>
        </p:txBody>
      </p:sp>
      <p:sp>
        <p:nvSpPr>
          <p:cNvPr id="17" name="">
            <a:extLst xmlns:a="http://schemas.openxmlformats.org/drawingml/2006/main">
              <a:ext uri="{FF2B5EF4-FFF2-40B4-BE49-F238E27FC236}">
                <a16:creationId xmlns:a16="http://schemas.microsoft.com/office/drawing/2014/main" id="{1287487C-B8F1-48C1-AB63-883B2416029F}"/>
              </a:ext>
            </a:extLst>
          </p:cNvPr>
          <p:cNvSpPr>
            <a:spLocks xmlns:a="http://schemas.openxmlformats.org/drawingml/2006/main" noGrp="1"/>
          </p:cNvSpPr>
          <p:nvPr/>
        </p:nvSpPr>
        <p:spPr>
          <a:xfrm xmlns:a="http://schemas.openxmlformats.org/drawingml/2006/main">
            <a:off x="3390900" y="43815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priority_mean</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priority_variance</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context_switches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cpu_busy_fraction</a:t>
            </a:r>
          </a:p>
        </p:txBody>
      </p:sp>
      <p:sp>
        <p:nvSpPr>
          <p:cNvPr id="18" name="">
            <a:extLst xmlns:a="http://schemas.openxmlformats.org/drawingml/2006/main">
              <a:ext uri="{FF2B5EF4-FFF2-40B4-BE49-F238E27FC236}">
                <a16:creationId xmlns:a16="http://schemas.microsoft.com/office/drawing/2014/main" id="{74262E4A-C3AC-4B03-95EE-6DF4F993C6B8}"/>
              </a:ext>
            </a:extLst>
          </p:cNvPr>
          <p:cNvSpPr>
            <a:spLocks xmlns:a="http://schemas.openxmlformats.org/drawingml/2006/main" noGrp="1"/>
          </p:cNvSpPr>
          <p:nvPr/>
        </p:nvSpPr>
        <p:spPr>
          <a:xfrm xmlns:a="http://schemas.openxmlformats.org/drawingml/2006/main">
            <a:off x="6381750" y="1371600"/>
            <a:ext cx="4953000" cy="41719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9" name="">
            <a:extLst xmlns:a="http://schemas.openxmlformats.org/drawingml/2006/main">
              <a:ext uri="{FF2B5EF4-FFF2-40B4-BE49-F238E27FC236}">
                <a16:creationId xmlns:a16="http://schemas.microsoft.com/office/drawing/2014/main" id="{D25BA0E0-11AD-421F-8CD8-CBEB8C03C30B}"/>
              </a:ext>
            </a:extLst>
          </p:cNvPr>
          <p:cNvSpPr>
            <a:spLocks xmlns:a="http://schemas.openxmlformats.org/drawingml/2006/main" noGrp="1"/>
          </p:cNvSpPr>
          <p:nvPr/>
        </p:nvSpPr>
        <p:spPr>
          <a:xfrm xmlns:a="http://schemas.openxmlformats.org/drawingml/2006/main">
            <a:off x="6667500" y="16383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i="0">
                <a:solidFill>
                  <a:srgbClr val="111111"/>
                </a:solidFill>
                <a:latin typeface="Arial"/>
                <a:ea typeface="Arial"/>
                <a:cs typeface="Arial"/>
              </a:defRPr>
            </a:defPPr>
            <a:lvl1pPr>
              <a:defRPr sz="1725" b="1" i="0">
                <a:solidFill>
                  <a:srgbClr val="111111"/>
                </a:solidFill>
                <a:latin typeface="Arial"/>
                <a:ea typeface="Arial"/>
                <a:cs typeface="Arial"/>
              </a:defRPr>
            </a:lvl1pPr>
            <a:lvl2pPr>
              <a:defRPr sz="1725" b="1" i="0">
                <a:solidFill>
                  <a:srgbClr val="111111"/>
                </a:solidFill>
                <a:latin typeface="Arial"/>
                <a:ea typeface="Arial"/>
                <a:cs typeface="Arial"/>
              </a:defRPr>
            </a:lvl2pPr>
            <a:lvl3pPr>
              <a:defRPr sz="1725" b="1" i="0">
                <a:solidFill>
                  <a:srgbClr val="111111"/>
                </a:solidFill>
                <a:latin typeface="Arial"/>
                <a:ea typeface="Arial"/>
                <a:cs typeface="Arial"/>
              </a:defRPr>
            </a:lvl3pPr>
            <a:lvl4pPr>
              <a:defRPr sz="1725" b="1" i="0">
                <a:solidFill>
                  <a:srgbClr val="111111"/>
                </a:solidFill>
                <a:latin typeface="Arial"/>
                <a:ea typeface="Arial"/>
                <a:cs typeface="Arial"/>
              </a:defRPr>
            </a:lvl4pPr>
            <a:lvl5pPr>
              <a:defRPr sz="1725" b="1" i="0">
                <a:solidFill>
                  <a:srgbClr val="111111"/>
                </a:solidFill>
                <a:latin typeface="Arial"/>
                <a:ea typeface="Arial"/>
                <a:cs typeface="Arial"/>
              </a:defRPr>
            </a:lvl5pPr>
            <a:lvl6pPr>
              <a:defRPr sz="1725" b="1" i="0">
                <a:solidFill>
                  <a:srgbClr val="111111"/>
                </a:solidFill>
                <a:latin typeface="Arial"/>
                <a:ea typeface="Arial"/>
                <a:cs typeface="Arial"/>
              </a:defRPr>
            </a:lvl6pPr>
            <a:lvl7pPr>
              <a:defRPr sz="1725" b="1" i="0">
                <a:solidFill>
                  <a:srgbClr val="111111"/>
                </a:solidFill>
                <a:latin typeface="Arial"/>
                <a:ea typeface="Arial"/>
                <a:cs typeface="Arial"/>
              </a:defRPr>
            </a:lvl7pPr>
            <a:lvl8pPr>
              <a:defRPr sz="1725" b="1" i="0">
                <a:solidFill>
                  <a:srgbClr val="111111"/>
                </a:solidFill>
                <a:latin typeface="Arial"/>
                <a:ea typeface="Arial"/>
                <a:cs typeface="Arial"/>
              </a:defRPr>
            </a:lvl8pPr>
            <a:lvl9pPr>
              <a:defRPr sz="1725" b="1" i="0">
                <a:solidFill>
                  <a:srgbClr val="111111"/>
                </a:solidFill>
                <a:latin typeface="Arial"/>
                <a:ea typeface="Arial"/>
                <a:cs typeface="Arial"/>
              </a:defRPr>
            </a:lvl9pPr>
          </a:lstStyle>
          <a:p xmlns:a="http://schemas.openxmlformats.org/drawingml/2006/main">
            <a:pPr>
              <a:defRPr sz="1725" b="1" i="0">
                <a:solidFill>
                  <a:srgbClr val="111111"/>
                </a:solidFill>
                <a:latin typeface="Arial"/>
                <a:ea typeface="Arial"/>
                <a:cs typeface="Arial"/>
              </a:defRPr>
            </a:pPr>
            <a:r>
              <a:rPr sz="1725" b="1" i="0">
                <a:solidFill>
                  <a:srgbClr val="111111"/>
                </a:solidFill>
                <a:latin typeface="Arial"/>
                <a:ea typeface="Arial"/>
                <a:cs typeface="Arial"/>
              </a:rPr>
              <a:t>Decision-time boundary</a:t>
            </a:r>
          </a:p>
        </p:txBody>
      </p:sp>
      <p:sp>
        <p:nvSpPr>
          <p:cNvPr id="20" name="">
            <a:extLst xmlns:a="http://schemas.openxmlformats.org/drawingml/2006/main">
              <a:ext uri="{FF2B5EF4-FFF2-40B4-BE49-F238E27FC236}">
                <a16:creationId xmlns:a16="http://schemas.microsoft.com/office/drawing/2014/main" id="{7D7907FD-FC40-4327-9BBC-8EF92895CDEF}"/>
              </a:ext>
            </a:extLst>
          </p:cNvPr>
          <p:cNvSpPr>
            <a:spLocks xmlns:a="http://schemas.openxmlformats.org/drawingml/2006/main" noGrp="1"/>
          </p:cNvSpPr>
          <p:nvPr/>
        </p:nvSpPr>
        <p:spPr>
          <a:xfrm xmlns:a="http://schemas.openxmlformats.org/drawingml/2006/main">
            <a:off x="6705600" y="2343150"/>
            <a:ext cx="4019550" cy="0"/>
          </a:xfrm>
          <a:prstGeom xmlns:a="http://schemas.openxmlformats.org/drawingml/2006/main" prst="line">
            <a:avLst/>
          </a:prstGeom>
          <a:ln xmlns:a="http://schemas.openxmlformats.org/drawingml/2006/main" w="28575">
            <a:solidFill>
              <a:srgbClr val="1E5AA8"/>
            </a:solidFill>
            <a:prstDash val="solid"/>
          </a:ln>
        </p:spPr>
      </p:sp>
      <p:sp>
        <p:nvSpPr>
          <p:cNvPr id="21" name="">
            <a:extLst xmlns:a="http://schemas.openxmlformats.org/drawingml/2006/main">
              <a:ext uri="{FF2B5EF4-FFF2-40B4-BE49-F238E27FC236}">
                <a16:creationId xmlns:a16="http://schemas.microsoft.com/office/drawing/2014/main" id="{F7A04E18-13A7-45B0-AB52-14C5BE57F343}"/>
              </a:ext>
            </a:extLst>
          </p:cNvPr>
          <p:cNvSpPr>
            <a:spLocks xmlns:a="http://schemas.openxmlformats.org/drawingml/2006/main" noGrp="1"/>
          </p:cNvSpPr>
          <p:nvPr/>
        </p:nvSpPr>
        <p:spPr>
          <a:xfrm xmlns:a="http://schemas.openxmlformats.org/drawingml/2006/main">
            <a:off x="6705600" y="20574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PAST EVENTS</a:t>
            </a:r>
          </a:p>
        </p:txBody>
      </p:sp>
      <p:sp>
        <p:nvSpPr>
          <p:cNvPr id="22" name="">
            <a:extLst xmlns:a="http://schemas.openxmlformats.org/drawingml/2006/main">
              <a:ext uri="{FF2B5EF4-FFF2-40B4-BE49-F238E27FC236}">
                <a16:creationId xmlns:a16="http://schemas.microsoft.com/office/drawing/2014/main" id="{8E929D87-7552-4525-ADDC-502796728DF1}"/>
              </a:ext>
            </a:extLst>
          </p:cNvPr>
          <p:cNvSpPr>
            <a:spLocks xmlns:a="http://schemas.openxmlformats.org/drawingml/2006/main" noGrp="1"/>
          </p:cNvSpPr>
          <p:nvPr/>
        </p:nvSpPr>
        <p:spPr>
          <a:xfrm xmlns:a="http://schemas.openxmlformats.org/drawingml/2006/main">
            <a:off x="9696450" y="20574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1E5AA8"/>
                </a:solidFill>
                <a:latin typeface="Arial"/>
                <a:ea typeface="Arial"/>
                <a:cs typeface="Arial"/>
              </a:defRPr>
            </a:defPPr>
            <a:lvl1pPr algn="r">
              <a:defRPr sz="975" b="1" i="0">
                <a:solidFill>
                  <a:srgbClr val="1E5AA8"/>
                </a:solidFill>
                <a:latin typeface="Arial"/>
                <a:ea typeface="Arial"/>
                <a:cs typeface="Arial"/>
              </a:defRPr>
            </a:lvl1pPr>
            <a:lvl2pPr algn="r">
              <a:defRPr sz="975" b="1" i="0">
                <a:solidFill>
                  <a:srgbClr val="1E5AA8"/>
                </a:solidFill>
                <a:latin typeface="Arial"/>
                <a:ea typeface="Arial"/>
                <a:cs typeface="Arial"/>
              </a:defRPr>
            </a:lvl2pPr>
            <a:lvl3pPr algn="r">
              <a:defRPr sz="975" b="1" i="0">
                <a:solidFill>
                  <a:srgbClr val="1E5AA8"/>
                </a:solidFill>
                <a:latin typeface="Arial"/>
                <a:ea typeface="Arial"/>
                <a:cs typeface="Arial"/>
              </a:defRPr>
            </a:lvl3pPr>
            <a:lvl4pPr algn="r">
              <a:defRPr sz="975" b="1" i="0">
                <a:solidFill>
                  <a:srgbClr val="1E5AA8"/>
                </a:solidFill>
                <a:latin typeface="Arial"/>
                <a:ea typeface="Arial"/>
                <a:cs typeface="Arial"/>
              </a:defRPr>
            </a:lvl4pPr>
            <a:lvl5pPr algn="r">
              <a:defRPr sz="975" b="1" i="0">
                <a:solidFill>
                  <a:srgbClr val="1E5AA8"/>
                </a:solidFill>
                <a:latin typeface="Arial"/>
                <a:ea typeface="Arial"/>
                <a:cs typeface="Arial"/>
              </a:defRPr>
            </a:lvl5pPr>
            <a:lvl6pPr algn="r">
              <a:defRPr sz="975" b="1" i="0">
                <a:solidFill>
                  <a:srgbClr val="1E5AA8"/>
                </a:solidFill>
                <a:latin typeface="Arial"/>
                <a:ea typeface="Arial"/>
                <a:cs typeface="Arial"/>
              </a:defRPr>
            </a:lvl6pPr>
            <a:lvl7pPr algn="r">
              <a:defRPr sz="975" b="1" i="0">
                <a:solidFill>
                  <a:srgbClr val="1E5AA8"/>
                </a:solidFill>
                <a:latin typeface="Arial"/>
                <a:ea typeface="Arial"/>
                <a:cs typeface="Arial"/>
              </a:defRPr>
            </a:lvl7pPr>
            <a:lvl8pPr algn="r">
              <a:defRPr sz="975" b="1" i="0">
                <a:solidFill>
                  <a:srgbClr val="1E5AA8"/>
                </a:solidFill>
                <a:latin typeface="Arial"/>
                <a:ea typeface="Arial"/>
                <a:cs typeface="Arial"/>
              </a:defRPr>
            </a:lvl8pPr>
            <a:lvl9pPr algn="r">
              <a:defRPr sz="975" b="1" i="0">
                <a:solidFill>
                  <a:srgbClr val="1E5AA8"/>
                </a:solidFill>
                <a:latin typeface="Arial"/>
                <a:ea typeface="Arial"/>
                <a:cs typeface="Arial"/>
              </a:defRPr>
            </a:lvl9pPr>
          </a:lstStyle>
          <a:p xmlns:a="http://schemas.openxmlformats.org/drawingml/2006/main">
            <a:pPr algn="r">
              <a:defRPr sz="975" b="1" i="0">
                <a:solidFill>
                  <a:srgbClr val="1E5AA8"/>
                </a:solidFill>
                <a:latin typeface="Arial"/>
                <a:ea typeface="Arial"/>
                <a:cs typeface="Arial"/>
              </a:defRPr>
            </a:pPr>
            <a:r>
              <a:rPr sz="975" b="1" i="0">
                <a:solidFill>
                  <a:srgbClr val="1E5AA8"/>
                </a:solidFill>
                <a:latin typeface="Arial"/>
                <a:ea typeface="Arial"/>
                <a:cs typeface="Arial"/>
              </a:rPr>
              <a:t>DECISION</a:t>
            </a:r>
          </a:p>
        </p:txBody>
      </p:sp>
      <p:sp>
        <p:nvSpPr>
          <p:cNvPr id="23" name="">
            <a:extLst xmlns:a="http://schemas.openxmlformats.org/drawingml/2006/main">
              <a:ext uri="{FF2B5EF4-FFF2-40B4-BE49-F238E27FC236}">
                <a16:creationId xmlns:a16="http://schemas.microsoft.com/office/drawing/2014/main" id="{8217D268-AE31-476A-9D71-FC9AD61C1529}"/>
              </a:ext>
            </a:extLst>
          </p:cNvPr>
          <p:cNvSpPr>
            <a:spLocks xmlns:a="http://schemas.openxmlformats.org/drawingml/2006/main" noGrp="1"/>
          </p:cNvSpPr>
          <p:nvPr/>
        </p:nvSpPr>
        <p:spPr>
          <a:xfrm xmlns:a="http://schemas.openxmlformats.org/drawingml/2006/main">
            <a:off x="6667500" y="2609850"/>
            <a:ext cx="4171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Every feature comes from events observed before this line.</a:t>
            </a:r>
          </a:p>
        </p:txBody>
      </p:sp>
      <p:sp>
        <p:nvSpPr>
          <p:cNvPr id="24" name="">
            <a:extLst xmlns:a="http://schemas.openxmlformats.org/drawingml/2006/main">
              <a:ext uri="{FF2B5EF4-FFF2-40B4-BE49-F238E27FC236}">
                <a16:creationId xmlns:a16="http://schemas.microsoft.com/office/drawing/2014/main" id="{2C980471-08FE-4EA4-A962-AA728D2EFA0D}"/>
              </a:ext>
            </a:extLst>
          </p:cNvPr>
          <p:cNvSpPr>
            <a:spLocks xmlns:a="http://schemas.openxmlformats.org/drawingml/2006/main" noGrp="1"/>
          </p:cNvSpPr>
          <p:nvPr/>
        </p:nvSpPr>
        <p:spPr>
          <a:xfrm xmlns:a="http://schemas.openxmlformats.org/drawingml/2006/main">
            <a:off x="6667500" y="333375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2C6E49"/>
                </a:solidFill>
                <a:latin typeface="Arial"/>
                <a:ea typeface="Arial"/>
                <a:cs typeface="Arial"/>
              </a:defRPr>
            </a:defPPr>
            <a:lvl1pPr>
              <a:defRPr sz="1275" b="1" i="0">
                <a:solidFill>
                  <a:srgbClr val="2C6E49"/>
                </a:solidFill>
                <a:latin typeface="Arial"/>
                <a:ea typeface="Arial"/>
                <a:cs typeface="Arial"/>
              </a:defRPr>
            </a:lvl1pPr>
            <a:lvl2pPr>
              <a:defRPr sz="1275" b="1" i="0">
                <a:solidFill>
                  <a:srgbClr val="2C6E49"/>
                </a:solidFill>
                <a:latin typeface="Arial"/>
                <a:ea typeface="Arial"/>
                <a:cs typeface="Arial"/>
              </a:defRPr>
            </a:lvl2pPr>
            <a:lvl3pPr>
              <a:defRPr sz="1275" b="1" i="0">
                <a:solidFill>
                  <a:srgbClr val="2C6E49"/>
                </a:solidFill>
                <a:latin typeface="Arial"/>
                <a:ea typeface="Arial"/>
                <a:cs typeface="Arial"/>
              </a:defRPr>
            </a:lvl3pPr>
            <a:lvl4pPr>
              <a:defRPr sz="1275" b="1" i="0">
                <a:solidFill>
                  <a:srgbClr val="2C6E49"/>
                </a:solidFill>
                <a:latin typeface="Arial"/>
                <a:ea typeface="Arial"/>
                <a:cs typeface="Arial"/>
              </a:defRPr>
            </a:lvl4pPr>
            <a:lvl5pPr>
              <a:defRPr sz="1275" b="1" i="0">
                <a:solidFill>
                  <a:srgbClr val="2C6E49"/>
                </a:solidFill>
                <a:latin typeface="Arial"/>
                <a:ea typeface="Arial"/>
                <a:cs typeface="Arial"/>
              </a:defRPr>
            </a:lvl5pPr>
            <a:lvl6pPr>
              <a:defRPr sz="1275" b="1" i="0">
                <a:solidFill>
                  <a:srgbClr val="2C6E49"/>
                </a:solidFill>
                <a:latin typeface="Arial"/>
                <a:ea typeface="Arial"/>
                <a:cs typeface="Arial"/>
              </a:defRPr>
            </a:lvl6pPr>
            <a:lvl7pPr>
              <a:defRPr sz="1275" b="1" i="0">
                <a:solidFill>
                  <a:srgbClr val="2C6E49"/>
                </a:solidFill>
                <a:latin typeface="Arial"/>
                <a:ea typeface="Arial"/>
                <a:cs typeface="Arial"/>
              </a:defRPr>
            </a:lvl7pPr>
            <a:lvl8pPr>
              <a:defRPr sz="1275" b="1" i="0">
                <a:solidFill>
                  <a:srgbClr val="2C6E49"/>
                </a:solidFill>
                <a:latin typeface="Arial"/>
                <a:ea typeface="Arial"/>
                <a:cs typeface="Arial"/>
              </a:defRPr>
            </a:lvl8pPr>
            <a:lvl9pPr>
              <a:defRPr sz="1275" b="1" i="0">
                <a:solidFill>
                  <a:srgbClr val="2C6E49"/>
                </a:solidFill>
                <a:latin typeface="Arial"/>
                <a:ea typeface="Arial"/>
                <a:cs typeface="Arial"/>
              </a:defRPr>
            </a:lvl9pPr>
          </a:lstStyle>
          <a:p xmlns:a="http://schemas.openxmlformats.org/drawingml/2006/main">
            <a:pPr>
              <a:defRPr sz="1275" b="1" i="0">
                <a:solidFill>
                  <a:srgbClr val="2C6E49"/>
                </a:solidFill>
                <a:latin typeface="Arial"/>
                <a:ea typeface="Arial"/>
                <a:cs typeface="Arial"/>
              </a:defRPr>
            </a:pPr>
            <a:r>
              <a:rPr sz="1275" b="1" i="0">
                <a:solidFill>
                  <a:srgbClr val="2C6E49"/>
                </a:solidFill>
                <a:latin typeface="Arial"/>
                <a:ea typeface="Arial"/>
                <a:cs typeface="Arial"/>
              </a:rPr>
              <a:t>Allowed</a:t>
            </a:r>
          </a:p>
        </p:txBody>
      </p:sp>
      <p:sp>
        <p:nvSpPr>
          <p:cNvPr id="25" name="">
            <a:extLst xmlns:a="http://schemas.openxmlformats.org/drawingml/2006/main">
              <a:ext uri="{FF2B5EF4-FFF2-40B4-BE49-F238E27FC236}">
                <a16:creationId xmlns:a16="http://schemas.microsoft.com/office/drawing/2014/main" id="{2DC3A9D2-CAD2-48EF-9E4D-13673C81A139}"/>
              </a:ext>
            </a:extLst>
          </p:cNvPr>
          <p:cNvSpPr>
            <a:spLocks xmlns:a="http://schemas.openxmlformats.org/drawingml/2006/main" noGrp="1"/>
          </p:cNvSpPr>
          <p:nvPr/>
        </p:nvSpPr>
        <p:spPr>
          <a:xfrm xmlns:a="http://schemas.openxmlformats.org/drawingml/2006/main">
            <a:off x="6667500" y="3619500"/>
            <a:ext cx="41719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Queue size, waiting history, completed service, I/O returns, priority, wakeups, and prior switches.</a:t>
            </a:r>
          </a:p>
        </p:txBody>
      </p:sp>
      <p:sp>
        <p:nvSpPr>
          <p:cNvPr id="26" name="">
            <a:extLst xmlns:a="http://schemas.openxmlformats.org/drawingml/2006/main">
              <a:ext uri="{FF2B5EF4-FFF2-40B4-BE49-F238E27FC236}">
                <a16:creationId xmlns:a16="http://schemas.microsoft.com/office/drawing/2014/main" id="{22E5F7B9-DE4E-4333-8BC3-7E249ABB60B9}"/>
              </a:ext>
            </a:extLst>
          </p:cNvPr>
          <p:cNvSpPr>
            <a:spLocks xmlns:a="http://schemas.openxmlformats.org/drawingml/2006/main" noGrp="1"/>
          </p:cNvSpPr>
          <p:nvPr/>
        </p:nvSpPr>
        <p:spPr>
          <a:xfrm xmlns:a="http://schemas.openxmlformats.org/drawingml/2006/main">
            <a:off x="6667500" y="451485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A05A00"/>
                </a:solidFill>
                <a:latin typeface="Arial"/>
                <a:ea typeface="Arial"/>
                <a:cs typeface="Arial"/>
              </a:defRPr>
            </a:defPPr>
            <a:lvl1pPr>
              <a:defRPr sz="1275" b="1" i="0">
                <a:solidFill>
                  <a:srgbClr val="A05A00"/>
                </a:solidFill>
                <a:latin typeface="Arial"/>
                <a:ea typeface="Arial"/>
                <a:cs typeface="Arial"/>
              </a:defRPr>
            </a:lvl1pPr>
            <a:lvl2pPr>
              <a:defRPr sz="1275" b="1" i="0">
                <a:solidFill>
                  <a:srgbClr val="A05A00"/>
                </a:solidFill>
                <a:latin typeface="Arial"/>
                <a:ea typeface="Arial"/>
                <a:cs typeface="Arial"/>
              </a:defRPr>
            </a:lvl2pPr>
            <a:lvl3pPr>
              <a:defRPr sz="1275" b="1" i="0">
                <a:solidFill>
                  <a:srgbClr val="A05A00"/>
                </a:solidFill>
                <a:latin typeface="Arial"/>
                <a:ea typeface="Arial"/>
                <a:cs typeface="Arial"/>
              </a:defRPr>
            </a:lvl3pPr>
            <a:lvl4pPr>
              <a:defRPr sz="1275" b="1" i="0">
                <a:solidFill>
                  <a:srgbClr val="A05A00"/>
                </a:solidFill>
                <a:latin typeface="Arial"/>
                <a:ea typeface="Arial"/>
                <a:cs typeface="Arial"/>
              </a:defRPr>
            </a:lvl4pPr>
            <a:lvl5pPr>
              <a:defRPr sz="1275" b="1" i="0">
                <a:solidFill>
                  <a:srgbClr val="A05A00"/>
                </a:solidFill>
                <a:latin typeface="Arial"/>
                <a:ea typeface="Arial"/>
                <a:cs typeface="Arial"/>
              </a:defRPr>
            </a:lvl5pPr>
            <a:lvl6pPr>
              <a:defRPr sz="1275" b="1" i="0">
                <a:solidFill>
                  <a:srgbClr val="A05A00"/>
                </a:solidFill>
                <a:latin typeface="Arial"/>
                <a:ea typeface="Arial"/>
                <a:cs typeface="Arial"/>
              </a:defRPr>
            </a:lvl6pPr>
            <a:lvl7pPr>
              <a:defRPr sz="1275" b="1" i="0">
                <a:solidFill>
                  <a:srgbClr val="A05A00"/>
                </a:solidFill>
                <a:latin typeface="Arial"/>
                <a:ea typeface="Arial"/>
                <a:cs typeface="Arial"/>
              </a:defRPr>
            </a:lvl7pPr>
            <a:lvl8pPr>
              <a:defRPr sz="1275" b="1" i="0">
                <a:solidFill>
                  <a:srgbClr val="A05A00"/>
                </a:solidFill>
                <a:latin typeface="Arial"/>
                <a:ea typeface="Arial"/>
                <a:cs typeface="Arial"/>
              </a:defRPr>
            </a:lvl8pPr>
            <a:lvl9pPr>
              <a:defRPr sz="1275" b="1" i="0">
                <a:solidFill>
                  <a:srgbClr val="A05A00"/>
                </a:solidFill>
                <a:latin typeface="Arial"/>
                <a:ea typeface="Arial"/>
                <a:cs typeface="Arial"/>
              </a:defRPr>
            </a:lvl9pPr>
          </a:lstStyle>
          <a:p xmlns:a="http://schemas.openxmlformats.org/drawingml/2006/main">
            <a:pPr>
              <a:defRPr sz="1275" b="1" i="0">
                <a:solidFill>
                  <a:srgbClr val="A05A00"/>
                </a:solidFill>
                <a:latin typeface="Arial"/>
                <a:ea typeface="Arial"/>
                <a:cs typeface="Arial"/>
              </a:defRPr>
            </a:pPr>
            <a:r>
              <a:rPr sz="1275" b="1" i="0">
                <a:solidFill>
                  <a:srgbClr val="A05A00"/>
                </a:solidFill>
                <a:latin typeface="Arial"/>
                <a:ea typeface="Arial"/>
                <a:cs typeface="Arial"/>
              </a:rPr>
              <a:t>Excluded</a:t>
            </a:r>
          </a:p>
        </p:txBody>
      </p:sp>
      <p:sp>
        <p:nvSpPr>
          <p:cNvPr id="27" name="">
            <a:extLst xmlns:a="http://schemas.openxmlformats.org/drawingml/2006/main">
              <a:ext uri="{FF2B5EF4-FFF2-40B4-BE49-F238E27FC236}">
                <a16:creationId xmlns:a16="http://schemas.microsoft.com/office/drawing/2014/main" id="{CB8AB06F-48B8-4C17-92AC-013A4FBB19F5}"/>
              </a:ext>
            </a:extLst>
          </p:cNvPr>
          <p:cNvSpPr>
            <a:spLocks xmlns:a="http://schemas.openxmlformats.org/drawingml/2006/main" noGrp="1"/>
          </p:cNvSpPr>
          <p:nvPr/>
        </p:nvSpPr>
        <p:spPr>
          <a:xfrm xmlns:a="http://schemas.openxmlformats.org/drawingml/2006/main">
            <a:off x="6667500" y="4800600"/>
            <a:ext cx="4171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Future arrivals, declared total work, true remaining burst, later outcomes, and oracle identity.</a:t>
            </a:r>
          </a:p>
        </p:txBody>
      </p:sp>
      <p:sp>
        <p:nvSpPr>
          <p:cNvPr id="28" name="">
            <a:extLst xmlns:a="http://schemas.openxmlformats.org/drawingml/2006/main">
              <a:ext uri="{FF2B5EF4-FFF2-40B4-BE49-F238E27FC236}">
                <a16:creationId xmlns:a16="http://schemas.microsoft.com/office/drawing/2014/main" id="{C7D82CA6-4D89-48A5-BE3A-DB2A6E51AC5A}"/>
              </a:ext>
            </a:extLst>
          </p:cNvPr>
          <p:cNvSpPr>
            <a:spLocks xmlns:a="http://schemas.openxmlformats.org/drawingml/2006/main" noGrp="1"/>
          </p:cNvSpPr>
          <p:nvPr/>
        </p:nvSpPr>
        <p:spPr>
          <a:xfrm xmlns:a="http://schemas.openxmlformats.org/drawingml/2006/main">
            <a:off x="609600" y="5886450"/>
            <a:ext cx="10725150" cy="400050"/>
          </a:xfrm>
          <a:prstGeom xmlns:a="http://schemas.openxmlformats.org/drawingml/2006/main" prst="rect">
            <a:avLst/>
          </a:prstGeom>
          <a:solidFill xmlns:a="http://schemas.openxmlformats.org/drawingml/2006/main">
            <a:srgbClr val="E8F0FA"/>
          </a:solidFill>
          <a:ln xmlns:a="http://schemas.openxmlformats.org/drawingml/2006/main" w="9525">
            <a:solidFill>
              <a:srgbClr val="1E5AA8"/>
            </a:solidFill>
            <a:prstDash val="solid"/>
          </a:ln>
        </p:spPr>
      </p:sp>
      <p:sp>
        <p:nvSpPr>
          <p:cNvPr id="29" name="">
            <a:extLst xmlns:a="http://schemas.openxmlformats.org/drawingml/2006/main">
              <a:ext uri="{FF2B5EF4-FFF2-40B4-BE49-F238E27FC236}">
                <a16:creationId xmlns:a16="http://schemas.microsoft.com/office/drawing/2014/main" id="{0E924E5D-E2FE-4A3D-83C3-1E284400E839}"/>
              </a:ext>
            </a:extLst>
          </p:cNvPr>
          <p:cNvSpPr>
            <a:spLocks xmlns:a="http://schemas.openxmlformats.org/drawingml/2006/main" noGrp="1"/>
          </p:cNvSpPr>
          <p:nvPr/>
        </p:nvSpPr>
        <p:spPr>
          <a:xfrm xmlns:a="http://schemas.openxmlformats.org/drawingml/2006/main">
            <a:off x="781050" y="598170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Why these features: process history can predict scheduler behavior, while recent queue and service history supports adaptive control [3], [5].</a:t>
            </a:r>
          </a:p>
        </p:txBody>
      </p:sp>
      <p:sp>
        <p:nvSpPr>
          <p:cNvPr id="30" name="">
            <a:extLst xmlns:a="http://schemas.openxmlformats.org/drawingml/2006/main">
              <a:ext uri="{FF2B5EF4-FFF2-40B4-BE49-F238E27FC236}">
                <a16:creationId xmlns:a16="http://schemas.microsoft.com/office/drawing/2014/main" id="{12B28325-AB7A-4C1A-8A3E-FCFF2D3F376A}"/>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Feature precedent: [3] ALPS  [5] Negi and Pusukuri</a:t>
            </a:r>
          </a:p>
        </p:txBody>
      </p:sp>
    </p:spTree>
    <p:extLst>
      <p:ext uri="{BB962C8B-B14F-4D97-AF65-F5344CB8AC3E}">
        <p14:creationId xmlns:p14="http://schemas.microsoft.com/office/powerpoint/2010/main" val="836167086"/>
      </p:ext>
    </p:extLst>
  </p:cSld>
</p:sld>
</file>

<file path=ppt/slides/slide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cxnSp>
        <p:nvCxnSpPr>
          <p:cNvPr id="43" name="">
            <a:extLst xmlns:a="http://schemas.openxmlformats.org/drawingml/2006/main">
              <a:ext uri="{FF2B5EF4-FFF2-40B4-BE49-F238E27FC236}">
                <a16:creationId xmlns:a16="http://schemas.microsoft.com/office/drawing/2014/main" id="{5A4543A3-6FE6-4F9C-83CD-69BF43C31618}"/>
              </a:ext>
            </a:extLst>
          </p:cNvPr>
          <p:cNvCxnSpPr>
            <a:stCxn xmlns:a="http://schemas.openxmlformats.org/drawingml/2006/main" id="26" idx="3"/>
            <a:endCxn xmlns:a="http://schemas.openxmlformats.org/drawingml/2006/main" id="33" idx="1"/>
          </p:cNvCxnSpPr>
          <p:nvPr/>
        </p:nvCxnSpPr>
        <p:spPr>
          <a:xfrm xmlns:a="http://schemas.openxmlformats.org/drawingml/2006/main">
            <a:off x="9410700" y="3228975"/>
            <a:ext cx="457200" cy="0"/>
          </a:xfrm>
          <a:prstGeom xmlns:a="http://schemas.openxmlformats.org/drawingml/2006/main" prst="straightConnector1">
            <a:avLst/>
          </a:prstGeom>
          <a:ln xmlns:a="http://schemas.openxmlformats.org/drawingml/2006/main" w="19050">
            <a:solidFill>
              <a:srgbClr val="1E5AA8"/>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D7BE904D-5B78-4119-9FEC-0EBE915D4CA4}"/>
              </a:ext>
            </a:extLst>
          </p:cNvPr>
          <p:cNvCxnSpPr>
            <a:stCxn xmlns:a="http://schemas.openxmlformats.org/drawingml/2006/main" id="19" idx="3"/>
            <a:endCxn xmlns:a="http://schemas.openxmlformats.org/drawingml/2006/main" id="26" idx="1"/>
          </p:cNvCxnSpPr>
          <p:nvPr/>
        </p:nvCxnSpPr>
        <p:spPr>
          <a:xfrm xmlns:a="http://schemas.openxmlformats.org/drawingml/2006/main">
            <a:off x="7048500" y="3228975"/>
            <a:ext cx="457200" cy="0"/>
          </a:xfrm>
          <a:prstGeom xmlns:a="http://schemas.openxmlformats.org/drawingml/2006/main" prst="straightConnector1">
            <a:avLst/>
          </a:prstGeom>
          <a:ln xmlns:a="http://schemas.openxmlformats.org/drawingml/2006/main" w="19050">
            <a:solidFill>
              <a:srgbClr val="1E5AA8"/>
            </a:solidFill>
            <a:prstDash val="solid"/>
            <a:tailEnd type="triangle" w="sm" len="sm"/>
          </a:ln>
        </p:spPr>
      </p:cxnSp>
      <p:cxnSp>
        <p:nvCxnSpPr>
          <p:cNvPr id="41" name="">
            <a:extLst xmlns:a="http://schemas.openxmlformats.org/drawingml/2006/main">
              <a:ext uri="{FF2B5EF4-FFF2-40B4-BE49-F238E27FC236}">
                <a16:creationId xmlns:a16="http://schemas.microsoft.com/office/drawing/2014/main" id="{672C8008-EA31-4580-9CA8-5E2C53088A21}"/>
              </a:ext>
            </a:extLst>
          </p:cNvPr>
          <p:cNvCxnSpPr>
            <a:stCxn xmlns:a="http://schemas.openxmlformats.org/drawingml/2006/main" id="12" idx="3"/>
            <a:endCxn xmlns:a="http://schemas.openxmlformats.org/drawingml/2006/main" id="19" idx="1"/>
          </p:cNvCxnSpPr>
          <p:nvPr/>
        </p:nvCxnSpPr>
        <p:spPr>
          <a:xfrm xmlns:a="http://schemas.openxmlformats.org/drawingml/2006/main">
            <a:off x="4686300" y="3228975"/>
            <a:ext cx="457200" cy="0"/>
          </a:xfrm>
          <a:prstGeom xmlns:a="http://schemas.openxmlformats.org/drawingml/2006/main" prst="straightConnector1">
            <a:avLst/>
          </a:prstGeom>
          <a:ln xmlns:a="http://schemas.openxmlformats.org/drawingml/2006/main" w="19050">
            <a:solidFill>
              <a:srgbClr val="1E5AA8"/>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22221946-83B8-4A8A-B1C5-E2A7EE17779C}"/>
              </a:ext>
            </a:extLst>
          </p:cNvPr>
          <p:cNvCxnSpPr>
            <a:stCxn xmlns:a="http://schemas.openxmlformats.org/drawingml/2006/main" id="5" idx="3"/>
            <a:endCxn xmlns:a="http://schemas.openxmlformats.org/drawingml/2006/main" id="12" idx="1"/>
          </p:cNvCxnSpPr>
          <p:nvPr/>
        </p:nvCxnSpPr>
        <p:spPr>
          <a:xfrm xmlns:a="http://schemas.openxmlformats.org/drawingml/2006/main">
            <a:off x="2324100" y="3228975"/>
            <a:ext cx="457200" cy="0"/>
          </a:xfrm>
          <a:prstGeom xmlns:a="http://schemas.openxmlformats.org/drawingml/2006/main" prst="straightConnector1">
            <a:avLst/>
          </a:prstGeom>
          <a:ln xmlns:a="http://schemas.openxmlformats.org/drawingml/2006/main" w="19050">
            <a:solidFill>
              <a:srgbClr val="1E5AA8"/>
            </a:solidFill>
            <a:prstDash val="solid"/>
            <a:tailEnd type="triangle" w="sm" len="sm"/>
          </a:ln>
        </p:spPr>
      </p:cxnSp>
      <p:sp>
        <p:nvSpPr>
          <p:cNvPr id="48" name="">
            <a:extLst xmlns:a="http://schemas.openxmlformats.org/drawingml/2006/main">
              <a:ext uri="{FF2B5EF4-FFF2-40B4-BE49-F238E27FC236}">
                <a16:creationId xmlns:a16="http://schemas.microsoft.com/office/drawing/2014/main" id="{684318BA-A0BF-41EA-89DE-CB126EAD3D5B}"/>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0C83A319-E241-4D4F-B534-A778D32345BE}"/>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System modules and data flow</a:t>
            </a:r>
          </a:p>
        </p:txBody>
      </p:sp>
      <p:sp>
        <p:nvSpPr>
          <p:cNvPr id="3" name="">
            <a:extLst xmlns:a="http://schemas.openxmlformats.org/drawingml/2006/main">
              <a:ext uri="{FF2B5EF4-FFF2-40B4-BE49-F238E27FC236}">
                <a16:creationId xmlns:a16="http://schemas.microsoft.com/office/drawing/2014/main" id="{EE3A0260-8CC5-4C0C-86C2-DC23E09A2299}"/>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F051A491-EBBB-4F9B-AE34-B368BAF804DF}"/>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4A72597F-E089-4DFA-AFD4-EA5BDF330CC0}"/>
              </a:ext>
            </a:extLst>
          </p:cNvPr>
          <p:cNvSpPr>
            <a:spLocks xmlns:a="http://schemas.openxmlformats.org/drawingml/2006/main" noGrp="1"/>
          </p:cNvSpPr>
          <p:nvPr/>
        </p:nvSpPr>
        <p:spPr>
          <a:xfrm xmlns:a="http://schemas.openxmlformats.org/drawingml/2006/main">
            <a:off x="4191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6" name="">
            <a:extLst xmlns:a="http://schemas.openxmlformats.org/drawingml/2006/main">
              <a:ext uri="{FF2B5EF4-FFF2-40B4-BE49-F238E27FC236}">
                <a16:creationId xmlns:a16="http://schemas.microsoft.com/office/drawing/2014/main" id="{FA22450F-355A-4FBC-8663-D7BF2292C19F}"/>
              </a:ext>
            </a:extLst>
          </p:cNvPr>
          <p:cNvSpPr>
            <a:spLocks xmlns:a="http://schemas.openxmlformats.org/drawingml/2006/main" noGrp="1"/>
          </p:cNvSpPr>
          <p:nvPr/>
        </p:nvSpPr>
        <p:spPr>
          <a:xfrm xmlns:a="http://schemas.openxmlformats.org/drawingml/2006/main">
            <a:off x="5905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4B008ED-6272-4B6A-AE6E-67CC5DDD5511}"/>
              </a:ext>
            </a:extLst>
          </p:cNvPr>
          <p:cNvSpPr>
            <a:spLocks xmlns:a="http://schemas.openxmlformats.org/drawingml/2006/main" noGrp="1"/>
          </p:cNvSpPr>
          <p:nvPr/>
        </p:nvSpPr>
        <p:spPr>
          <a:xfrm xmlns:a="http://schemas.openxmlformats.org/drawingml/2006/main">
            <a:off x="5905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05B076DB-3A6E-4EBA-99C2-2407E78DA92C}"/>
              </a:ext>
            </a:extLst>
          </p:cNvPr>
          <p:cNvSpPr>
            <a:spLocks xmlns:a="http://schemas.openxmlformats.org/drawingml/2006/main" noGrp="1"/>
          </p:cNvSpPr>
          <p:nvPr/>
        </p:nvSpPr>
        <p:spPr>
          <a:xfrm xmlns:a="http://schemas.openxmlformats.org/drawingml/2006/main">
            <a:off x="5905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Trace and workload input</a:t>
            </a:r>
          </a:p>
        </p:txBody>
      </p:sp>
      <p:sp>
        <p:nvSpPr>
          <p:cNvPr id="9" name="">
            <a:extLst xmlns:a="http://schemas.openxmlformats.org/drawingml/2006/main">
              <a:ext uri="{FF2B5EF4-FFF2-40B4-BE49-F238E27FC236}">
                <a16:creationId xmlns:a16="http://schemas.microsoft.com/office/drawing/2014/main" id="{9F6DEC89-D342-42D4-8077-BFFF3F6CBDB8}"/>
              </a:ext>
            </a:extLst>
          </p:cNvPr>
          <p:cNvSpPr>
            <a:spLocks xmlns:a="http://schemas.openxmlformats.org/drawingml/2006/main" noGrp="1"/>
          </p:cNvSpPr>
          <p:nvPr/>
        </p:nvSpPr>
        <p:spPr>
          <a:xfrm xmlns:a="http://schemas.openxmlformats.org/drawingml/2006/main">
            <a:off x="5905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10" name="">
            <a:extLst xmlns:a="http://schemas.openxmlformats.org/drawingml/2006/main">
              <a:ext uri="{FF2B5EF4-FFF2-40B4-BE49-F238E27FC236}">
                <a16:creationId xmlns:a16="http://schemas.microsoft.com/office/drawing/2014/main" id="{99752BE2-324C-4EBF-8A6E-F0A6CD73C965}"/>
              </a:ext>
            </a:extLst>
          </p:cNvPr>
          <p:cNvSpPr>
            <a:spLocks xmlns:a="http://schemas.openxmlformats.org/drawingml/2006/main" noGrp="1"/>
          </p:cNvSpPr>
          <p:nvPr/>
        </p:nvSpPr>
        <p:spPr>
          <a:xfrm xmlns:a="http://schemas.openxmlformats.org/drawingml/2006/main">
            <a:off x="5905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Linux scheduler events and controlled workload traces.</a:t>
            </a:r>
          </a:p>
        </p:txBody>
      </p:sp>
      <p:sp>
        <p:nvSpPr>
          <p:cNvPr id="11" name="">
            <a:extLst xmlns:a="http://schemas.openxmlformats.org/drawingml/2006/main">
              <a:ext uri="{FF2B5EF4-FFF2-40B4-BE49-F238E27FC236}">
                <a16:creationId xmlns:a16="http://schemas.microsoft.com/office/drawing/2014/main" id="{EC884152-212A-4382-9B97-83D88FCC74D0}"/>
              </a:ext>
            </a:extLst>
          </p:cNvPr>
          <p:cNvSpPr>
            <a:spLocks xmlns:a="http://schemas.openxmlformats.org/drawingml/2006/main" noGrp="1"/>
          </p:cNvSpPr>
          <p:nvPr/>
        </p:nvSpPr>
        <p:spPr>
          <a:xfrm xmlns:a="http://schemas.openxmlformats.org/drawingml/2006/main">
            <a:off x="5905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Raw behavior enters the system.</a:t>
            </a:r>
          </a:p>
        </p:txBody>
      </p:sp>
      <p:sp>
        <p:nvSpPr>
          <p:cNvPr id="12" name="">
            <a:extLst xmlns:a="http://schemas.openxmlformats.org/drawingml/2006/main">
              <a:ext uri="{FF2B5EF4-FFF2-40B4-BE49-F238E27FC236}">
                <a16:creationId xmlns:a16="http://schemas.microsoft.com/office/drawing/2014/main" id="{3E55571D-FF88-4D8D-89F5-15ECCECC0F39}"/>
              </a:ext>
            </a:extLst>
          </p:cNvPr>
          <p:cNvSpPr>
            <a:spLocks xmlns:a="http://schemas.openxmlformats.org/drawingml/2006/main" noGrp="1"/>
          </p:cNvSpPr>
          <p:nvPr/>
        </p:nvSpPr>
        <p:spPr>
          <a:xfrm xmlns:a="http://schemas.openxmlformats.org/drawingml/2006/main">
            <a:off x="27813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3" name="">
            <a:extLst xmlns:a="http://schemas.openxmlformats.org/drawingml/2006/main">
              <a:ext uri="{FF2B5EF4-FFF2-40B4-BE49-F238E27FC236}">
                <a16:creationId xmlns:a16="http://schemas.microsoft.com/office/drawing/2014/main" id="{DE76BC72-C4DA-4538-A3E3-1E301986C917}"/>
              </a:ext>
            </a:extLst>
          </p:cNvPr>
          <p:cNvSpPr>
            <a:spLocks xmlns:a="http://schemas.openxmlformats.org/drawingml/2006/main" noGrp="1"/>
          </p:cNvSpPr>
          <p:nvPr/>
        </p:nvSpPr>
        <p:spPr>
          <a:xfrm xmlns:a="http://schemas.openxmlformats.org/drawingml/2006/main">
            <a:off x="29527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8B9EE00-D487-4069-A794-2438BEECD3A9}"/>
              </a:ext>
            </a:extLst>
          </p:cNvPr>
          <p:cNvSpPr>
            <a:spLocks xmlns:a="http://schemas.openxmlformats.org/drawingml/2006/main" noGrp="1"/>
          </p:cNvSpPr>
          <p:nvPr/>
        </p:nvSpPr>
        <p:spPr>
          <a:xfrm xmlns:a="http://schemas.openxmlformats.org/drawingml/2006/main">
            <a:off x="29527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7618922D-A343-4E10-AE6E-5EB40DB211CE}"/>
              </a:ext>
            </a:extLst>
          </p:cNvPr>
          <p:cNvSpPr>
            <a:spLocks xmlns:a="http://schemas.openxmlformats.org/drawingml/2006/main" noGrp="1"/>
          </p:cNvSpPr>
          <p:nvPr/>
        </p:nvSpPr>
        <p:spPr>
          <a:xfrm xmlns:a="http://schemas.openxmlformats.org/drawingml/2006/main">
            <a:off x="29527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Data preparation</a:t>
            </a:r>
          </a:p>
        </p:txBody>
      </p:sp>
      <p:sp>
        <p:nvSpPr>
          <p:cNvPr id="16" name="">
            <a:extLst xmlns:a="http://schemas.openxmlformats.org/drawingml/2006/main">
              <a:ext uri="{FF2B5EF4-FFF2-40B4-BE49-F238E27FC236}">
                <a16:creationId xmlns:a16="http://schemas.microsoft.com/office/drawing/2014/main" id="{6C2D952C-DD2D-4DC2-88B7-BD1E62E918E8}"/>
              </a:ext>
            </a:extLst>
          </p:cNvPr>
          <p:cNvSpPr>
            <a:spLocks xmlns:a="http://schemas.openxmlformats.org/drawingml/2006/main" noGrp="1"/>
          </p:cNvSpPr>
          <p:nvPr/>
        </p:nvSpPr>
        <p:spPr>
          <a:xfrm xmlns:a="http://schemas.openxmlformats.org/drawingml/2006/main">
            <a:off x="29527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17" name="">
            <a:extLst xmlns:a="http://schemas.openxmlformats.org/drawingml/2006/main">
              <a:ext uri="{FF2B5EF4-FFF2-40B4-BE49-F238E27FC236}">
                <a16:creationId xmlns:a16="http://schemas.microsoft.com/office/drawing/2014/main" id="{D3510157-8FAB-4169-BF4B-3C218517B0AF}"/>
              </a:ext>
            </a:extLst>
          </p:cNvPr>
          <p:cNvSpPr>
            <a:spLocks xmlns:a="http://schemas.openxmlformats.org/drawingml/2006/main" noGrp="1"/>
          </p:cNvSpPr>
          <p:nvPr/>
        </p:nvSpPr>
        <p:spPr>
          <a:xfrm xmlns:a="http://schemas.openxmlformats.org/drawingml/2006/main">
            <a:off x="29527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Cleaning, replay, feature extraction, and grouped splitting.</a:t>
            </a:r>
          </a:p>
        </p:txBody>
      </p:sp>
      <p:sp>
        <p:nvSpPr>
          <p:cNvPr id="18" name="">
            <a:extLst xmlns:a="http://schemas.openxmlformats.org/drawingml/2006/main">
              <a:ext uri="{FF2B5EF4-FFF2-40B4-BE49-F238E27FC236}">
                <a16:creationId xmlns:a16="http://schemas.microsoft.com/office/drawing/2014/main" id="{23280FBA-42FA-4506-AAFD-430049694D47}"/>
              </a:ext>
            </a:extLst>
          </p:cNvPr>
          <p:cNvSpPr>
            <a:spLocks xmlns:a="http://schemas.openxmlformats.org/drawingml/2006/main" noGrp="1"/>
          </p:cNvSpPr>
          <p:nvPr/>
        </p:nvSpPr>
        <p:spPr>
          <a:xfrm xmlns:a="http://schemas.openxmlformats.org/drawingml/2006/main">
            <a:off x="29527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Past events become safe model inputs.</a:t>
            </a:r>
          </a:p>
        </p:txBody>
      </p:sp>
      <p:sp>
        <p:nvSpPr>
          <p:cNvPr id="19" name="">
            <a:extLst xmlns:a="http://schemas.openxmlformats.org/drawingml/2006/main">
              <a:ext uri="{FF2B5EF4-FFF2-40B4-BE49-F238E27FC236}">
                <a16:creationId xmlns:a16="http://schemas.microsoft.com/office/drawing/2014/main" id="{DC3B3EBE-28AA-485C-A694-D1F5931A9DE7}"/>
              </a:ext>
            </a:extLst>
          </p:cNvPr>
          <p:cNvSpPr>
            <a:spLocks xmlns:a="http://schemas.openxmlformats.org/drawingml/2006/main" noGrp="1"/>
          </p:cNvSpPr>
          <p:nvPr/>
        </p:nvSpPr>
        <p:spPr>
          <a:xfrm xmlns:a="http://schemas.openxmlformats.org/drawingml/2006/main">
            <a:off x="51435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20" name="">
            <a:extLst xmlns:a="http://schemas.openxmlformats.org/drawingml/2006/main">
              <a:ext uri="{FF2B5EF4-FFF2-40B4-BE49-F238E27FC236}">
                <a16:creationId xmlns:a16="http://schemas.microsoft.com/office/drawing/2014/main" id="{0AEE8D45-B433-409F-9EB2-A522D92BF888}"/>
              </a:ext>
            </a:extLst>
          </p:cNvPr>
          <p:cNvSpPr>
            <a:spLocks xmlns:a="http://schemas.openxmlformats.org/drawingml/2006/main" noGrp="1"/>
          </p:cNvSpPr>
          <p:nvPr/>
        </p:nvSpPr>
        <p:spPr>
          <a:xfrm xmlns:a="http://schemas.openxmlformats.org/drawingml/2006/main">
            <a:off x="53149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F920A10-339A-43CF-B903-F543D86B2603}"/>
              </a:ext>
            </a:extLst>
          </p:cNvPr>
          <p:cNvSpPr>
            <a:spLocks xmlns:a="http://schemas.openxmlformats.org/drawingml/2006/main" noGrp="1"/>
          </p:cNvSpPr>
          <p:nvPr/>
        </p:nvSpPr>
        <p:spPr>
          <a:xfrm xmlns:a="http://schemas.openxmlformats.org/drawingml/2006/main">
            <a:off x="53149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F315EBE1-D0E9-40E8-A177-F310999A398D}"/>
              </a:ext>
            </a:extLst>
          </p:cNvPr>
          <p:cNvSpPr>
            <a:spLocks xmlns:a="http://schemas.openxmlformats.org/drawingml/2006/main" noGrp="1"/>
          </p:cNvSpPr>
          <p:nvPr/>
        </p:nvSpPr>
        <p:spPr>
          <a:xfrm xmlns:a="http://schemas.openxmlformats.org/drawingml/2006/main">
            <a:off x="53149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Model comparison</a:t>
            </a:r>
          </a:p>
        </p:txBody>
      </p:sp>
      <p:sp>
        <p:nvSpPr>
          <p:cNvPr id="23" name="">
            <a:extLst xmlns:a="http://schemas.openxmlformats.org/drawingml/2006/main">
              <a:ext uri="{FF2B5EF4-FFF2-40B4-BE49-F238E27FC236}">
                <a16:creationId xmlns:a16="http://schemas.microsoft.com/office/drawing/2014/main" id="{27930152-7C78-4283-AB5B-A4B843838096}"/>
              </a:ext>
            </a:extLst>
          </p:cNvPr>
          <p:cNvSpPr>
            <a:spLocks xmlns:a="http://schemas.openxmlformats.org/drawingml/2006/main" noGrp="1"/>
          </p:cNvSpPr>
          <p:nvPr/>
        </p:nvSpPr>
        <p:spPr>
          <a:xfrm xmlns:a="http://schemas.openxmlformats.org/drawingml/2006/main">
            <a:off x="53149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24" name="">
            <a:extLst xmlns:a="http://schemas.openxmlformats.org/drawingml/2006/main">
              <a:ext uri="{FF2B5EF4-FFF2-40B4-BE49-F238E27FC236}">
                <a16:creationId xmlns:a16="http://schemas.microsoft.com/office/drawing/2014/main" id="{F11E8007-C608-49D5-8C7E-387767304C2B}"/>
              </a:ext>
            </a:extLst>
          </p:cNvPr>
          <p:cNvSpPr>
            <a:spLocks xmlns:a="http://schemas.openxmlformats.org/drawingml/2006/main" noGrp="1"/>
          </p:cNvSpPr>
          <p:nvPr/>
        </p:nvSpPr>
        <p:spPr>
          <a:xfrm xmlns:a="http://schemas.openxmlformats.org/drawingml/2006/main">
            <a:off x="53149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Action-cost labels compare five candidate model families.</a:t>
            </a:r>
          </a:p>
        </p:txBody>
      </p:sp>
      <p:sp>
        <p:nvSpPr>
          <p:cNvPr id="25" name="">
            <a:extLst xmlns:a="http://schemas.openxmlformats.org/drawingml/2006/main">
              <a:ext uri="{FF2B5EF4-FFF2-40B4-BE49-F238E27FC236}">
                <a16:creationId xmlns:a16="http://schemas.microsoft.com/office/drawing/2014/main" id="{06A54FB9-94C1-415D-81B5-DF208217B58E}"/>
              </a:ext>
            </a:extLst>
          </p:cNvPr>
          <p:cNvSpPr>
            <a:spLocks xmlns:a="http://schemas.openxmlformats.org/drawingml/2006/main" noGrp="1"/>
          </p:cNvSpPr>
          <p:nvPr/>
        </p:nvSpPr>
        <p:spPr>
          <a:xfrm xmlns:a="http://schemas.openxmlformats.org/drawingml/2006/main">
            <a:off x="53149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The lowest-cost validated model is frozen.</a:t>
            </a:r>
          </a:p>
        </p:txBody>
      </p:sp>
      <p:sp>
        <p:nvSpPr>
          <p:cNvPr id="26" name="">
            <a:extLst xmlns:a="http://schemas.openxmlformats.org/drawingml/2006/main">
              <a:ext uri="{FF2B5EF4-FFF2-40B4-BE49-F238E27FC236}">
                <a16:creationId xmlns:a16="http://schemas.microsoft.com/office/drawing/2014/main" id="{169094D6-8A4E-4042-9A6E-CCCF86E18CA8}"/>
              </a:ext>
            </a:extLst>
          </p:cNvPr>
          <p:cNvSpPr>
            <a:spLocks xmlns:a="http://schemas.openxmlformats.org/drawingml/2006/main" noGrp="1"/>
          </p:cNvSpPr>
          <p:nvPr/>
        </p:nvSpPr>
        <p:spPr>
          <a:xfrm xmlns:a="http://schemas.openxmlformats.org/drawingml/2006/main">
            <a:off x="7505700" y="1657350"/>
            <a:ext cx="1905000" cy="3143250"/>
          </a:xfrm>
          <a:prstGeom xmlns:a="http://schemas.openxmlformats.org/drawingml/2006/main" prst="rect">
            <a:avLst/>
          </a:prstGeom>
          <a:solidFill xmlns:a="http://schemas.openxmlformats.org/drawingml/2006/main">
            <a:srgbClr val="E8F0FA"/>
          </a:solidFill>
          <a:ln xmlns:a="http://schemas.openxmlformats.org/drawingml/2006/main" w="17145">
            <a:solidFill>
              <a:srgbClr val="1E5AA8"/>
            </a:solidFill>
            <a:prstDash val="solid"/>
          </a:ln>
        </p:spPr>
      </p:sp>
      <p:sp>
        <p:nvSpPr>
          <p:cNvPr id="27" name="">
            <a:extLst xmlns:a="http://schemas.openxmlformats.org/drawingml/2006/main">
              <a:ext uri="{FF2B5EF4-FFF2-40B4-BE49-F238E27FC236}">
                <a16:creationId xmlns:a16="http://schemas.microsoft.com/office/drawing/2014/main" id="{B9709C16-A675-47DA-9598-63094F76AEBF}"/>
              </a:ext>
            </a:extLst>
          </p:cNvPr>
          <p:cNvSpPr>
            <a:spLocks xmlns:a="http://schemas.openxmlformats.org/drawingml/2006/main" noGrp="1"/>
          </p:cNvSpPr>
          <p:nvPr/>
        </p:nvSpPr>
        <p:spPr>
          <a:xfrm xmlns:a="http://schemas.openxmlformats.org/drawingml/2006/main">
            <a:off x="7677150" y="1847850"/>
            <a:ext cx="342900" cy="3429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C0105CE-F677-462E-844B-787C602AFA99}"/>
              </a:ext>
            </a:extLst>
          </p:cNvPr>
          <p:cNvSpPr>
            <a:spLocks xmlns:a="http://schemas.openxmlformats.org/drawingml/2006/main" noGrp="1"/>
          </p:cNvSpPr>
          <p:nvPr/>
        </p:nvSpPr>
        <p:spPr>
          <a:xfrm xmlns:a="http://schemas.openxmlformats.org/drawingml/2006/main">
            <a:off x="76771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
            <a:extLst xmlns:a="http://schemas.openxmlformats.org/drawingml/2006/main">
              <a:ext uri="{FF2B5EF4-FFF2-40B4-BE49-F238E27FC236}">
                <a16:creationId xmlns:a16="http://schemas.microsoft.com/office/drawing/2014/main" id="{B5565AE2-0144-44AF-9366-0A927FB073FC}"/>
              </a:ext>
            </a:extLst>
          </p:cNvPr>
          <p:cNvSpPr>
            <a:spLocks xmlns:a="http://schemas.openxmlformats.org/drawingml/2006/main" noGrp="1"/>
          </p:cNvSpPr>
          <p:nvPr/>
        </p:nvSpPr>
        <p:spPr>
          <a:xfrm xmlns:a="http://schemas.openxmlformats.org/drawingml/2006/main">
            <a:off x="76771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Dynamic V3 router</a:t>
            </a:r>
          </a:p>
        </p:txBody>
      </p:sp>
      <p:sp>
        <p:nvSpPr>
          <p:cNvPr id="30" name="">
            <a:extLst xmlns:a="http://schemas.openxmlformats.org/drawingml/2006/main">
              <a:ext uri="{FF2B5EF4-FFF2-40B4-BE49-F238E27FC236}">
                <a16:creationId xmlns:a16="http://schemas.microsoft.com/office/drawing/2014/main" id="{827083AA-91E6-4040-B97B-8FA7EA031A3A}"/>
              </a:ext>
            </a:extLst>
          </p:cNvPr>
          <p:cNvSpPr>
            <a:spLocks xmlns:a="http://schemas.openxmlformats.org/drawingml/2006/main" noGrp="1"/>
          </p:cNvSpPr>
          <p:nvPr/>
        </p:nvSpPr>
        <p:spPr>
          <a:xfrm xmlns:a="http://schemas.openxmlformats.org/drawingml/2006/main">
            <a:off x="76771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31" name="">
            <a:extLst xmlns:a="http://schemas.openxmlformats.org/drawingml/2006/main">
              <a:ext uri="{FF2B5EF4-FFF2-40B4-BE49-F238E27FC236}">
                <a16:creationId xmlns:a16="http://schemas.microsoft.com/office/drawing/2014/main" id="{B5BB7A1A-398E-4867-8D6A-CC0BABE3ED73}"/>
              </a:ext>
            </a:extLst>
          </p:cNvPr>
          <p:cNvSpPr>
            <a:spLocks xmlns:a="http://schemas.openxmlformats.org/drawingml/2006/main" noGrp="1"/>
          </p:cNvSpPr>
          <p:nvPr/>
        </p:nvSpPr>
        <p:spPr>
          <a:xfrm xmlns:a="http://schemas.openxmlformats.org/drawingml/2006/main">
            <a:off x="76771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Confidence, dwell, and safe-boundary checks control switching.</a:t>
            </a:r>
          </a:p>
        </p:txBody>
      </p:sp>
      <p:sp>
        <p:nvSpPr>
          <p:cNvPr id="32" name="">
            <a:extLst xmlns:a="http://schemas.openxmlformats.org/drawingml/2006/main">
              <a:ext uri="{FF2B5EF4-FFF2-40B4-BE49-F238E27FC236}">
                <a16:creationId xmlns:a16="http://schemas.microsoft.com/office/drawing/2014/main" id="{0A4A4861-B427-4DE5-9398-0E76186BF32D}"/>
              </a:ext>
            </a:extLst>
          </p:cNvPr>
          <p:cNvSpPr>
            <a:spLocks xmlns:a="http://schemas.openxmlformats.org/drawingml/2006/main" noGrp="1"/>
          </p:cNvSpPr>
          <p:nvPr/>
        </p:nvSpPr>
        <p:spPr>
          <a:xfrm xmlns:a="http://schemas.openxmlformats.org/drawingml/2006/main">
            <a:off x="76771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The model suggests. Guardrails decide.</a:t>
            </a:r>
          </a:p>
        </p:txBody>
      </p:sp>
      <p:sp>
        <p:nvSpPr>
          <p:cNvPr id="33" name="">
            <a:extLst xmlns:a="http://schemas.openxmlformats.org/drawingml/2006/main">
              <a:ext uri="{FF2B5EF4-FFF2-40B4-BE49-F238E27FC236}">
                <a16:creationId xmlns:a16="http://schemas.microsoft.com/office/drawing/2014/main" id="{F3FD5E3E-A681-4366-93F2-F0D82D324EE1}"/>
              </a:ext>
            </a:extLst>
          </p:cNvPr>
          <p:cNvSpPr>
            <a:spLocks xmlns:a="http://schemas.openxmlformats.org/drawingml/2006/main" noGrp="1"/>
          </p:cNvSpPr>
          <p:nvPr/>
        </p:nvSpPr>
        <p:spPr>
          <a:xfrm xmlns:a="http://schemas.openxmlformats.org/drawingml/2006/main">
            <a:off x="98679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34" name="">
            <a:extLst xmlns:a="http://schemas.openxmlformats.org/drawingml/2006/main">
              <a:ext uri="{FF2B5EF4-FFF2-40B4-BE49-F238E27FC236}">
                <a16:creationId xmlns:a16="http://schemas.microsoft.com/office/drawing/2014/main" id="{A4640FC5-8E18-458C-8624-AEFACA11815D}"/>
              </a:ext>
            </a:extLst>
          </p:cNvPr>
          <p:cNvSpPr>
            <a:spLocks xmlns:a="http://schemas.openxmlformats.org/drawingml/2006/main" noGrp="1"/>
          </p:cNvSpPr>
          <p:nvPr/>
        </p:nvSpPr>
        <p:spPr>
          <a:xfrm xmlns:a="http://schemas.openxmlformats.org/drawingml/2006/main">
            <a:off x="100393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C1A43E3-EA88-41A3-8613-1DB61D93FFB5}"/>
              </a:ext>
            </a:extLst>
          </p:cNvPr>
          <p:cNvSpPr>
            <a:spLocks xmlns:a="http://schemas.openxmlformats.org/drawingml/2006/main" noGrp="1"/>
          </p:cNvSpPr>
          <p:nvPr/>
        </p:nvSpPr>
        <p:spPr>
          <a:xfrm xmlns:a="http://schemas.openxmlformats.org/drawingml/2006/main">
            <a:off x="100393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6" name="">
            <a:extLst xmlns:a="http://schemas.openxmlformats.org/drawingml/2006/main">
              <a:ext uri="{FF2B5EF4-FFF2-40B4-BE49-F238E27FC236}">
                <a16:creationId xmlns:a16="http://schemas.microsoft.com/office/drawing/2014/main" id="{3A455AE9-0CDF-40F5-829D-3710D34ED265}"/>
              </a:ext>
            </a:extLst>
          </p:cNvPr>
          <p:cNvSpPr>
            <a:spLocks xmlns:a="http://schemas.openxmlformats.org/drawingml/2006/main" noGrp="1"/>
          </p:cNvSpPr>
          <p:nvPr/>
        </p:nvSpPr>
        <p:spPr>
          <a:xfrm xmlns:a="http://schemas.openxmlformats.org/drawingml/2006/main">
            <a:off x="100393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Shared simulator</a:t>
            </a:r>
          </a:p>
        </p:txBody>
      </p:sp>
      <p:sp>
        <p:nvSpPr>
          <p:cNvPr id="37" name="">
            <a:extLst xmlns:a="http://schemas.openxmlformats.org/drawingml/2006/main">
              <a:ext uri="{FF2B5EF4-FFF2-40B4-BE49-F238E27FC236}">
                <a16:creationId xmlns:a16="http://schemas.microsoft.com/office/drawing/2014/main" id="{8EAAA0CB-339F-4D5F-89C4-25B2A586174E}"/>
              </a:ext>
            </a:extLst>
          </p:cNvPr>
          <p:cNvSpPr>
            <a:spLocks xmlns:a="http://schemas.openxmlformats.org/drawingml/2006/main" noGrp="1"/>
          </p:cNvSpPr>
          <p:nvPr/>
        </p:nvSpPr>
        <p:spPr>
          <a:xfrm xmlns:a="http://schemas.openxmlformats.org/drawingml/2006/main">
            <a:off x="100393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38" name="">
            <a:extLst xmlns:a="http://schemas.openxmlformats.org/drawingml/2006/main">
              <a:ext uri="{FF2B5EF4-FFF2-40B4-BE49-F238E27FC236}">
                <a16:creationId xmlns:a16="http://schemas.microsoft.com/office/drawing/2014/main" id="{5066C6BE-66DA-4512-9BED-5703C29ECF62}"/>
              </a:ext>
            </a:extLst>
          </p:cNvPr>
          <p:cNvSpPr>
            <a:spLocks xmlns:a="http://schemas.openxmlformats.org/drawingml/2006/main" noGrp="1"/>
          </p:cNvSpPr>
          <p:nvPr/>
        </p:nvSpPr>
        <p:spPr>
          <a:xfrm xmlns:a="http://schemas.openxmlformats.org/drawingml/2006/main">
            <a:off x="100393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Policies run through one engine with metrics, logs, and a Gantt chart.</a:t>
            </a:r>
          </a:p>
        </p:txBody>
      </p:sp>
      <p:sp>
        <p:nvSpPr>
          <p:cNvPr id="39" name="">
            <a:extLst xmlns:a="http://schemas.openxmlformats.org/drawingml/2006/main">
              <a:ext uri="{FF2B5EF4-FFF2-40B4-BE49-F238E27FC236}">
                <a16:creationId xmlns:a16="http://schemas.microsoft.com/office/drawing/2014/main" id="{02BF39C1-BA7F-46C2-A8DA-67E3237F1CAE}"/>
              </a:ext>
            </a:extLst>
          </p:cNvPr>
          <p:cNvSpPr>
            <a:spLocks xmlns:a="http://schemas.openxmlformats.org/drawingml/2006/main" noGrp="1"/>
          </p:cNvSpPr>
          <p:nvPr/>
        </p:nvSpPr>
        <p:spPr>
          <a:xfrm xmlns:a="http://schemas.openxmlformats.org/drawingml/2006/main">
            <a:off x="100393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Every scheduler faces the same test.</a:t>
            </a:r>
          </a:p>
        </p:txBody>
      </p:sp>
      <p:sp>
        <p:nvSpPr>
          <p:cNvPr id="44" name="">
            <a:extLst xmlns:a="http://schemas.openxmlformats.org/drawingml/2006/main">
              <a:ext uri="{FF2B5EF4-FFF2-40B4-BE49-F238E27FC236}">
                <a16:creationId xmlns:a16="http://schemas.microsoft.com/office/drawing/2014/main" id="{3917736C-28C6-4AFF-9FB8-4666698F97B7}"/>
              </a:ext>
            </a:extLst>
          </p:cNvPr>
          <p:cNvSpPr>
            <a:spLocks xmlns:a="http://schemas.openxmlformats.org/drawingml/2006/main" noGrp="1"/>
          </p:cNvSpPr>
          <p:nvPr/>
        </p:nvSpPr>
        <p:spPr>
          <a:xfrm xmlns:a="http://schemas.openxmlformats.org/drawingml/2006/main">
            <a:off x="1314450" y="5200650"/>
            <a:ext cx="9563100" cy="762000"/>
          </a:xfrm>
          <a:prstGeom xmlns:a="http://schemas.openxmlformats.org/drawingml/2006/main" prst="rect">
            <a:avLst/>
          </a:prstGeom>
          <a:solidFill xmlns:a="http://schemas.openxmlformats.org/drawingml/2006/main">
            <a:srgbClr val="FFFFFF"/>
          </a:solidFill>
          <a:ln xmlns:a="http://schemas.openxmlformats.org/drawingml/2006/main" w="11430">
            <a:solidFill>
              <a:srgbClr val="555B63"/>
            </a:solidFill>
            <a:prstDash val="dash"/>
          </a:ln>
        </p:spPr>
      </p:sp>
      <p:sp>
        <p:nvSpPr>
          <p:cNvPr id="45" name="">
            <a:extLst xmlns:a="http://schemas.openxmlformats.org/drawingml/2006/main">
              <a:ext uri="{FF2B5EF4-FFF2-40B4-BE49-F238E27FC236}">
                <a16:creationId xmlns:a16="http://schemas.microsoft.com/office/drawing/2014/main" id="{8D5CF97C-F677-4842-B4A3-8F40F155B478}"/>
              </a:ext>
            </a:extLst>
          </p:cNvPr>
          <p:cNvSpPr>
            <a:spLocks xmlns:a="http://schemas.openxmlformats.org/drawingml/2006/main" noGrp="1"/>
          </p:cNvSpPr>
          <p:nvPr/>
        </p:nvSpPr>
        <p:spPr>
          <a:xfrm xmlns:a="http://schemas.openxmlformats.org/drawingml/2006/main">
            <a:off x="1524000" y="53530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E5AA8"/>
                </a:solidFill>
                <a:latin typeface="Arial"/>
                <a:ea typeface="Arial"/>
                <a:cs typeface="Arial"/>
              </a:defRPr>
            </a:defPPr>
            <a:lvl1pPr>
              <a:defRPr sz="1275" b="1" i="0">
                <a:solidFill>
                  <a:srgbClr val="1E5AA8"/>
                </a:solidFill>
                <a:latin typeface="Arial"/>
                <a:ea typeface="Arial"/>
                <a:cs typeface="Arial"/>
              </a:defRPr>
            </a:lvl1pPr>
            <a:lvl2pPr>
              <a:defRPr sz="1275" b="1" i="0">
                <a:solidFill>
                  <a:srgbClr val="1E5AA8"/>
                </a:solidFill>
                <a:latin typeface="Arial"/>
                <a:ea typeface="Arial"/>
                <a:cs typeface="Arial"/>
              </a:defRPr>
            </a:lvl2pPr>
            <a:lvl3pPr>
              <a:defRPr sz="1275" b="1" i="0">
                <a:solidFill>
                  <a:srgbClr val="1E5AA8"/>
                </a:solidFill>
                <a:latin typeface="Arial"/>
                <a:ea typeface="Arial"/>
                <a:cs typeface="Arial"/>
              </a:defRPr>
            </a:lvl3pPr>
            <a:lvl4pPr>
              <a:defRPr sz="1275" b="1" i="0">
                <a:solidFill>
                  <a:srgbClr val="1E5AA8"/>
                </a:solidFill>
                <a:latin typeface="Arial"/>
                <a:ea typeface="Arial"/>
                <a:cs typeface="Arial"/>
              </a:defRPr>
            </a:lvl4pPr>
            <a:lvl5pPr>
              <a:defRPr sz="1275" b="1" i="0">
                <a:solidFill>
                  <a:srgbClr val="1E5AA8"/>
                </a:solidFill>
                <a:latin typeface="Arial"/>
                <a:ea typeface="Arial"/>
                <a:cs typeface="Arial"/>
              </a:defRPr>
            </a:lvl5pPr>
            <a:lvl6pPr>
              <a:defRPr sz="1275" b="1" i="0">
                <a:solidFill>
                  <a:srgbClr val="1E5AA8"/>
                </a:solidFill>
                <a:latin typeface="Arial"/>
                <a:ea typeface="Arial"/>
                <a:cs typeface="Arial"/>
              </a:defRPr>
            </a:lvl6pPr>
            <a:lvl7pPr>
              <a:defRPr sz="1275" b="1" i="0">
                <a:solidFill>
                  <a:srgbClr val="1E5AA8"/>
                </a:solidFill>
                <a:latin typeface="Arial"/>
                <a:ea typeface="Arial"/>
                <a:cs typeface="Arial"/>
              </a:defRPr>
            </a:lvl7pPr>
            <a:lvl8pPr>
              <a:defRPr sz="1275" b="1" i="0">
                <a:solidFill>
                  <a:srgbClr val="1E5AA8"/>
                </a:solidFill>
                <a:latin typeface="Arial"/>
                <a:ea typeface="Arial"/>
                <a:cs typeface="Arial"/>
              </a:defRPr>
            </a:lvl8pPr>
            <a:lvl9pPr>
              <a:defRPr sz="1275" b="1" i="0">
                <a:solidFill>
                  <a:srgbClr val="1E5AA8"/>
                </a:solidFill>
                <a:latin typeface="Arial"/>
                <a:ea typeface="Arial"/>
                <a:cs typeface="Arial"/>
              </a:defRPr>
            </a:lvl9pPr>
          </a:lstStyle>
          <a:p xmlns:a="http://schemas.openxmlformats.org/drawingml/2006/main">
            <a:pPr>
              <a:defRPr sz="1275" b="1" i="0">
                <a:solidFill>
                  <a:srgbClr val="1E5AA8"/>
                </a:solidFill>
                <a:latin typeface="Arial"/>
                <a:ea typeface="Arial"/>
                <a:cs typeface="Arial"/>
              </a:defRPr>
            </a:pPr>
            <a:r>
              <a:rPr sz="1275" b="1" i="0">
                <a:solidFill>
                  <a:srgbClr val="1E5AA8"/>
                </a:solidFill>
                <a:latin typeface="Arial"/>
                <a:ea typeface="Arial"/>
                <a:cs typeface="Arial"/>
              </a:rPr>
              <a:t>Frozen research contract</a:t>
            </a:r>
          </a:p>
        </p:txBody>
      </p:sp>
      <p:sp>
        <p:nvSpPr>
          <p:cNvPr id="46" name="">
            <a:extLst xmlns:a="http://schemas.openxmlformats.org/drawingml/2006/main">
              <a:ext uri="{FF2B5EF4-FFF2-40B4-BE49-F238E27FC236}">
                <a16:creationId xmlns:a16="http://schemas.microsoft.com/office/drawing/2014/main" id="{0A71C41E-552A-44D6-97E8-204881EAFF8E}"/>
              </a:ext>
            </a:extLst>
          </p:cNvPr>
          <p:cNvSpPr>
            <a:spLocks xmlns:a="http://schemas.openxmlformats.org/drawingml/2006/main" noGrp="1"/>
          </p:cNvSpPr>
          <p:nvPr/>
        </p:nvSpPr>
        <p:spPr>
          <a:xfrm xmlns:a="http://schemas.openxmlformats.org/drawingml/2006/main">
            <a:off x="3848100" y="5343525"/>
            <a:ext cx="6705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Fixed policy set, score weights, feature rules, seeds, latency gate, and evidence boundary.</a:t>
            </a:r>
          </a:p>
        </p:txBody>
      </p:sp>
      <p:sp>
        <p:nvSpPr>
          <p:cNvPr id="47" name="">
            <a:extLst xmlns:a="http://schemas.openxmlformats.org/drawingml/2006/main">
              <a:ext uri="{FF2B5EF4-FFF2-40B4-BE49-F238E27FC236}">
                <a16:creationId xmlns:a16="http://schemas.microsoft.com/office/drawing/2014/main" id="{3D2D2DEE-504C-4E1A-B4A1-D87FEE5EE0A0}"/>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Architecture precedents: [1] policy selection  [2] learned routing  [3] separated learning and execution</a:t>
            </a:r>
          </a:p>
        </p:txBody>
      </p:sp>
    </p:spTree>
    <p:extLst>
      <p:ext uri="{BB962C8B-B14F-4D97-AF65-F5344CB8AC3E}">
        <p14:creationId xmlns:p14="http://schemas.microsoft.com/office/powerpoint/2010/main" val="1346298400"/>
      </p:ext>
    </p:extLst>
  </p:cSld>
</p:sld>
</file>

<file path=ppt/slides/slide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8D7F09F-56A9-4B68-80E9-054E9092838D}"/>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4C484A9A-C888-4B1C-AE6C-C7608E98FDA4}"/>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Five model families under one experiment contract</a:t>
            </a:r>
          </a:p>
        </p:txBody>
      </p:sp>
      <p:sp>
        <p:nvSpPr>
          <p:cNvPr id="3" name="">
            <a:extLst xmlns:a="http://schemas.openxmlformats.org/drawingml/2006/main">
              <a:ext uri="{FF2B5EF4-FFF2-40B4-BE49-F238E27FC236}">
                <a16:creationId xmlns:a16="http://schemas.microsoft.com/office/drawing/2014/main" id="{4198B07A-197B-469C-B829-7AD898141D3F}"/>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6F0785D5-1F09-4116-8610-69B99C4577E4}"/>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410B95C-E3CA-4848-BD97-5F3E1D0439F8}"/>
              </a:ext>
            </a:extLst>
          </p:cNvPr>
          <p:cNvSpPr>
            <a:spLocks xmlns:a="http://schemas.openxmlformats.org/drawingml/2006/main" noGrp="1"/>
          </p:cNvSpPr>
          <p:nvPr/>
        </p:nvSpPr>
        <p:spPr>
          <a:xfrm xmlns:a="http://schemas.openxmlformats.org/drawingml/2006/main">
            <a:off x="609600" y="1409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BB23D012-6957-437D-894B-8477BA9F705E}"/>
              </a:ext>
            </a:extLst>
          </p:cNvPr>
          <p:cNvSpPr>
            <a:spLocks xmlns:a="http://schemas.openxmlformats.org/drawingml/2006/main" noGrp="1"/>
          </p:cNvSpPr>
          <p:nvPr/>
        </p:nvSpPr>
        <p:spPr>
          <a:xfrm xmlns:a="http://schemas.openxmlformats.org/drawingml/2006/main">
            <a:off x="1104900" y="13716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Dummy</a:t>
            </a:r>
          </a:p>
        </p:txBody>
      </p:sp>
      <p:sp>
        <p:nvSpPr>
          <p:cNvPr id="7" name="">
            <a:extLst xmlns:a="http://schemas.openxmlformats.org/drawingml/2006/main">
              <a:ext uri="{FF2B5EF4-FFF2-40B4-BE49-F238E27FC236}">
                <a16:creationId xmlns:a16="http://schemas.microsoft.com/office/drawing/2014/main" id="{5F0D5661-4C91-4770-969B-04C342A874D4}"/>
              </a:ext>
            </a:extLst>
          </p:cNvPr>
          <p:cNvSpPr>
            <a:spLocks xmlns:a="http://schemas.openxmlformats.org/drawingml/2006/main" noGrp="1"/>
          </p:cNvSpPr>
          <p:nvPr/>
        </p:nvSpPr>
        <p:spPr>
          <a:xfrm xmlns:a="http://schemas.openxmlformats.org/drawingml/2006/main">
            <a:off x="3714750" y="13716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Minimum baseline</a:t>
            </a:r>
          </a:p>
        </p:txBody>
      </p:sp>
      <p:sp>
        <p:nvSpPr>
          <p:cNvPr id="8" name="">
            <a:extLst xmlns:a="http://schemas.openxmlformats.org/drawingml/2006/main">
              <a:ext uri="{FF2B5EF4-FFF2-40B4-BE49-F238E27FC236}">
                <a16:creationId xmlns:a16="http://schemas.microsoft.com/office/drawing/2014/main" id="{79E8F09F-87BB-488C-B626-74B48767AC60}"/>
              </a:ext>
            </a:extLst>
          </p:cNvPr>
          <p:cNvSpPr>
            <a:spLocks xmlns:a="http://schemas.openxmlformats.org/drawingml/2006/main" noGrp="1"/>
          </p:cNvSpPr>
          <p:nvPr/>
        </p:nvSpPr>
        <p:spPr>
          <a:xfrm xmlns:a="http://schemas.openxmlformats.org/drawingml/2006/main">
            <a:off x="6324600" y="13716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Repeats a simple reference prediction.</a:t>
            </a:r>
          </a:p>
        </p:txBody>
      </p:sp>
      <p:sp>
        <p:nvSpPr>
          <p:cNvPr id="9" name="">
            <a:extLst xmlns:a="http://schemas.openxmlformats.org/drawingml/2006/main">
              <a:ext uri="{FF2B5EF4-FFF2-40B4-BE49-F238E27FC236}">
                <a16:creationId xmlns:a16="http://schemas.microsoft.com/office/drawing/2014/main" id="{9E424271-9008-4632-BDB4-AEF38BF2B11B}"/>
              </a:ext>
            </a:extLst>
          </p:cNvPr>
          <p:cNvSpPr>
            <a:spLocks xmlns:a="http://schemas.openxmlformats.org/drawingml/2006/main" noGrp="1"/>
          </p:cNvSpPr>
          <p:nvPr/>
        </p:nvSpPr>
        <p:spPr>
          <a:xfrm xmlns:a="http://schemas.openxmlformats.org/drawingml/2006/main">
            <a:off x="1104900" y="1981200"/>
            <a:ext cx="9982200" cy="0"/>
          </a:xfrm>
          <a:prstGeom xmlns:a="http://schemas.openxmlformats.org/drawingml/2006/main" prst="line">
            <a:avLst/>
          </a:prstGeom>
          <a:ln xmlns:a="http://schemas.openxmlformats.org/drawingml/2006/main" w="9525">
            <a:solidFill>
              <a:srgbClr val="D6DADE"/>
            </a:solidFill>
            <a:prstDash val="solid"/>
          </a:ln>
        </p:spPr>
      </p:sp>
      <p:sp>
        <p:nvSpPr>
          <p:cNvPr id="10" name="">
            <a:extLst xmlns:a="http://schemas.openxmlformats.org/drawingml/2006/main">
              <a:ext uri="{FF2B5EF4-FFF2-40B4-BE49-F238E27FC236}">
                <a16:creationId xmlns:a16="http://schemas.microsoft.com/office/drawing/2014/main" id="{A0896647-B24A-4533-B82D-5AB6C11D7F3D}"/>
              </a:ext>
            </a:extLst>
          </p:cNvPr>
          <p:cNvSpPr>
            <a:spLocks xmlns:a="http://schemas.openxmlformats.org/drawingml/2006/main" noGrp="1"/>
          </p:cNvSpPr>
          <p:nvPr/>
        </p:nvSpPr>
        <p:spPr>
          <a:xfrm xmlns:a="http://schemas.openxmlformats.org/drawingml/2006/main">
            <a:off x="609600" y="2305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7B95A2D9-A408-4262-9BDB-D41A5CE59FC7}"/>
              </a:ext>
            </a:extLst>
          </p:cNvPr>
          <p:cNvSpPr>
            <a:spLocks xmlns:a="http://schemas.openxmlformats.org/drawingml/2006/main" noGrp="1"/>
          </p:cNvSpPr>
          <p:nvPr/>
        </p:nvSpPr>
        <p:spPr>
          <a:xfrm xmlns:a="http://schemas.openxmlformats.org/drawingml/2006/main">
            <a:off x="1104900" y="2266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Ridge</a:t>
            </a:r>
          </a:p>
        </p:txBody>
      </p:sp>
      <p:sp>
        <p:nvSpPr>
          <p:cNvPr id="12" name="">
            <a:extLst xmlns:a="http://schemas.openxmlformats.org/drawingml/2006/main">
              <a:ext uri="{FF2B5EF4-FFF2-40B4-BE49-F238E27FC236}">
                <a16:creationId xmlns:a16="http://schemas.microsoft.com/office/drawing/2014/main" id="{77CDD991-9B23-436E-B85F-119F90E8CD4C}"/>
              </a:ext>
            </a:extLst>
          </p:cNvPr>
          <p:cNvSpPr>
            <a:spLocks xmlns:a="http://schemas.openxmlformats.org/drawingml/2006/main" noGrp="1"/>
          </p:cNvSpPr>
          <p:nvPr/>
        </p:nvSpPr>
        <p:spPr>
          <a:xfrm xmlns:a="http://schemas.openxmlformats.org/drawingml/2006/main">
            <a:off x="3714750" y="22669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Fast linear estimator</a:t>
            </a:r>
          </a:p>
        </p:txBody>
      </p:sp>
      <p:sp>
        <p:nvSpPr>
          <p:cNvPr id="13" name="">
            <a:extLst xmlns:a="http://schemas.openxmlformats.org/drawingml/2006/main">
              <a:ext uri="{FF2B5EF4-FFF2-40B4-BE49-F238E27FC236}">
                <a16:creationId xmlns:a16="http://schemas.microsoft.com/office/drawing/2014/main" id="{E51C716F-6863-4CE5-A7F4-94516CD511C6}"/>
              </a:ext>
            </a:extLst>
          </p:cNvPr>
          <p:cNvSpPr>
            <a:spLocks xmlns:a="http://schemas.openxmlformats.org/drawingml/2006/main" noGrp="1"/>
          </p:cNvSpPr>
          <p:nvPr/>
        </p:nvSpPr>
        <p:spPr>
          <a:xfrm xmlns:a="http://schemas.openxmlformats.org/drawingml/2006/main">
            <a:off x="6324600" y="22669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Fits one regularized linear cost function.</a:t>
            </a:r>
          </a:p>
        </p:txBody>
      </p:sp>
      <p:sp>
        <p:nvSpPr>
          <p:cNvPr id="14" name="">
            <a:extLst xmlns:a="http://schemas.openxmlformats.org/drawingml/2006/main">
              <a:ext uri="{FF2B5EF4-FFF2-40B4-BE49-F238E27FC236}">
                <a16:creationId xmlns:a16="http://schemas.microsoft.com/office/drawing/2014/main" id="{7374A117-60DF-43C2-95B5-127ED45E0FFC}"/>
              </a:ext>
            </a:extLst>
          </p:cNvPr>
          <p:cNvSpPr>
            <a:spLocks xmlns:a="http://schemas.openxmlformats.org/drawingml/2006/main" noGrp="1"/>
          </p:cNvSpPr>
          <p:nvPr/>
        </p:nvSpPr>
        <p:spPr>
          <a:xfrm xmlns:a="http://schemas.openxmlformats.org/drawingml/2006/main">
            <a:off x="1104900" y="2876550"/>
            <a:ext cx="9982200" cy="0"/>
          </a:xfrm>
          <a:prstGeom xmlns:a="http://schemas.openxmlformats.org/drawingml/2006/main" prst="line">
            <a:avLst/>
          </a:prstGeom>
          <a:ln xmlns:a="http://schemas.openxmlformats.org/drawingml/2006/main" w="9525">
            <a:solidFill>
              <a:srgbClr val="D6DADE"/>
            </a:solidFill>
            <a:prstDash val="solid"/>
          </a:ln>
        </p:spPr>
      </p:sp>
      <p:sp>
        <p:nvSpPr>
          <p:cNvPr id="15" name="">
            <a:extLst xmlns:a="http://schemas.openxmlformats.org/drawingml/2006/main">
              <a:ext uri="{FF2B5EF4-FFF2-40B4-BE49-F238E27FC236}">
                <a16:creationId xmlns:a16="http://schemas.microsoft.com/office/drawing/2014/main" id="{07B7DFF0-5A23-4BED-A35F-211BD61F8EA7}"/>
              </a:ext>
            </a:extLst>
          </p:cNvPr>
          <p:cNvSpPr>
            <a:spLocks xmlns:a="http://schemas.openxmlformats.org/drawingml/2006/main" noGrp="1"/>
          </p:cNvSpPr>
          <p:nvPr/>
        </p:nvSpPr>
        <p:spPr>
          <a:xfrm xmlns:a="http://schemas.openxmlformats.org/drawingml/2006/main">
            <a:off x="609600" y="32004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068BC1FC-F98F-408C-A7CA-89EB472825BB}"/>
              </a:ext>
            </a:extLst>
          </p:cNvPr>
          <p:cNvSpPr>
            <a:spLocks xmlns:a="http://schemas.openxmlformats.org/drawingml/2006/main" noGrp="1"/>
          </p:cNvSpPr>
          <p:nvPr/>
        </p:nvSpPr>
        <p:spPr>
          <a:xfrm xmlns:a="http://schemas.openxmlformats.org/drawingml/2006/main">
            <a:off x="1104900" y="31623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Decision Tree</a:t>
            </a:r>
          </a:p>
        </p:txBody>
      </p:sp>
      <p:sp>
        <p:nvSpPr>
          <p:cNvPr id="17" name="">
            <a:extLst xmlns:a="http://schemas.openxmlformats.org/drawingml/2006/main">
              <a:ext uri="{FF2B5EF4-FFF2-40B4-BE49-F238E27FC236}">
                <a16:creationId xmlns:a16="http://schemas.microsoft.com/office/drawing/2014/main" id="{23A7F09B-45A3-4EEC-9653-8E936B0B5540}"/>
              </a:ext>
            </a:extLst>
          </p:cNvPr>
          <p:cNvSpPr>
            <a:spLocks xmlns:a="http://schemas.openxmlformats.org/drawingml/2006/main" noGrp="1"/>
          </p:cNvSpPr>
          <p:nvPr/>
        </p:nvSpPr>
        <p:spPr>
          <a:xfrm xmlns:a="http://schemas.openxmlformats.org/drawingml/2006/main">
            <a:off x="3714750" y="31623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Interpretable nonlinear rules</a:t>
            </a:r>
          </a:p>
        </p:txBody>
      </p:sp>
      <p:sp>
        <p:nvSpPr>
          <p:cNvPr id="18" name="">
            <a:extLst xmlns:a="http://schemas.openxmlformats.org/drawingml/2006/main">
              <a:ext uri="{FF2B5EF4-FFF2-40B4-BE49-F238E27FC236}">
                <a16:creationId xmlns:a16="http://schemas.microsoft.com/office/drawing/2014/main" id="{A21EA0CF-EB36-41B0-9CA0-014D1B208B16}"/>
              </a:ext>
            </a:extLst>
          </p:cNvPr>
          <p:cNvSpPr>
            <a:spLocks xmlns:a="http://schemas.openxmlformats.org/drawingml/2006/main" noGrp="1"/>
          </p:cNvSpPr>
          <p:nvPr/>
        </p:nvSpPr>
        <p:spPr>
          <a:xfrm xmlns:a="http://schemas.openxmlformats.org/drawingml/2006/main">
            <a:off x="6324600" y="31623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Splits observed states into readable decisions.</a:t>
            </a:r>
          </a:p>
        </p:txBody>
      </p:sp>
      <p:sp>
        <p:nvSpPr>
          <p:cNvPr id="19" name="">
            <a:extLst xmlns:a="http://schemas.openxmlformats.org/drawingml/2006/main">
              <a:ext uri="{FF2B5EF4-FFF2-40B4-BE49-F238E27FC236}">
                <a16:creationId xmlns:a16="http://schemas.microsoft.com/office/drawing/2014/main" id="{2003E70E-7D8E-4626-A34A-7170A18B00E4}"/>
              </a:ext>
            </a:extLst>
          </p:cNvPr>
          <p:cNvSpPr>
            <a:spLocks xmlns:a="http://schemas.openxmlformats.org/drawingml/2006/main" noGrp="1"/>
          </p:cNvSpPr>
          <p:nvPr/>
        </p:nvSpPr>
        <p:spPr>
          <a:xfrm xmlns:a="http://schemas.openxmlformats.org/drawingml/2006/main">
            <a:off x="1104900" y="3771900"/>
            <a:ext cx="9982200" cy="0"/>
          </a:xfrm>
          <a:prstGeom xmlns:a="http://schemas.openxmlformats.org/drawingml/2006/main" prst="line">
            <a:avLst/>
          </a:prstGeom>
          <a:ln xmlns:a="http://schemas.openxmlformats.org/drawingml/2006/main" w="9525">
            <a:solidFill>
              <a:srgbClr val="D6DADE"/>
            </a:solidFill>
            <a:prstDash val="solid"/>
          </a:ln>
        </p:spPr>
      </p:sp>
      <p:sp>
        <p:nvSpPr>
          <p:cNvPr id="20" name="">
            <a:extLst xmlns:a="http://schemas.openxmlformats.org/drawingml/2006/main">
              <a:ext uri="{FF2B5EF4-FFF2-40B4-BE49-F238E27FC236}">
                <a16:creationId xmlns:a16="http://schemas.microsoft.com/office/drawing/2014/main" id="{6F8C47DA-BD7E-4227-BC33-ECCCB56223B2}"/>
              </a:ext>
            </a:extLst>
          </p:cNvPr>
          <p:cNvSpPr>
            <a:spLocks xmlns:a="http://schemas.openxmlformats.org/drawingml/2006/main" noGrp="1"/>
          </p:cNvSpPr>
          <p:nvPr/>
        </p:nvSpPr>
        <p:spPr>
          <a:xfrm xmlns:a="http://schemas.openxmlformats.org/drawingml/2006/main">
            <a:off x="609600" y="40957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F89796BA-4DC7-4EF9-9DCF-B07BF31F7614}"/>
              </a:ext>
            </a:extLst>
          </p:cNvPr>
          <p:cNvSpPr>
            <a:spLocks xmlns:a="http://schemas.openxmlformats.org/drawingml/2006/main" noGrp="1"/>
          </p:cNvSpPr>
          <p:nvPr/>
        </p:nvSpPr>
        <p:spPr>
          <a:xfrm xmlns:a="http://schemas.openxmlformats.org/drawingml/2006/main">
            <a:off x="1104900" y="4057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Random Forest</a:t>
            </a:r>
          </a:p>
        </p:txBody>
      </p:sp>
      <p:sp>
        <p:nvSpPr>
          <p:cNvPr id="22" name="">
            <a:extLst xmlns:a="http://schemas.openxmlformats.org/drawingml/2006/main">
              <a:ext uri="{FF2B5EF4-FFF2-40B4-BE49-F238E27FC236}">
                <a16:creationId xmlns:a16="http://schemas.microsoft.com/office/drawing/2014/main" id="{1672ECC3-ABF7-4038-883C-40C20ECFBE78}"/>
              </a:ext>
            </a:extLst>
          </p:cNvPr>
          <p:cNvSpPr>
            <a:spLocks xmlns:a="http://schemas.openxmlformats.org/drawingml/2006/main" noGrp="1"/>
          </p:cNvSpPr>
          <p:nvPr/>
        </p:nvSpPr>
        <p:spPr>
          <a:xfrm xmlns:a="http://schemas.openxmlformats.org/drawingml/2006/main">
            <a:off x="3714750" y="40576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Averaged tree ensemble</a:t>
            </a:r>
          </a:p>
        </p:txBody>
      </p:sp>
      <p:sp>
        <p:nvSpPr>
          <p:cNvPr id="23" name="">
            <a:extLst xmlns:a="http://schemas.openxmlformats.org/drawingml/2006/main">
              <a:ext uri="{FF2B5EF4-FFF2-40B4-BE49-F238E27FC236}">
                <a16:creationId xmlns:a16="http://schemas.microsoft.com/office/drawing/2014/main" id="{653184E4-9A6C-48AE-8C81-BB035F35B310}"/>
              </a:ext>
            </a:extLst>
          </p:cNvPr>
          <p:cNvSpPr>
            <a:spLocks xmlns:a="http://schemas.openxmlformats.org/drawingml/2006/main" noGrp="1"/>
          </p:cNvSpPr>
          <p:nvPr/>
        </p:nvSpPr>
        <p:spPr>
          <a:xfrm xmlns:a="http://schemas.openxmlformats.org/drawingml/2006/main">
            <a:off x="6324600" y="4057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Reduces single-tree variance by voting across trees.</a:t>
            </a:r>
          </a:p>
        </p:txBody>
      </p:sp>
      <p:sp>
        <p:nvSpPr>
          <p:cNvPr id="24" name="">
            <a:extLst xmlns:a="http://schemas.openxmlformats.org/drawingml/2006/main">
              <a:ext uri="{FF2B5EF4-FFF2-40B4-BE49-F238E27FC236}">
                <a16:creationId xmlns:a16="http://schemas.microsoft.com/office/drawing/2014/main" id="{5C661B38-8ECB-423B-9247-609722304364}"/>
              </a:ext>
            </a:extLst>
          </p:cNvPr>
          <p:cNvSpPr>
            <a:spLocks xmlns:a="http://schemas.openxmlformats.org/drawingml/2006/main" noGrp="1"/>
          </p:cNvSpPr>
          <p:nvPr/>
        </p:nvSpPr>
        <p:spPr>
          <a:xfrm xmlns:a="http://schemas.openxmlformats.org/drawingml/2006/main">
            <a:off x="1104900" y="4667250"/>
            <a:ext cx="9982200" cy="0"/>
          </a:xfrm>
          <a:prstGeom xmlns:a="http://schemas.openxmlformats.org/drawingml/2006/main" prst="line">
            <a:avLst/>
          </a:prstGeom>
          <a:ln xmlns:a="http://schemas.openxmlformats.org/drawingml/2006/main" w="9525">
            <a:solidFill>
              <a:srgbClr val="D6DADE"/>
            </a:solidFill>
            <a:prstDash val="solid"/>
          </a:ln>
        </p:spPr>
      </p:sp>
      <p:sp>
        <p:nvSpPr>
          <p:cNvPr id="25" name="">
            <a:extLst xmlns:a="http://schemas.openxmlformats.org/drawingml/2006/main">
              <a:ext uri="{FF2B5EF4-FFF2-40B4-BE49-F238E27FC236}">
                <a16:creationId xmlns:a16="http://schemas.microsoft.com/office/drawing/2014/main" id="{71F12EB5-5D3D-4D30-A25F-7654B5858B1F}"/>
              </a:ext>
            </a:extLst>
          </p:cNvPr>
          <p:cNvSpPr>
            <a:spLocks xmlns:a="http://schemas.openxmlformats.org/drawingml/2006/main" noGrp="1"/>
          </p:cNvSpPr>
          <p:nvPr/>
        </p:nvSpPr>
        <p:spPr>
          <a:xfrm xmlns:a="http://schemas.openxmlformats.org/drawingml/2006/main">
            <a:off x="609600" y="49911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05</a:t>
            </a:r>
          </a:p>
        </p:txBody>
      </p:sp>
      <p:sp>
        <p:nvSpPr>
          <p:cNvPr id="26" name="">
            <a:extLst xmlns:a="http://schemas.openxmlformats.org/drawingml/2006/main">
              <a:ext uri="{FF2B5EF4-FFF2-40B4-BE49-F238E27FC236}">
                <a16:creationId xmlns:a16="http://schemas.microsoft.com/office/drawing/2014/main" id="{21BF1317-27DB-44ED-AFCB-54A23A0CF98E}"/>
              </a:ext>
            </a:extLst>
          </p:cNvPr>
          <p:cNvSpPr>
            <a:spLocks xmlns:a="http://schemas.openxmlformats.org/drawingml/2006/main" noGrp="1"/>
          </p:cNvSpPr>
          <p:nvPr/>
        </p:nvSpPr>
        <p:spPr>
          <a:xfrm xmlns:a="http://schemas.openxmlformats.org/drawingml/2006/main">
            <a:off x="1104900" y="49530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Histogram Gradient Boosting</a:t>
            </a:r>
          </a:p>
        </p:txBody>
      </p:sp>
      <p:sp>
        <p:nvSpPr>
          <p:cNvPr id="27" name="">
            <a:extLst xmlns:a="http://schemas.openxmlformats.org/drawingml/2006/main">
              <a:ext uri="{FF2B5EF4-FFF2-40B4-BE49-F238E27FC236}">
                <a16:creationId xmlns:a16="http://schemas.microsoft.com/office/drawing/2014/main" id="{6719870B-F9DB-4BCD-8672-752840D68BE7}"/>
              </a:ext>
            </a:extLst>
          </p:cNvPr>
          <p:cNvSpPr>
            <a:spLocks xmlns:a="http://schemas.openxmlformats.org/drawingml/2006/main" noGrp="1"/>
          </p:cNvSpPr>
          <p:nvPr/>
        </p:nvSpPr>
        <p:spPr>
          <a:xfrm xmlns:a="http://schemas.openxmlformats.org/drawingml/2006/main">
            <a:off x="3714750" y="49530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Sequential tree ensemble</a:t>
            </a:r>
          </a:p>
        </p:txBody>
      </p:sp>
      <p:sp>
        <p:nvSpPr>
          <p:cNvPr id="28" name="">
            <a:extLst xmlns:a="http://schemas.openxmlformats.org/drawingml/2006/main">
              <a:ext uri="{FF2B5EF4-FFF2-40B4-BE49-F238E27FC236}">
                <a16:creationId xmlns:a16="http://schemas.microsoft.com/office/drawing/2014/main" id="{FF43999C-EDDD-4AD4-A564-6FA36632E567}"/>
              </a:ext>
            </a:extLst>
          </p:cNvPr>
          <p:cNvSpPr>
            <a:spLocks xmlns:a="http://schemas.openxmlformats.org/drawingml/2006/main" noGrp="1"/>
          </p:cNvSpPr>
          <p:nvPr/>
        </p:nvSpPr>
        <p:spPr>
          <a:xfrm xmlns:a="http://schemas.openxmlformats.org/drawingml/2006/main">
            <a:off x="6324600" y="49530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Adds compact trees that correct earlier errors.</a:t>
            </a:r>
          </a:p>
        </p:txBody>
      </p:sp>
      <p:sp>
        <p:nvSpPr>
          <p:cNvPr id="29" name="">
            <a:extLst xmlns:a="http://schemas.openxmlformats.org/drawingml/2006/main">
              <a:ext uri="{FF2B5EF4-FFF2-40B4-BE49-F238E27FC236}">
                <a16:creationId xmlns:a16="http://schemas.microsoft.com/office/drawing/2014/main" id="{A9CA50CC-BEC7-4B7E-8266-F037407D2043}"/>
              </a:ext>
            </a:extLst>
          </p:cNvPr>
          <p:cNvSpPr>
            <a:spLocks xmlns:a="http://schemas.openxmlformats.org/drawingml/2006/main" noGrp="1"/>
          </p:cNvSpPr>
          <p:nvPr/>
        </p:nvSpPr>
        <p:spPr>
          <a:xfrm xmlns:a="http://schemas.openxmlformats.org/drawingml/2006/main">
            <a:off x="1104900" y="5562600"/>
            <a:ext cx="9982200" cy="0"/>
          </a:xfrm>
          <a:prstGeom xmlns:a="http://schemas.openxmlformats.org/drawingml/2006/main" prst="line">
            <a:avLst/>
          </a:prstGeom>
          <a:ln xmlns:a="http://schemas.openxmlformats.org/drawingml/2006/main" w="9525">
            <a:solidFill>
              <a:srgbClr val="D6DADE"/>
            </a:solidFill>
            <a:prstDash val="solid"/>
          </a:ln>
        </p:spPr>
      </p:sp>
      <p:sp>
        <p:nvSpPr>
          <p:cNvPr id="30" name="">
            <a:extLst xmlns:a="http://schemas.openxmlformats.org/drawingml/2006/main">
              <a:ext uri="{FF2B5EF4-FFF2-40B4-BE49-F238E27FC236}">
                <a16:creationId xmlns:a16="http://schemas.microsoft.com/office/drawing/2014/main" id="{22326B94-CF16-4CB6-BE8E-B1A8B8A60CED}"/>
              </a:ext>
            </a:extLst>
          </p:cNvPr>
          <p:cNvSpPr>
            <a:spLocks xmlns:a="http://schemas.openxmlformats.org/drawingml/2006/main" noGrp="1"/>
          </p:cNvSpPr>
          <p:nvPr/>
        </p:nvSpPr>
        <p:spPr>
          <a:xfrm xmlns:a="http://schemas.openxmlformats.org/drawingml/2006/main">
            <a:off x="609600" y="5943600"/>
            <a:ext cx="10477500" cy="400050"/>
          </a:xfrm>
          <a:prstGeom xmlns:a="http://schemas.openxmlformats.org/drawingml/2006/main" prst="rect">
            <a:avLst/>
          </a:prstGeom>
          <a:solidFill xmlns:a="http://schemas.openxmlformats.org/drawingml/2006/main">
            <a:srgbClr val="E8F0FA"/>
          </a:solidFill>
          <a:ln xmlns:a="http://schemas.openxmlformats.org/drawingml/2006/main" w="9525">
            <a:solidFill>
              <a:srgbClr val="1E5AA8"/>
            </a:solidFill>
            <a:prstDash val="solid"/>
          </a:ln>
        </p:spPr>
      </p:sp>
      <p:sp>
        <p:nvSpPr>
          <p:cNvPr id="31" name="">
            <a:extLst xmlns:a="http://schemas.openxmlformats.org/drawingml/2006/main">
              <a:ext uri="{FF2B5EF4-FFF2-40B4-BE49-F238E27FC236}">
                <a16:creationId xmlns:a16="http://schemas.microsoft.com/office/drawing/2014/main" id="{F50106FA-7091-4927-9D5D-FB6AB35162FD}"/>
              </a:ext>
            </a:extLst>
          </p:cNvPr>
          <p:cNvSpPr>
            <a:spLocks xmlns:a="http://schemas.openxmlformats.org/drawingml/2006/main" noGrp="1"/>
          </p:cNvSpPr>
          <p:nvPr/>
        </p:nvSpPr>
        <p:spPr>
          <a:xfrm xmlns:a="http://schemas.openxmlformats.org/drawingml/2006/main">
            <a:off x="781050" y="6029325"/>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11111"/>
                </a:solidFill>
                <a:latin typeface="Arial"/>
                <a:ea typeface="Arial"/>
                <a:cs typeface="Arial"/>
              </a:defRPr>
            </a:defPPr>
            <a:lvl1pPr>
              <a:defRPr sz="1275" b="1" i="0">
                <a:solidFill>
                  <a:srgbClr val="111111"/>
                </a:solidFill>
                <a:latin typeface="Arial"/>
                <a:ea typeface="Arial"/>
                <a:cs typeface="Arial"/>
              </a:defRPr>
            </a:lvl1pPr>
            <a:lvl2pPr>
              <a:defRPr sz="1275" b="1" i="0">
                <a:solidFill>
                  <a:srgbClr val="111111"/>
                </a:solidFill>
                <a:latin typeface="Arial"/>
                <a:ea typeface="Arial"/>
                <a:cs typeface="Arial"/>
              </a:defRPr>
            </a:lvl2pPr>
            <a:lvl3pPr>
              <a:defRPr sz="1275" b="1" i="0">
                <a:solidFill>
                  <a:srgbClr val="111111"/>
                </a:solidFill>
                <a:latin typeface="Arial"/>
                <a:ea typeface="Arial"/>
                <a:cs typeface="Arial"/>
              </a:defRPr>
            </a:lvl3pPr>
            <a:lvl4pPr>
              <a:defRPr sz="1275" b="1" i="0">
                <a:solidFill>
                  <a:srgbClr val="111111"/>
                </a:solidFill>
                <a:latin typeface="Arial"/>
                <a:ea typeface="Arial"/>
                <a:cs typeface="Arial"/>
              </a:defRPr>
            </a:lvl4pPr>
            <a:lvl5pPr>
              <a:defRPr sz="1275" b="1" i="0">
                <a:solidFill>
                  <a:srgbClr val="111111"/>
                </a:solidFill>
                <a:latin typeface="Arial"/>
                <a:ea typeface="Arial"/>
                <a:cs typeface="Arial"/>
              </a:defRPr>
            </a:lvl5pPr>
            <a:lvl6pPr>
              <a:defRPr sz="1275" b="1" i="0">
                <a:solidFill>
                  <a:srgbClr val="111111"/>
                </a:solidFill>
                <a:latin typeface="Arial"/>
                <a:ea typeface="Arial"/>
                <a:cs typeface="Arial"/>
              </a:defRPr>
            </a:lvl6pPr>
            <a:lvl7pPr>
              <a:defRPr sz="1275" b="1" i="0">
                <a:solidFill>
                  <a:srgbClr val="111111"/>
                </a:solidFill>
                <a:latin typeface="Arial"/>
                <a:ea typeface="Arial"/>
                <a:cs typeface="Arial"/>
              </a:defRPr>
            </a:lvl7pPr>
            <a:lvl8pPr>
              <a:defRPr sz="1275" b="1" i="0">
                <a:solidFill>
                  <a:srgbClr val="111111"/>
                </a:solidFill>
                <a:latin typeface="Arial"/>
                <a:ea typeface="Arial"/>
                <a:cs typeface="Arial"/>
              </a:defRPr>
            </a:lvl8pPr>
            <a:lvl9pPr>
              <a:defRPr sz="1275" b="1" i="0">
                <a:solidFill>
                  <a:srgbClr val="111111"/>
                </a:solidFill>
                <a:latin typeface="Arial"/>
                <a:ea typeface="Arial"/>
                <a:cs typeface="Arial"/>
              </a:defRPr>
            </a:lvl9pPr>
          </a:lstStyle>
          <a:p xmlns:a="http://schemas.openxmlformats.org/drawingml/2006/main">
            <a:pPr>
              <a:defRPr sz="1275" b="1" i="0">
                <a:solidFill>
                  <a:srgbClr val="111111"/>
                </a:solidFill>
                <a:latin typeface="Arial"/>
                <a:ea typeface="Arial"/>
                <a:cs typeface="Arial"/>
              </a:defRPr>
            </a:pPr>
            <a:r>
              <a:rPr sz="1275" b="1" i="0">
                <a:solidFill>
                  <a:srgbClr val="111111"/>
                </a:solidFill>
                <a:latin typeface="Arial"/>
                <a:ea typeface="Arial"/>
                <a:cs typeface="Arial"/>
              </a:rPr>
              <a:t>Same 16 features, grouped split, action-cost targets, and tuning budget for every model.</a:t>
            </a:r>
          </a:p>
        </p:txBody>
      </p:sp>
      <p:sp>
        <p:nvSpPr>
          <p:cNvPr id="32" name="">
            <a:extLst xmlns:a="http://schemas.openxmlformats.org/drawingml/2006/main">
              <a:ext uri="{FF2B5EF4-FFF2-40B4-BE49-F238E27FC236}">
                <a16:creationId xmlns:a16="http://schemas.microsoft.com/office/drawing/2014/main" id="{65ABC12F-CE61-473E-87DC-16663429DAE3}"/>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Methods: [7] scikit-learn  [8] Ridge  [9] Trees  [10] Random Forest  [11] Gradient Boosting  Scheduling use: [1], [5]</a:t>
            </a:r>
          </a:p>
        </p:txBody>
      </p:sp>
    </p:spTree>
    <p:extLst>
      <p:ext uri="{BB962C8B-B14F-4D97-AF65-F5344CB8AC3E}">
        <p14:creationId xmlns:p14="http://schemas.microsoft.com/office/powerpoint/2010/main" val="1389431653"/>
      </p:ext>
    </p:extLst>
  </p:cSld>
</p:sld>
</file>

<file path=ppt/slides/slide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D77E9B-2605-4F79-919B-03C8931E90CE}"/>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D8B936C3-6CC1-40A1-8B58-E70C3AE9FDF3}"/>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Model comparison: scheduling outcome decides the prototype</a:t>
            </a:r>
          </a:p>
        </p:txBody>
      </p:sp>
      <p:sp>
        <p:nvSpPr>
          <p:cNvPr id="3" name="">
            <a:extLst xmlns:a="http://schemas.openxmlformats.org/drawingml/2006/main">
              <a:ext uri="{FF2B5EF4-FFF2-40B4-BE49-F238E27FC236}">
                <a16:creationId xmlns:a16="http://schemas.microsoft.com/office/drawing/2014/main" id="{C0144164-D419-4EC5-9D1C-A5EDA085EB87}"/>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741BCB5D-DB56-444D-B2C7-A4C68A8441BC}"/>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25CCF095-7B33-48A2-893A-ACE2C48B5805}"/>
              </a:ext>
            </a:extLst>
          </p:cNvPr>
          <p:cNvGraphicFramePr/>
          <p:nvPr/>
        </p:nvGraphicFramePr>
        <p:xfrm>
          <a:off xmlns:a="http://schemas.openxmlformats.org/drawingml/2006/main" x="514350" y="1409700"/>
          <a:ext xmlns:a="http://schemas.openxmlformats.org/drawingml/2006/main" cx="7524750" cy="3028950"/>
        </p:xfrm>
        <a:graphic xmlns:a="http://schemas.openxmlformats.org/drawingml/2006/main">
          <a:graphicData uri="http://schemas.openxmlformats.org/drawingml/2006/table">
            <a:tbl>
              <a:tblPr/>
              <a:tblGrid>
                <a:gridCol w="2038350"/>
                <a:gridCol w="876300"/>
                <a:gridCol w="876300"/>
                <a:gridCol w="1219200"/>
                <a:gridCol w="1257300"/>
                <a:gridCol w="1257300"/>
              </a:tblGrid>
              <a:tr h="504825">
                <a:tc>
                  <a:txBody>
                    <a:bodyPr/>
                    <a:lstStyle/>
                    <a:p>
                      <a:r>
                        <a:rPr sz="1050" b="1">
                          <a:solidFill>
                            <a:srgbClr val="FFFFFF"/>
                          </a:solidFill>
                          <a:latin typeface="Arial"/>
                          <a:ea typeface="Arial"/>
                          <a:cs typeface="Arial"/>
                        </a:rPr>
                        <a:t>Model</a:t>
                      </a:r>
                    </a:p>
                  </a:txBody>
                  <a:tcPr marL="57150" marR="57150" marT="38100" marB="38100" anchor="ctr">
                    <a:lnL w="9525">
                      <a:solidFill>
                        <a:srgbClr val="D6DADE"/>
                      </a:solidFill>
                      <a:prstDash val="solid"/>
                    </a:lnL>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Val. acc.</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Test acc.</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Val. score</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Val. regret</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Test regret</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r>
              <a:tr h="504825">
                <a:tc>
                  <a:txBody>
                    <a:bodyPr/>
                    <a:lstStyle/>
                    <a:p>
                      <a:r>
                        <a:rPr sz="1050">
                          <a:solidFill>
                            <a:srgbClr val="111111"/>
                          </a:solidFill>
                          <a:latin typeface="Arial"/>
                          <a:ea typeface="Arial"/>
                          <a:cs typeface="Arial"/>
                        </a:rPr>
                        <a:t>Dummy</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21.27%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36.77%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0.162973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0.008352</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0.011888</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04825">
                <a:tc>
                  <a:txBody>
                    <a:bodyPr/>
                    <a:lstStyle/>
                    <a:p>
                      <a:r>
                        <a:rPr sz="1050">
                          <a:solidFill>
                            <a:srgbClr val="111111"/>
                          </a:solidFill>
                          <a:latin typeface="Arial"/>
                          <a:ea typeface="Arial"/>
                          <a:cs typeface="Arial"/>
                        </a:rPr>
                        <a:t>Ridge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27.53%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35.35%</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0.143103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0.005457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0.005816</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04825">
                <a:tc>
                  <a:txBody>
                    <a:bodyPr/>
                    <a:lstStyle/>
                    <a:p>
                      <a:r>
                        <a:rPr sz="1050" b="1">
                          <a:solidFill>
                            <a:srgbClr val="1E5AA8"/>
                          </a:solidFill>
                          <a:latin typeface="Arial"/>
                          <a:ea typeface="Arial"/>
                          <a:cs typeface="Arial"/>
                        </a:rPr>
                        <a:t>Decision Tree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43.46%</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42.23%</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b="1">
                          <a:solidFill>
                            <a:srgbClr val="1E5AA8"/>
                          </a:solidFill>
                          <a:latin typeface="Arial"/>
                          <a:ea typeface="Arial"/>
                          <a:cs typeface="Arial"/>
                        </a:rPr>
                        <a:t>0.120669</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0.004216</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0.004394</a:t>
                      </a:r>
                    </a:p>
                  </a:txBody>
                  <a:tcPr marL="57150" marR="57150" marT="38100" marB="38100" anchor="ctr">
                    <a:lnR w="9525">
                      <a:solidFill>
                        <a:srgbClr val="D6DADE"/>
                      </a:solidFill>
                      <a:prstDash val="solid"/>
                    </a:lnR>
                    <a:lnB w="9525">
                      <a:solidFill>
                        <a:srgbClr val="D6DADE"/>
                      </a:solidFill>
                      <a:prstDash val="solid"/>
                    </a:lnB>
                    <a:solidFill>
                      <a:srgbClr val="E8F0FA"/>
                    </a:solidFill>
                  </a:tcPr>
                </a:tc>
              </a:tr>
              <a:tr h="504825">
                <a:tc>
                  <a:txBody>
                    <a:bodyPr/>
                    <a:lstStyle/>
                    <a:p>
                      <a:r>
                        <a:rPr sz="1050">
                          <a:solidFill>
                            <a:srgbClr val="111111"/>
                          </a:solidFill>
                          <a:latin typeface="Arial"/>
                          <a:ea typeface="Arial"/>
                          <a:cs typeface="Arial"/>
                        </a:rPr>
                        <a:t>Random Forest</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44.82%</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43.18%</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0.126164</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0.003888</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0.004612</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04825">
                <a:tc>
                  <a:txBody>
                    <a:bodyPr/>
                    <a:lstStyle/>
                    <a:p>
                      <a:r>
                        <a:rPr sz="1050">
                          <a:solidFill>
                            <a:srgbClr val="111111"/>
                          </a:solidFill>
                          <a:latin typeface="Arial"/>
                          <a:ea typeface="Arial"/>
                          <a:cs typeface="Arial"/>
                        </a:rPr>
                        <a:t>Histogram Gradient Boosting</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27.65%</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44.84%</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0.140503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0.004523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0.004257</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B2ABD3A-CF3D-4A3D-816A-4D349FD9AC3A}"/>
              </a:ext>
            </a:extLst>
          </p:cNvPr>
          <p:cNvSpPr>
            <a:spLocks xmlns:a="http://schemas.openxmlformats.org/drawingml/2006/main" noGrp="1"/>
          </p:cNvSpPr>
          <p:nvPr/>
        </p:nvSpPr>
        <p:spPr>
          <a:xfrm xmlns:a="http://schemas.openxmlformats.org/drawingml/2006/main">
            <a:off x="8382000" y="14287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i="0">
                <a:solidFill>
                  <a:srgbClr val="111111"/>
                </a:solidFill>
                <a:latin typeface="Arial"/>
                <a:ea typeface="Arial"/>
                <a:cs typeface="Arial"/>
              </a:defRPr>
            </a:defPPr>
            <a:lvl1pPr>
              <a:defRPr sz="1425" b="1" i="0">
                <a:solidFill>
                  <a:srgbClr val="111111"/>
                </a:solidFill>
                <a:latin typeface="Arial"/>
                <a:ea typeface="Arial"/>
                <a:cs typeface="Arial"/>
              </a:defRPr>
            </a:lvl1pPr>
            <a:lvl2pPr>
              <a:defRPr sz="1425" b="1" i="0">
                <a:solidFill>
                  <a:srgbClr val="111111"/>
                </a:solidFill>
                <a:latin typeface="Arial"/>
                <a:ea typeface="Arial"/>
                <a:cs typeface="Arial"/>
              </a:defRPr>
            </a:lvl2pPr>
            <a:lvl3pPr>
              <a:defRPr sz="1425" b="1" i="0">
                <a:solidFill>
                  <a:srgbClr val="111111"/>
                </a:solidFill>
                <a:latin typeface="Arial"/>
                <a:ea typeface="Arial"/>
                <a:cs typeface="Arial"/>
              </a:defRPr>
            </a:lvl3pPr>
            <a:lvl4pPr>
              <a:defRPr sz="1425" b="1" i="0">
                <a:solidFill>
                  <a:srgbClr val="111111"/>
                </a:solidFill>
                <a:latin typeface="Arial"/>
                <a:ea typeface="Arial"/>
                <a:cs typeface="Arial"/>
              </a:defRPr>
            </a:lvl4pPr>
            <a:lvl5pPr>
              <a:defRPr sz="1425" b="1" i="0">
                <a:solidFill>
                  <a:srgbClr val="111111"/>
                </a:solidFill>
                <a:latin typeface="Arial"/>
                <a:ea typeface="Arial"/>
                <a:cs typeface="Arial"/>
              </a:defRPr>
            </a:lvl5pPr>
            <a:lvl6pPr>
              <a:defRPr sz="1425" b="1" i="0">
                <a:solidFill>
                  <a:srgbClr val="111111"/>
                </a:solidFill>
                <a:latin typeface="Arial"/>
                <a:ea typeface="Arial"/>
                <a:cs typeface="Arial"/>
              </a:defRPr>
            </a:lvl6pPr>
            <a:lvl7pPr>
              <a:defRPr sz="1425" b="1" i="0">
                <a:solidFill>
                  <a:srgbClr val="111111"/>
                </a:solidFill>
                <a:latin typeface="Arial"/>
                <a:ea typeface="Arial"/>
                <a:cs typeface="Arial"/>
              </a:defRPr>
            </a:lvl7pPr>
            <a:lvl8pPr>
              <a:defRPr sz="1425" b="1" i="0">
                <a:solidFill>
                  <a:srgbClr val="111111"/>
                </a:solidFill>
                <a:latin typeface="Arial"/>
                <a:ea typeface="Arial"/>
                <a:cs typeface="Arial"/>
              </a:defRPr>
            </a:lvl8pPr>
            <a:lvl9pPr>
              <a:defRPr sz="1425" b="1" i="0">
                <a:solidFill>
                  <a:srgbClr val="111111"/>
                </a:solidFill>
                <a:latin typeface="Arial"/>
                <a:ea typeface="Arial"/>
                <a:cs typeface="Arial"/>
              </a:defRPr>
            </a:lvl9pPr>
          </a:lstStyle>
          <a:p xmlns:a="http://schemas.openxmlformats.org/drawingml/2006/main">
            <a:pPr>
              <a:defRPr sz="1425" b="1" i="0">
                <a:solidFill>
                  <a:srgbClr val="111111"/>
                </a:solidFill>
                <a:latin typeface="Arial"/>
                <a:ea typeface="Arial"/>
                <a:cs typeface="Arial"/>
              </a:defRPr>
            </a:pPr>
            <a:r>
              <a:rPr sz="1425" b="1" i="0">
                <a:solidFill>
                  <a:srgbClr val="111111"/>
                </a:solidFill>
                <a:latin typeface="Arial"/>
                <a:ea typeface="Arial"/>
                <a:cs typeface="Arial"/>
              </a:rPr>
              <a:t>Validation scheduling score</a:t>
            </a:r>
          </a:p>
        </p:txBody>
      </p:sp>
      <p:graphicFrame>
        <p:nvGraphicFramePr>
          <p:cNvPr id="7" name="Chart">
            <a:extLst xmlns:a="http://schemas.openxmlformats.org/drawingml/2006/main">
              <a:ext uri="{FF2B5EF4-FFF2-40B4-BE49-F238E27FC236}">
                <a16:creationId xmlns:a16="http://schemas.microsoft.com/office/drawing/2014/main" id="{7FD9922D-E3A6-4C67-ACBB-BC74407F831B}"/>
              </a:ext>
            </a:extLst>
          </p:cNvPr>
          <p:cNvGraphicFramePr/>
          <p:nvPr/>
        </p:nvGraphicFramePr>
        <p:xfrm>
          <a:off xmlns:a="http://schemas.openxmlformats.org/drawingml/2006/main" x="8324850" y="1790700"/>
          <a:ext xmlns:a="http://schemas.openxmlformats.org/drawingml/2006/main" cx="3238500" cy="2647950"/>
        </p:xfrm>
        <a:graphic xmlns:a="http://schemas.openxmlformats.org/drawingml/2006/main">
          <a:graphicData uri="http://schemas.openxmlformats.org/drawingml/2006/chart">
            <c:chart xmlns:r="http://schemas.openxmlformats.org/officeDocument/2006/relationships" xmlns:c="http://schemas.openxmlformats.org/drawingml/2006/chart" r:id="R566ea74da4e64a22"/>
          </a:graphicData>
        </a:graphic>
      </p:graphicFrame>
      <p:sp>
        <p:nvSpPr>
          <p:cNvPr id="8" name="">
            <a:extLst xmlns:a="http://schemas.openxmlformats.org/drawingml/2006/main">
              <a:ext uri="{FF2B5EF4-FFF2-40B4-BE49-F238E27FC236}">
                <a16:creationId xmlns:a16="http://schemas.microsoft.com/office/drawing/2014/main" id="{46413900-A0C8-4C8D-BB23-E0EA93E03532}"/>
              </a:ext>
            </a:extLst>
          </p:cNvPr>
          <p:cNvSpPr>
            <a:spLocks xmlns:a="http://schemas.openxmlformats.org/drawingml/2006/main" noGrp="1"/>
          </p:cNvSpPr>
          <p:nvPr/>
        </p:nvSpPr>
        <p:spPr>
          <a:xfrm xmlns:a="http://schemas.openxmlformats.org/drawingml/2006/main">
            <a:off x="609600" y="468630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Accuracy means agreement with the deterministic lowest-cost action. Raw accuracy did not choose the winner.</a:t>
            </a:r>
          </a:p>
        </p:txBody>
      </p:sp>
      <p:sp>
        <p:nvSpPr>
          <p:cNvPr id="9" name="">
            <a:extLst xmlns:a="http://schemas.openxmlformats.org/drawingml/2006/main">
              <a:ext uri="{FF2B5EF4-FFF2-40B4-BE49-F238E27FC236}">
                <a16:creationId xmlns:a16="http://schemas.microsoft.com/office/drawing/2014/main" id="{AE21F7A6-7BA6-49A7-9DE2-A372FE683722}"/>
              </a:ext>
            </a:extLst>
          </p:cNvPr>
          <p:cNvSpPr>
            <a:spLocks xmlns:a="http://schemas.openxmlformats.org/drawingml/2006/main" noGrp="1"/>
          </p:cNvSpPr>
          <p:nvPr/>
        </p:nvSpPr>
        <p:spPr>
          <a:xfrm xmlns:a="http://schemas.openxmlformats.org/drawingml/2006/main">
            <a:off x="514350" y="5219700"/>
            <a:ext cx="11049000" cy="1009650"/>
          </a:xfrm>
          <a:prstGeom xmlns:a="http://schemas.openxmlformats.org/drawingml/2006/main" prst="rect">
            <a:avLst/>
          </a:prstGeom>
          <a:solidFill xmlns:a="http://schemas.openxmlformats.org/drawingml/2006/main">
            <a:srgbClr val="E8F0FA"/>
          </a:solidFill>
          <a:ln xmlns:a="http://schemas.openxmlformats.org/drawingml/2006/main" w="11430">
            <a:solidFill>
              <a:srgbClr val="1E5AA8"/>
            </a:solidFill>
            <a:prstDash val="solid"/>
          </a:ln>
        </p:spPr>
      </p:sp>
      <p:sp>
        <p:nvSpPr>
          <p:cNvPr id="10" name="">
            <a:extLst xmlns:a="http://schemas.openxmlformats.org/drawingml/2006/main">
              <a:ext uri="{FF2B5EF4-FFF2-40B4-BE49-F238E27FC236}">
                <a16:creationId xmlns:a16="http://schemas.microsoft.com/office/drawing/2014/main" id="{8018D3A6-CB29-4B1D-B4B1-E2F26666D631}"/>
              </a:ext>
            </a:extLst>
          </p:cNvPr>
          <p:cNvSpPr>
            <a:spLocks xmlns:a="http://schemas.openxmlformats.org/drawingml/2006/main" noGrp="1"/>
          </p:cNvSpPr>
          <p:nvPr/>
        </p:nvSpPr>
        <p:spPr>
          <a:xfrm xmlns:a="http://schemas.openxmlformats.org/drawingml/2006/main">
            <a:off x="704850" y="53816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E5AA8"/>
                </a:solidFill>
                <a:latin typeface="Arial"/>
                <a:ea typeface="Arial"/>
                <a:cs typeface="Arial"/>
              </a:defRPr>
            </a:defPPr>
            <a:lvl1pPr>
              <a:defRPr sz="1275" b="1" i="0">
                <a:solidFill>
                  <a:srgbClr val="1E5AA8"/>
                </a:solidFill>
                <a:latin typeface="Arial"/>
                <a:ea typeface="Arial"/>
                <a:cs typeface="Arial"/>
              </a:defRPr>
            </a:lvl1pPr>
            <a:lvl2pPr>
              <a:defRPr sz="1275" b="1" i="0">
                <a:solidFill>
                  <a:srgbClr val="1E5AA8"/>
                </a:solidFill>
                <a:latin typeface="Arial"/>
                <a:ea typeface="Arial"/>
                <a:cs typeface="Arial"/>
              </a:defRPr>
            </a:lvl2pPr>
            <a:lvl3pPr>
              <a:defRPr sz="1275" b="1" i="0">
                <a:solidFill>
                  <a:srgbClr val="1E5AA8"/>
                </a:solidFill>
                <a:latin typeface="Arial"/>
                <a:ea typeface="Arial"/>
                <a:cs typeface="Arial"/>
              </a:defRPr>
            </a:lvl3pPr>
            <a:lvl4pPr>
              <a:defRPr sz="1275" b="1" i="0">
                <a:solidFill>
                  <a:srgbClr val="1E5AA8"/>
                </a:solidFill>
                <a:latin typeface="Arial"/>
                <a:ea typeface="Arial"/>
                <a:cs typeface="Arial"/>
              </a:defRPr>
            </a:lvl4pPr>
            <a:lvl5pPr>
              <a:defRPr sz="1275" b="1" i="0">
                <a:solidFill>
                  <a:srgbClr val="1E5AA8"/>
                </a:solidFill>
                <a:latin typeface="Arial"/>
                <a:ea typeface="Arial"/>
                <a:cs typeface="Arial"/>
              </a:defRPr>
            </a:lvl5pPr>
            <a:lvl6pPr>
              <a:defRPr sz="1275" b="1" i="0">
                <a:solidFill>
                  <a:srgbClr val="1E5AA8"/>
                </a:solidFill>
                <a:latin typeface="Arial"/>
                <a:ea typeface="Arial"/>
                <a:cs typeface="Arial"/>
              </a:defRPr>
            </a:lvl6pPr>
            <a:lvl7pPr>
              <a:defRPr sz="1275" b="1" i="0">
                <a:solidFill>
                  <a:srgbClr val="1E5AA8"/>
                </a:solidFill>
                <a:latin typeface="Arial"/>
                <a:ea typeface="Arial"/>
                <a:cs typeface="Arial"/>
              </a:defRPr>
            </a:lvl7pPr>
            <a:lvl8pPr>
              <a:defRPr sz="1275" b="1" i="0">
                <a:solidFill>
                  <a:srgbClr val="1E5AA8"/>
                </a:solidFill>
                <a:latin typeface="Arial"/>
                <a:ea typeface="Arial"/>
                <a:cs typeface="Arial"/>
              </a:defRPr>
            </a:lvl8pPr>
            <a:lvl9pPr>
              <a:defRPr sz="1275" b="1" i="0">
                <a:solidFill>
                  <a:srgbClr val="1E5AA8"/>
                </a:solidFill>
                <a:latin typeface="Arial"/>
                <a:ea typeface="Arial"/>
                <a:cs typeface="Arial"/>
              </a:defRPr>
            </a:lvl9pPr>
          </a:lstStyle>
          <a:p xmlns:a="http://schemas.openxmlformats.org/drawingml/2006/main">
            <a:pPr>
              <a:defRPr sz="1275" b="1" i="0">
                <a:solidFill>
                  <a:srgbClr val="1E5AA8"/>
                </a:solidFill>
                <a:latin typeface="Arial"/>
                <a:ea typeface="Arial"/>
                <a:cs typeface="Arial"/>
              </a:defRPr>
            </a:pPr>
            <a:r>
              <a:rPr sz="1275" b="1" i="0">
                <a:solidFill>
                  <a:srgbClr val="1E5AA8"/>
                </a:solidFill>
                <a:latin typeface="Arial"/>
                <a:ea typeface="Arial"/>
                <a:cs typeface="Arial"/>
              </a:rPr>
              <a:t>Prototype choice</a:t>
            </a:r>
          </a:p>
        </p:txBody>
      </p:sp>
      <p:sp>
        <p:nvSpPr>
          <p:cNvPr id="11" name="">
            <a:extLst xmlns:a="http://schemas.openxmlformats.org/drawingml/2006/main">
              <a:ext uri="{FF2B5EF4-FFF2-40B4-BE49-F238E27FC236}">
                <a16:creationId xmlns:a16="http://schemas.microsoft.com/office/drawing/2014/main" id="{AEDBE58C-94EF-4C59-BF2F-4287525ED068}"/>
              </a:ext>
            </a:extLst>
          </p:cNvPr>
          <p:cNvSpPr>
            <a:spLocks xmlns:a="http://schemas.openxmlformats.org/drawingml/2006/main" noGrp="1"/>
          </p:cNvSpPr>
          <p:nvPr/>
        </p:nvSpPr>
        <p:spPr>
          <a:xfrm xmlns:a="http://schemas.openxmlformats.org/drawingml/2006/main">
            <a:off x="2552700" y="536257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11111"/>
                </a:solidFill>
                <a:latin typeface="Arial"/>
                <a:ea typeface="Arial"/>
                <a:cs typeface="Arial"/>
              </a:defRPr>
            </a:defPPr>
            <a:lvl1pPr>
              <a:defRPr sz="1275" b="1" i="0">
                <a:solidFill>
                  <a:srgbClr val="111111"/>
                </a:solidFill>
                <a:latin typeface="Arial"/>
                <a:ea typeface="Arial"/>
                <a:cs typeface="Arial"/>
              </a:defRPr>
            </a:lvl1pPr>
            <a:lvl2pPr>
              <a:defRPr sz="1275" b="1" i="0">
                <a:solidFill>
                  <a:srgbClr val="111111"/>
                </a:solidFill>
                <a:latin typeface="Arial"/>
                <a:ea typeface="Arial"/>
                <a:cs typeface="Arial"/>
              </a:defRPr>
            </a:lvl2pPr>
            <a:lvl3pPr>
              <a:defRPr sz="1275" b="1" i="0">
                <a:solidFill>
                  <a:srgbClr val="111111"/>
                </a:solidFill>
                <a:latin typeface="Arial"/>
                <a:ea typeface="Arial"/>
                <a:cs typeface="Arial"/>
              </a:defRPr>
            </a:lvl3pPr>
            <a:lvl4pPr>
              <a:defRPr sz="1275" b="1" i="0">
                <a:solidFill>
                  <a:srgbClr val="111111"/>
                </a:solidFill>
                <a:latin typeface="Arial"/>
                <a:ea typeface="Arial"/>
                <a:cs typeface="Arial"/>
              </a:defRPr>
            </a:lvl4pPr>
            <a:lvl5pPr>
              <a:defRPr sz="1275" b="1" i="0">
                <a:solidFill>
                  <a:srgbClr val="111111"/>
                </a:solidFill>
                <a:latin typeface="Arial"/>
                <a:ea typeface="Arial"/>
                <a:cs typeface="Arial"/>
              </a:defRPr>
            </a:lvl5pPr>
            <a:lvl6pPr>
              <a:defRPr sz="1275" b="1" i="0">
                <a:solidFill>
                  <a:srgbClr val="111111"/>
                </a:solidFill>
                <a:latin typeface="Arial"/>
                <a:ea typeface="Arial"/>
                <a:cs typeface="Arial"/>
              </a:defRPr>
            </a:lvl6pPr>
            <a:lvl7pPr>
              <a:defRPr sz="1275" b="1" i="0">
                <a:solidFill>
                  <a:srgbClr val="111111"/>
                </a:solidFill>
                <a:latin typeface="Arial"/>
                <a:ea typeface="Arial"/>
                <a:cs typeface="Arial"/>
              </a:defRPr>
            </a:lvl7pPr>
            <a:lvl8pPr>
              <a:defRPr sz="1275" b="1" i="0">
                <a:solidFill>
                  <a:srgbClr val="111111"/>
                </a:solidFill>
                <a:latin typeface="Arial"/>
                <a:ea typeface="Arial"/>
                <a:cs typeface="Arial"/>
              </a:defRPr>
            </a:lvl8pPr>
            <a:lvl9pPr>
              <a:defRPr sz="1275" b="1" i="0">
                <a:solidFill>
                  <a:srgbClr val="111111"/>
                </a:solidFill>
                <a:latin typeface="Arial"/>
                <a:ea typeface="Arial"/>
                <a:cs typeface="Arial"/>
              </a:defRPr>
            </a:lvl9pPr>
          </a:lstStyle>
          <a:p xmlns:a="http://schemas.openxmlformats.org/drawingml/2006/main">
            <a:pPr>
              <a:defRPr sz="1275" b="1" i="0">
                <a:solidFill>
                  <a:srgbClr val="111111"/>
                </a:solidFill>
                <a:latin typeface="Arial"/>
                <a:ea typeface="Arial"/>
                <a:cs typeface="Arial"/>
              </a:defRPr>
            </a:pPr>
            <a:r>
              <a:rPr sz="1275" b="1" i="0">
                <a:solidFill>
                  <a:srgbClr val="111111"/>
                </a:solidFill>
                <a:latin typeface="Arial"/>
                <a:ea typeface="Arial"/>
                <a:cs typeface="Arial"/>
              </a:rPr>
              <a:t>Decision Tree produced the lowest validation scheduling score: 0.120669.</a:t>
            </a:r>
          </a:p>
        </p:txBody>
      </p:sp>
      <p:sp>
        <p:nvSpPr>
          <p:cNvPr id="12" name="">
            <a:extLst xmlns:a="http://schemas.openxmlformats.org/drawingml/2006/main">
              <a:ext uri="{FF2B5EF4-FFF2-40B4-BE49-F238E27FC236}">
                <a16:creationId xmlns:a16="http://schemas.microsoft.com/office/drawing/2014/main" id="{B61FA277-B54B-41AC-A512-3B6613D75A66}"/>
              </a:ext>
            </a:extLst>
          </p:cNvPr>
          <p:cNvSpPr>
            <a:spLocks xmlns:a="http://schemas.openxmlformats.org/drawingml/2006/main" noGrp="1"/>
          </p:cNvSpPr>
          <p:nvPr/>
        </p:nvSpPr>
        <p:spPr>
          <a:xfrm xmlns:a="http://schemas.openxmlformats.org/drawingml/2006/main">
            <a:off x="704850" y="58197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Captured traces: Ridge and Decision Tree tied on cost and action agreement. Decision Tree had lower P99 latency, while the configured simplicity rule selected Ridge.</a:t>
            </a:r>
          </a:p>
        </p:txBody>
      </p:sp>
    </p:spTree>
    <p:extLst>
      <p:ext uri="{BB962C8B-B14F-4D97-AF65-F5344CB8AC3E}">
        <p14:creationId xmlns:p14="http://schemas.microsoft.com/office/powerpoint/2010/main" val="81282828"/>
      </p:ext>
    </p:extLst>
  </p:cSld>
</p:sld>
</file>

<file path=ppt/slides/slide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02BAE7E-773B-45F7-A907-FE189B8892E3}"/>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1BA530BD-C46F-43B9-8163-88375CF67196}"/>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Classifier tree and policy-cost tree answer different questions</a:t>
            </a:r>
          </a:p>
        </p:txBody>
      </p:sp>
      <p:sp>
        <p:nvSpPr>
          <p:cNvPr id="3" name="">
            <a:extLst xmlns:a="http://schemas.openxmlformats.org/drawingml/2006/main">
              <a:ext uri="{FF2B5EF4-FFF2-40B4-BE49-F238E27FC236}">
                <a16:creationId xmlns:a16="http://schemas.microsoft.com/office/drawing/2014/main" id="{1D91D54B-B17B-40AA-B941-5CBD05006784}"/>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0DEDBA9A-1950-4825-88CB-1718043D8932}"/>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10F160CE-D4E6-4B9D-A381-772C361D5032}"/>
              </a:ext>
            </a:extLst>
          </p:cNvPr>
          <p:cNvGraphicFramePr/>
          <p:nvPr/>
        </p:nvGraphicFramePr>
        <p:xfrm>
          <a:off xmlns:a="http://schemas.openxmlformats.org/drawingml/2006/main" x="685800" y="1504950"/>
          <a:ext xmlns:a="http://schemas.openxmlformats.org/drawingml/2006/main" cx="7239000" cy="3733800"/>
        </p:xfrm>
        <a:graphic xmlns:a="http://schemas.openxmlformats.org/drawingml/2006/main">
          <a:graphicData uri="http://schemas.openxmlformats.org/drawingml/2006/table">
            <a:tbl>
              <a:tblPr/>
              <a:tblGrid>
                <a:gridCol w="3429000"/>
                <a:gridCol w="1905000"/>
                <a:gridCol w="1905000"/>
              </a:tblGrid>
              <a:tr h="533400">
                <a:tc>
                  <a:txBody>
                    <a:bodyPr/>
                    <a:lstStyle/>
                    <a:p>
                      <a:r>
                        <a:rPr sz="1200" b="1">
                          <a:solidFill>
                            <a:srgbClr val="FFFFFF"/>
                          </a:solidFill>
                          <a:latin typeface="Arial"/>
                          <a:ea typeface="Arial"/>
                          <a:cs typeface="Arial"/>
                        </a:rPr>
                        <a:t>Metric</a:t>
                      </a:r>
                    </a:p>
                  </a:txBody>
                  <a:tcPr marL="57150" marR="57150" marT="38100" marB="38100" anchor="ctr">
                    <a:lnL w="9525">
                      <a:solidFill>
                        <a:srgbClr val="D6DADE"/>
                      </a:solidFill>
                      <a:prstDash val="solid"/>
                    </a:lnL>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200" b="1">
                          <a:solidFill>
                            <a:srgbClr val="FFFFFF"/>
                          </a:solidFill>
                          <a:latin typeface="Arial"/>
                          <a:ea typeface="Arial"/>
                          <a:cs typeface="Arial"/>
                        </a:rPr>
                        <a:t>Classifier tree</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200" b="1">
                          <a:solidFill>
                            <a:srgbClr val="FFFFFF"/>
                          </a:solidFill>
                          <a:latin typeface="Arial"/>
                          <a:ea typeface="Arial"/>
                          <a:cs typeface="Arial"/>
                        </a:rPr>
                        <a:t>Policy-cost tree</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r>
              <a:tr h="533400">
                <a:tc>
                  <a:txBody>
                    <a:bodyPr/>
                    <a:lstStyle/>
                    <a:p>
                      <a:r>
                        <a:rPr sz="1200">
                          <a:solidFill>
                            <a:srgbClr val="111111"/>
                          </a:solidFill>
                          <a:latin typeface="Arial"/>
                          <a:ea typeface="Arial"/>
                          <a:cs typeface="Arial"/>
                        </a:rPr>
                        <a:t>Validation action accuracy</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47.67%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36.06%</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Test action accuracy</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40.81%</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46.62%</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Test action regret</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0.006111</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b="1">
                          <a:solidFill>
                            <a:srgbClr val="111111"/>
                          </a:solidFill>
                          <a:latin typeface="Arial"/>
                          <a:ea typeface="Arial"/>
                          <a:cs typeface="Arial"/>
                        </a:rPr>
                        <a:t>0.003887</a:t>
                      </a:r>
                    </a:p>
                  </a:txBody>
                  <a:tcPr marL="57150" marR="57150" marT="38100" marB="38100" anchor="ctr">
                    <a:lnR w="9525">
                      <a:solidFill>
                        <a:srgbClr val="D6DADE"/>
                      </a:solidFill>
                      <a:prstDash val="solid"/>
                    </a:lnR>
                    <a:lnB w="9525">
                      <a:solidFill>
                        <a:srgbClr val="D6DADE"/>
                      </a:solidFill>
                      <a:prstDash val="solid"/>
                    </a:lnB>
                    <a:solidFill>
                      <a:srgbClr val="EEF1F4"/>
                    </a:solidFill>
                  </a:tcPr>
                </a:tc>
              </a:tr>
              <a:tr h="533400">
                <a:tc>
                  <a:txBody>
                    <a:bodyPr/>
                    <a:lstStyle/>
                    <a:p>
                      <a:r>
                        <a:rPr sz="1200">
                          <a:solidFill>
                            <a:srgbClr val="111111"/>
                          </a:solidFill>
                          <a:latin typeface="Arial"/>
                          <a:ea typeface="Arial"/>
                          <a:cs typeface="Arial"/>
                        </a:rPr>
                        <a:t>Validation scheduling score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b="1">
                          <a:solidFill>
                            <a:srgbClr val="1E5AA8"/>
                          </a:solidFill>
                          <a:latin typeface="Arial"/>
                          <a:ea typeface="Arial"/>
                          <a:cs typeface="Arial"/>
                        </a:rPr>
                        <a:t>0.119128</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200">
                          <a:solidFill>
                            <a:srgbClr val="111111"/>
                          </a:solidFill>
                          <a:latin typeface="Arial"/>
                          <a:ea typeface="Arial"/>
                          <a:cs typeface="Arial"/>
                        </a:rPr>
                        <a:t>0.128198</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P95 response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b="1">
                          <a:solidFill>
                            <a:srgbClr val="1E5AA8"/>
                          </a:solidFill>
                          <a:latin typeface="Arial"/>
                          <a:ea typeface="Arial"/>
                          <a:cs typeface="Arial"/>
                        </a:rPr>
                        <a:t>31.593</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200">
                          <a:solidFill>
                            <a:srgbClr val="111111"/>
                          </a:solidFill>
                          <a:latin typeface="Arial"/>
                          <a:ea typeface="Arial"/>
                          <a:cs typeface="Arial"/>
                        </a:rPr>
                        <a:t>73.526</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Starvation count</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15.317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b="1">
                          <a:solidFill>
                            <a:srgbClr val="111111"/>
                          </a:solidFill>
                          <a:latin typeface="Arial"/>
                          <a:ea typeface="Arial"/>
                          <a:cs typeface="Arial"/>
                        </a:rPr>
                        <a:t>14.500</a:t>
                      </a:r>
                    </a:p>
                  </a:txBody>
                  <a:tcPr marL="57150" marR="57150" marT="38100" marB="38100" anchor="ctr">
                    <a:lnR w="9525">
                      <a:solidFill>
                        <a:srgbClr val="D6DADE"/>
                      </a:solidFill>
                      <a:prstDash val="solid"/>
                    </a:lnR>
                    <a:lnB w="9525">
                      <a:solidFill>
                        <a:srgbClr val="D6DADE"/>
                      </a:solidFill>
                      <a:prstDash val="solid"/>
                    </a:lnB>
                    <a:solidFill>
                      <a:srgbClr val="EEF1F4"/>
                    </a:solidFill>
                  </a:tcPr>
                </a:tc>
              </a:tr>
            </a:tbl>
          </a:graphicData>
        </a:graphic>
      </p:graphicFrame>
      <p:sp>
        <p:nvSpPr>
          <p:cNvPr id="6" name="">
            <a:extLst xmlns:a="http://schemas.openxmlformats.org/drawingml/2006/main">
              <a:ext uri="{FF2B5EF4-FFF2-40B4-BE49-F238E27FC236}">
                <a16:creationId xmlns:a16="http://schemas.microsoft.com/office/drawing/2014/main" id="{83388756-7EB1-4157-9ED8-20E6A0B82590}"/>
              </a:ext>
            </a:extLst>
          </p:cNvPr>
          <p:cNvSpPr>
            <a:spLocks xmlns:a="http://schemas.openxmlformats.org/drawingml/2006/main" noGrp="1"/>
          </p:cNvSpPr>
          <p:nvPr/>
        </p:nvSpPr>
        <p:spPr>
          <a:xfrm xmlns:a="http://schemas.openxmlformats.org/drawingml/2006/main">
            <a:off x="8401050" y="1504950"/>
            <a:ext cx="3067050" cy="16764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7" name="">
            <a:extLst xmlns:a="http://schemas.openxmlformats.org/drawingml/2006/main">
              <a:ext uri="{FF2B5EF4-FFF2-40B4-BE49-F238E27FC236}">
                <a16:creationId xmlns:a16="http://schemas.microsoft.com/office/drawing/2014/main" id="{A7370221-C288-4284-8D7A-B24F88F173A9}"/>
              </a:ext>
            </a:extLst>
          </p:cNvPr>
          <p:cNvSpPr>
            <a:spLocks xmlns:a="http://schemas.openxmlformats.org/drawingml/2006/main" noGrp="1"/>
          </p:cNvSpPr>
          <p:nvPr/>
        </p:nvSpPr>
        <p:spPr>
          <a:xfrm xmlns:a="http://schemas.openxmlformats.org/drawingml/2006/main">
            <a:off x="8648700" y="1733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E5AA8"/>
                </a:solidFill>
                <a:latin typeface="Arial"/>
                <a:ea typeface="Arial"/>
                <a:cs typeface="Arial"/>
              </a:defRPr>
            </a:defPPr>
            <a:lvl1pPr>
              <a:defRPr sz="1575" b="1" i="0">
                <a:solidFill>
                  <a:srgbClr val="1E5AA8"/>
                </a:solidFill>
                <a:latin typeface="Arial"/>
                <a:ea typeface="Arial"/>
                <a:cs typeface="Arial"/>
              </a:defRPr>
            </a:lvl1pPr>
            <a:lvl2pPr>
              <a:defRPr sz="1575" b="1" i="0">
                <a:solidFill>
                  <a:srgbClr val="1E5AA8"/>
                </a:solidFill>
                <a:latin typeface="Arial"/>
                <a:ea typeface="Arial"/>
                <a:cs typeface="Arial"/>
              </a:defRPr>
            </a:lvl2pPr>
            <a:lvl3pPr>
              <a:defRPr sz="1575" b="1" i="0">
                <a:solidFill>
                  <a:srgbClr val="1E5AA8"/>
                </a:solidFill>
                <a:latin typeface="Arial"/>
                <a:ea typeface="Arial"/>
                <a:cs typeface="Arial"/>
              </a:defRPr>
            </a:lvl3pPr>
            <a:lvl4pPr>
              <a:defRPr sz="1575" b="1" i="0">
                <a:solidFill>
                  <a:srgbClr val="1E5AA8"/>
                </a:solidFill>
                <a:latin typeface="Arial"/>
                <a:ea typeface="Arial"/>
                <a:cs typeface="Arial"/>
              </a:defRPr>
            </a:lvl4pPr>
            <a:lvl5pPr>
              <a:defRPr sz="1575" b="1" i="0">
                <a:solidFill>
                  <a:srgbClr val="1E5AA8"/>
                </a:solidFill>
                <a:latin typeface="Arial"/>
                <a:ea typeface="Arial"/>
                <a:cs typeface="Arial"/>
              </a:defRPr>
            </a:lvl5pPr>
            <a:lvl6pPr>
              <a:defRPr sz="1575" b="1" i="0">
                <a:solidFill>
                  <a:srgbClr val="1E5AA8"/>
                </a:solidFill>
                <a:latin typeface="Arial"/>
                <a:ea typeface="Arial"/>
                <a:cs typeface="Arial"/>
              </a:defRPr>
            </a:lvl6pPr>
            <a:lvl7pPr>
              <a:defRPr sz="1575" b="1" i="0">
                <a:solidFill>
                  <a:srgbClr val="1E5AA8"/>
                </a:solidFill>
                <a:latin typeface="Arial"/>
                <a:ea typeface="Arial"/>
                <a:cs typeface="Arial"/>
              </a:defRPr>
            </a:lvl7pPr>
            <a:lvl8pPr>
              <a:defRPr sz="1575" b="1" i="0">
                <a:solidFill>
                  <a:srgbClr val="1E5AA8"/>
                </a:solidFill>
                <a:latin typeface="Arial"/>
                <a:ea typeface="Arial"/>
                <a:cs typeface="Arial"/>
              </a:defRPr>
            </a:lvl8pPr>
            <a:lvl9pPr>
              <a:defRPr sz="1575" b="1" i="0">
                <a:solidFill>
                  <a:srgbClr val="1E5AA8"/>
                </a:solidFill>
                <a:latin typeface="Arial"/>
                <a:ea typeface="Arial"/>
                <a:cs typeface="Arial"/>
              </a:defRPr>
            </a:lvl9pPr>
          </a:lstStyle>
          <a:p xmlns:a="http://schemas.openxmlformats.org/drawingml/2006/main">
            <a:pPr>
              <a:defRPr sz="1575" b="1" i="0">
                <a:solidFill>
                  <a:srgbClr val="1E5AA8"/>
                </a:solidFill>
                <a:latin typeface="Arial"/>
                <a:ea typeface="Arial"/>
                <a:cs typeface="Arial"/>
              </a:defRPr>
            </a:pPr>
            <a:r>
              <a:rPr sz="1575" b="1" i="0">
                <a:solidFill>
                  <a:srgbClr val="1E5AA8"/>
                </a:solidFill>
                <a:latin typeface="Arial"/>
                <a:ea typeface="Arial"/>
                <a:cs typeface="Arial"/>
              </a:rPr>
              <a:t>Classifier tree</a:t>
            </a:r>
          </a:p>
        </p:txBody>
      </p:sp>
      <p:sp>
        <p:nvSpPr>
          <p:cNvPr id="8" name="">
            <a:extLst xmlns:a="http://schemas.openxmlformats.org/drawingml/2006/main">
              <a:ext uri="{FF2B5EF4-FFF2-40B4-BE49-F238E27FC236}">
                <a16:creationId xmlns:a16="http://schemas.microsoft.com/office/drawing/2014/main" id="{18E9EFCC-A0F2-4298-BB2F-F78F25A247E9}"/>
              </a:ext>
            </a:extLst>
          </p:cNvPr>
          <p:cNvSpPr>
            <a:spLocks xmlns:a="http://schemas.openxmlformats.org/drawingml/2006/main" noGrp="1"/>
          </p:cNvSpPr>
          <p:nvPr/>
        </p:nvSpPr>
        <p:spPr>
          <a:xfrm xmlns:a="http://schemas.openxmlformats.org/drawingml/2006/main">
            <a:off x="8648700" y="2152650"/>
            <a:ext cx="2552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Directly proposes one scheduler from the observed state.</a:t>
            </a:r>
          </a:p>
        </p:txBody>
      </p:sp>
      <p:sp>
        <p:nvSpPr>
          <p:cNvPr id="9" name="">
            <a:extLst xmlns:a="http://schemas.openxmlformats.org/drawingml/2006/main">
              <a:ext uri="{FF2B5EF4-FFF2-40B4-BE49-F238E27FC236}">
                <a16:creationId xmlns:a16="http://schemas.microsoft.com/office/drawing/2014/main" id="{860E0C0E-22CF-43F1-969F-A6DC08D23164}"/>
              </a:ext>
            </a:extLst>
          </p:cNvPr>
          <p:cNvSpPr>
            <a:spLocks xmlns:a="http://schemas.openxmlformats.org/drawingml/2006/main" noGrp="1"/>
          </p:cNvSpPr>
          <p:nvPr/>
        </p:nvSpPr>
        <p:spPr>
          <a:xfrm xmlns:a="http://schemas.openxmlformats.org/drawingml/2006/main">
            <a:off x="8401050" y="3409950"/>
            <a:ext cx="3067050" cy="16764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0" name="">
            <a:extLst xmlns:a="http://schemas.openxmlformats.org/drawingml/2006/main">
              <a:ext uri="{FF2B5EF4-FFF2-40B4-BE49-F238E27FC236}">
                <a16:creationId xmlns:a16="http://schemas.microsoft.com/office/drawing/2014/main" id="{82F1F65C-1910-4FC4-BC9C-41F185484E48}"/>
              </a:ext>
            </a:extLst>
          </p:cNvPr>
          <p:cNvSpPr>
            <a:spLocks xmlns:a="http://schemas.openxmlformats.org/drawingml/2006/main" noGrp="1"/>
          </p:cNvSpPr>
          <p:nvPr/>
        </p:nvSpPr>
        <p:spPr>
          <a:xfrm xmlns:a="http://schemas.openxmlformats.org/drawingml/2006/main">
            <a:off x="8648700" y="3638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Policy-cost tree</a:t>
            </a:r>
          </a:p>
        </p:txBody>
      </p:sp>
      <p:sp>
        <p:nvSpPr>
          <p:cNvPr id="11" name="">
            <a:extLst xmlns:a="http://schemas.openxmlformats.org/drawingml/2006/main">
              <a:ext uri="{FF2B5EF4-FFF2-40B4-BE49-F238E27FC236}">
                <a16:creationId xmlns:a16="http://schemas.microsoft.com/office/drawing/2014/main" id="{45017199-FB2F-417B-80F2-5F7A141F50F3}"/>
              </a:ext>
            </a:extLst>
          </p:cNvPr>
          <p:cNvSpPr>
            <a:spLocks xmlns:a="http://schemas.openxmlformats.org/drawingml/2006/main" noGrp="1"/>
          </p:cNvSpPr>
          <p:nvPr/>
        </p:nvSpPr>
        <p:spPr>
          <a:xfrm xmlns:a="http://schemas.openxmlformats.org/drawingml/2006/main">
            <a:off x="8648700" y="40576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Predicts every scheduler's cost, then selects the minimum estimate.</a:t>
            </a:r>
          </a:p>
        </p:txBody>
      </p:sp>
      <p:sp>
        <p:nvSpPr>
          <p:cNvPr id="12" name="">
            <a:extLst xmlns:a="http://schemas.openxmlformats.org/drawingml/2006/main">
              <a:ext uri="{FF2B5EF4-FFF2-40B4-BE49-F238E27FC236}">
                <a16:creationId xmlns:a16="http://schemas.microsoft.com/office/drawing/2014/main" id="{0058A1B0-CE2B-4137-8FF4-D66072D85A35}"/>
              </a:ext>
            </a:extLst>
          </p:cNvPr>
          <p:cNvSpPr>
            <a:spLocks xmlns:a="http://schemas.openxmlformats.org/drawingml/2006/main" noGrp="1"/>
          </p:cNvSpPr>
          <p:nvPr/>
        </p:nvSpPr>
        <p:spPr>
          <a:xfrm xmlns:a="http://schemas.openxmlformats.org/drawingml/2006/main">
            <a:off x="685800" y="5600700"/>
            <a:ext cx="10782300" cy="628650"/>
          </a:xfrm>
          <a:prstGeom xmlns:a="http://schemas.openxmlformats.org/drawingml/2006/main" prst="rect">
            <a:avLst/>
          </a:prstGeom>
          <a:solidFill xmlns:a="http://schemas.openxmlformats.org/drawingml/2006/main">
            <a:srgbClr val="E8F0FA"/>
          </a:solidFill>
          <a:ln xmlns:a="http://schemas.openxmlformats.org/drawingml/2006/main" w="11430">
            <a:solidFill>
              <a:srgbClr val="1E5AA8"/>
            </a:solidFill>
            <a:prstDash val="solid"/>
          </a:ln>
        </p:spPr>
      </p:sp>
      <p:sp>
        <p:nvSpPr>
          <p:cNvPr id="13" name="">
            <a:extLst xmlns:a="http://schemas.openxmlformats.org/drawingml/2006/main">
              <a:ext uri="{FF2B5EF4-FFF2-40B4-BE49-F238E27FC236}">
                <a16:creationId xmlns:a16="http://schemas.microsoft.com/office/drawing/2014/main" id="{B249707B-3550-41C9-BCB0-9FD00E389791}"/>
              </a:ext>
            </a:extLst>
          </p:cNvPr>
          <p:cNvSpPr>
            <a:spLocks xmlns:a="http://schemas.openxmlformats.org/drawingml/2006/main" noGrp="1"/>
          </p:cNvSpPr>
          <p:nvPr/>
        </p:nvSpPr>
        <p:spPr>
          <a:xfrm xmlns:a="http://schemas.openxmlformats.org/drawingml/2006/main">
            <a:off x="895350" y="5743575"/>
            <a:ext cx="2781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Frozen for the demonstration</a:t>
            </a:r>
          </a:p>
        </p:txBody>
      </p:sp>
      <p:sp>
        <p:nvSpPr>
          <p:cNvPr id="14" name="">
            <a:extLst xmlns:a="http://schemas.openxmlformats.org/drawingml/2006/main">
              <a:ext uri="{FF2B5EF4-FFF2-40B4-BE49-F238E27FC236}">
                <a16:creationId xmlns:a16="http://schemas.microsoft.com/office/drawing/2014/main" id="{A2E6D6C1-2127-4813-A305-F7AC04B0D523}"/>
              </a:ext>
            </a:extLst>
          </p:cNvPr>
          <p:cNvSpPr>
            <a:spLocks xmlns:a="http://schemas.openxmlformats.org/drawingml/2006/main" noGrp="1"/>
          </p:cNvSpPr>
          <p:nvPr/>
        </p:nvSpPr>
        <p:spPr>
          <a:xfrm xmlns:a="http://schemas.openxmlformats.org/drawingml/2006/main">
            <a:off x="3733800" y="5695950"/>
            <a:ext cx="746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Classifier tree, because its validation scheduling score and response time were better. The policy-cost tree remains an evaluated alternative.</a:t>
            </a:r>
          </a:p>
        </p:txBody>
      </p:sp>
    </p:spTree>
    <p:extLst>
      <p:ext uri="{BB962C8B-B14F-4D97-AF65-F5344CB8AC3E}">
        <p14:creationId xmlns:p14="http://schemas.microsoft.com/office/powerpoint/2010/main" val="1928988489"/>
      </p:ext>
    </p:extLst>
  </p:cSld>
</p:sld>
</file>

<file path=ppt/slides/slide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700801E-F305-4E16-A4E6-724088DB447F}"/>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28AEC64F-38BA-4EB5-94CD-783C7EB0286E}"/>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End-to-end Dynamic V3 demonstration</a:t>
            </a:r>
          </a:p>
        </p:txBody>
      </p:sp>
      <p:sp>
        <p:nvSpPr>
          <p:cNvPr id="3" name="">
            <a:extLst xmlns:a="http://schemas.openxmlformats.org/drawingml/2006/main">
              <a:ext uri="{FF2B5EF4-FFF2-40B4-BE49-F238E27FC236}">
                <a16:creationId xmlns:a16="http://schemas.microsoft.com/office/drawing/2014/main" id="{FB553DA7-E815-4136-996E-A2778867C65C}"/>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2460150D-1BD6-4CF4-81C9-AEFC1F28C4DD}"/>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09</a:t>
            </a:r>
          </a:p>
        </p:txBody>
      </p:sp>
      <p:pic>
        <p:nvPicPr>
          <p:cNvPr id="5" name="">
            <a:extLst xmlns:a="http://schemas.openxmlformats.org/drawingml/2006/main">
              <a:ext uri="{FF2B5EF4-FFF2-40B4-BE49-F238E27FC236}">
                <a16:creationId xmlns:a16="http://schemas.microsoft.com/office/drawing/2014/main" id="{2BE44A64-A417-43C0-A02B-B7A7FE97647A}"/>
              </a:ext>
            </a:extLst>
          </p:cNvPr>
          <p:cNvPicPr>
            <a:picLocks xmlns:a="http://schemas.openxmlformats.org/drawingml/2006/main" noChangeAspect="1"/>
          </p:cNvPicPr>
          <p:nvPr/>
        </p:nvPicPr>
        <p:blipFill>
          <a:blip xmlns:r="http://schemas.openxmlformats.org/officeDocument/2006/relationships" xmlns:a="http://schemas.openxmlformats.org/drawingml/2006/main" r:embed="Rcedba03a364e4a26"/>
          <a:stretch xmlns:a="http://schemas.openxmlformats.org/drawingml/2006/main"/>
        </p:blipFill>
        <p:spPr>
          <a:xfrm xmlns:a="http://schemas.openxmlformats.org/drawingml/2006/main">
            <a:off x="1017814" y="1390650"/>
            <a:ext cx="6232071" cy="4362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50EE1C4-80CF-4326-A2FD-59753BFBECE7}"/>
              </a:ext>
            </a:extLst>
          </p:cNvPr>
          <p:cNvSpPr>
            <a:spLocks xmlns:a="http://schemas.openxmlformats.org/drawingml/2006/main" noGrp="1"/>
          </p:cNvSpPr>
          <p:nvPr/>
        </p:nvSpPr>
        <p:spPr>
          <a:xfrm xmlns:a="http://schemas.openxmlformats.org/drawingml/2006/main">
            <a:off x="8039100" y="1390650"/>
            <a:ext cx="3524250" cy="43624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7" name="">
            <a:extLst xmlns:a="http://schemas.openxmlformats.org/drawingml/2006/main">
              <a:ext uri="{FF2B5EF4-FFF2-40B4-BE49-F238E27FC236}">
                <a16:creationId xmlns:a16="http://schemas.microsoft.com/office/drawing/2014/main" id="{2CD12B6E-B605-4615-845D-61DD04130090}"/>
              </a:ext>
            </a:extLst>
          </p:cNvPr>
          <p:cNvSpPr>
            <a:spLocks xmlns:a="http://schemas.openxmlformats.org/drawingml/2006/main" noGrp="1"/>
          </p:cNvSpPr>
          <p:nvPr/>
        </p:nvSpPr>
        <p:spPr>
          <a:xfrm xmlns:a="http://schemas.openxmlformats.org/drawingml/2006/main">
            <a:off x="8286750" y="16002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1E5AA8"/>
                </a:solidFill>
                <a:latin typeface="Arial"/>
                <a:ea typeface="Arial"/>
                <a:cs typeface="Arial"/>
              </a:defRPr>
            </a:defPPr>
            <a:lvl1pPr>
              <a:defRPr sz="1650" b="1" i="0">
                <a:solidFill>
                  <a:srgbClr val="1E5AA8"/>
                </a:solidFill>
                <a:latin typeface="Arial"/>
                <a:ea typeface="Arial"/>
                <a:cs typeface="Arial"/>
              </a:defRPr>
            </a:lvl1pPr>
            <a:lvl2pPr>
              <a:defRPr sz="1650" b="1" i="0">
                <a:solidFill>
                  <a:srgbClr val="1E5AA8"/>
                </a:solidFill>
                <a:latin typeface="Arial"/>
                <a:ea typeface="Arial"/>
                <a:cs typeface="Arial"/>
              </a:defRPr>
            </a:lvl2pPr>
            <a:lvl3pPr>
              <a:defRPr sz="1650" b="1" i="0">
                <a:solidFill>
                  <a:srgbClr val="1E5AA8"/>
                </a:solidFill>
                <a:latin typeface="Arial"/>
                <a:ea typeface="Arial"/>
                <a:cs typeface="Arial"/>
              </a:defRPr>
            </a:lvl3pPr>
            <a:lvl4pPr>
              <a:defRPr sz="1650" b="1" i="0">
                <a:solidFill>
                  <a:srgbClr val="1E5AA8"/>
                </a:solidFill>
                <a:latin typeface="Arial"/>
                <a:ea typeface="Arial"/>
                <a:cs typeface="Arial"/>
              </a:defRPr>
            </a:lvl4pPr>
            <a:lvl5pPr>
              <a:defRPr sz="1650" b="1" i="0">
                <a:solidFill>
                  <a:srgbClr val="1E5AA8"/>
                </a:solidFill>
                <a:latin typeface="Arial"/>
                <a:ea typeface="Arial"/>
                <a:cs typeface="Arial"/>
              </a:defRPr>
            </a:lvl5pPr>
            <a:lvl6pPr>
              <a:defRPr sz="1650" b="1" i="0">
                <a:solidFill>
                  <a:srgbClr val="1E5AA8"/>
                </a:solidFill>
                <a:latin typeface="Arial"/>
                <a:ea typeface="Arial"/>
                <a:cs typeface="Arial"/>
              </a:defRPr>
            </a:lvl6pPr>
            <a:lvl7pPr>
              <a:defRPr sz="1650" b="1" i="0">
                <a:solidFill>
                  <a:srgbClr val="1E5AA8"/>
                </a:solidFill>
                <a:latin typeface="Arial"/>
                <a:ea typeface="Arial"/>
                <a:cs typeface="Arial"/>
              </a:defRPr>
            </a:lvl7pPr>
            <a:lvl8pPr>
              <a:defRPr sz="1650" b="1" i="0">
                <a:solidFill>
                  <a:srgbClr val="1E5AA8"/>
                </a:solidFill>
                <a:latin typeface="Arial"/>
                <a:ea typeface="Arial"/>
                <a:cs typeface="Arial"/>
              </a:defRPr>
            </a:lvl8pPr>
            <a:lvl9pPr>
              <a:defRPr sz="1650" b="1" i="0">
                <a:solidFill>
                  <a:srgbClr val="1E5AA8"/>
                </a:solidFill>
                <a:latin typeface="Arial"/>
                <a:ea typeface="Arial"/>
                <a:cs typeface="Arial"/>
              </a:defRPr>
            </a:lvl9pPr>
          </a:lstStyle>
          <a:p xmlns:a="http://schemas.openxmlformats.org/drawingml/2006/main">
            <a:pPr>
              <a:defRPr sz="1650" b="1" i="0">
                <a:solidFill>
                  <a:srgbClr val="1E5AA8"/>
                </a:solidFill>
                <a:latin typeface="Arial"/>
                <a:ea typeface="Arial"/>
                <a:cs typeface="Arial"/>
              </a:defRPr>
            </a:pPr>
            <a:r>
              <a:rPr sz="1650" b="1" i="0">
                <a:solidFill>
                  <a:srgbClr val="1E5AA8"/>
                </a:solidFill>
                <a:latin typeface="Arial"/>
                <a:ea typeface="Arial"/>
                <a:cs typeface="Arial"/>
              </a:rPr>
              <a:t>Router loop</a:t>
            </a:r>
          </a:p>
        </p:txBody>
      </p:sp>
      <p:sp>
        <p:nvSpPr>
          <p:cNvPr id="8" name="">
            <a:extLst xmlns:a="http://schemas.openxmlformats.org/drawingml/2006/main">
              <a:ext uri="{FF2B5EF4-FFF2-40B4-BE49-F238E27FC236}">
                <a16:creationId xmlns:a16="http://schemas.microsoft.com/office/drawing/2014/main" id="{C3033A97-FFA2-4A7C-AFFE-38FE9E168F77}"/>
              </a:ext>
            </a:extLst>
          </p:cNvPr>
          <p:cNvSpPr>
            <a:spLocks xmlns:a="http://schemas.openxmlformats.org/drawingml/2006/main" noGrp="1"/>
          </p:cNvSpPr>
          <p:nvPr/>
        </p:nvSpPr>
        <p:spPr>
          <a:xfrm xmlns:a="http://schemas.openxmlformats.org/drawingml/2006/main">
            <a:off x="8286750" y="20574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40DBE9D-6BA7-4BBD-B96A-7C98D9B27086}"/>
              </a:ext>
            </a:extLst>
          </p:cNvPr>
          <p:cNvSpPr>
            <a:spLocks xmlns:a="http://schemas.openxmlformats.org/drawingml/2006/main" noGrp="1"/>
          </p:cNvSpPr>
          <p:nvPr/>
        </p:nvSpPr>
        <p:spPr>
          <a:xfrm xmlns:a="http://schemas.openxmlformats.org/drawingml/2006/main">
            <a:off x="8286750" y="21050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AFB15B3C-AC8F-4FE6-BD63-A601E6C9569F}"/>
              </a:ext>
            </a:extLst>
          </p:cNvPr>
          <p:cNvSpPr>
            <a:spLocks xmlns:a="http://schemas.openxmlformats.org/drawingml/2006/main" noGrp="1"/>
          </p:cNvSpPr>
          <p:nvPr/>
        </p:nvSpPr>
        <p:spPr>
          <a:xfrm xmlns:a="http://schemas.openxmlformats.org/drawingml/2006/main">
            <a:off x="8705850" y="20764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Observe every 10 ticks</a:t>
            </a:r>
          </a:p>
        </p:txBody>
      </p:sp>
      <p:sp>
        <p:nvSpPr>
          <p:cNvPr id="11" name="">
            <a:extLst xmlns:a="http://schemas.openxmlformats.org/drawingml/2006/main">
              <a:ext uri="{FF2B5EF4-FFF2-40B4-BE49-F238E27FC236}">
                <a16:creationId xmlns:a16="http://schemas.microsoft.com/office/drawing/2014/main" id="{A26A0F54-7645-41B1-BEC6-163BE956C1AC}"/>
              </a:ext>
            </a:extLst>
          </p:cNvPr>
          <p:cNvSpPr>
            <a:spLocks xmlns:a="http://schemas.openxmlformats.org/drawingml/2006/main" noGrp="1"/>
          </p:cNvSpPr>
          <p:nvPr/>
        </p:nvSpPr>
        <p:spPr>
          <a:xfrm xmlns:a="http://schemas.openxmlformats.org/drawingml/2006/main">
            <a:off x="8286750" y="25908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C94B107-478F-4C8B-A69A-9FD623DA8234}"/>
              </a:ext>
            </a:extLst>
          </p:cNvPr>
          <p:cNvSpPr>
            <a:spLocks xmlns:a="http://schemas.openxmlformats.org/drawingml/2006/main" noGrp="1"/>
          </p:cNvSpPr>
          <p:nvPr/>
        </p:nvSpPr>
        <p:spPr>
          <a:xfrm xmlns:a="http://schemas.openxmlformats.org/drawingml/2006/main">
            <a:off x="8286750" y="26384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384B5F34-165E-481D-A1E2-3867BDDB5358}"/>
              </a:ext>
            </a:extLst>
          </p:cNvPr>
          <p:cNvSpPr>
            <a:spLocks xmlns:a="http://schemas.openxmlformats.org/drawingml/2006/main" noGrp="1"/>
          </p:cNvSpPr>
          <p:nvPr/>
        </p:nvSpPr>
        <p:spPr>
          <a:xfrm xmlns:a="http://schemas.openxmlformats.org/drawingml/2006/main">
            <a:off x="8705850" y="26098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Model proposes a policy</a:t>
            </a:r>
          </a:p>
        </p:txBody>
      </p:sp>
      <p:sp>
        <p:nvSpPr>
          <p:cNvPr id="14" name="">
            <a:extLst xmlns:a="http://schemas.openxmlformats.org/drawingml/2006/main">
              <a:ext uri="{FF2B5EF4-FFF2-40B4-BE49-F238E27FC236}">
                <a16:creationId xmlns:a16="http://schemas.microsoft.com/office/drawing/2014/main" id="{44C66EA5-A31C-49A4-BDBA-1470002ECCFA}"/>
              </a:ext>
            </a:extLst>
          </p:cNvPr>
          <p:cNvSpPr>
            <a:spLocks xmlns:a="http://schemas.openxmlformats.org/drawingml/2006/main" noGrp="1"/>
          </p:cNvSpPr>
          <p:nvPr/>
        </p:nvSpPr>
        <p:spPr>
          <a:xfrm xmlns:a="http://schemas.openxmlformats.org/drawingml/2006/main">
            <a:off x="8286750" y="31242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8259B88-B350-4458-87F5-04FF717D3CA6}"/>
              </a:ext>
            </a:extLst>
          </p:cNvPr>
          <p:cNvSpPr>
            <a:spLocks xmlns:a="http://schemas.openxmlformats.org/drawingml/2006/main" noGrp="1"/>
          </p:cNvSpPr>
          <p:nvPr/>
        </p:nvSpPr>
        <p:spPr>
          <a:xfrm xmlns:a="http://schemas.openxmlformats.org/drawingml/2006/main">
            <a:off x="8286750" y="31718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D922C58A-873C-466D-848E-5AD28FD7F99C}"/>
              </a:ext>
            </a:extLst>
          </p:cNvPr>
          <p:cNvSpPr>
            <a:spLocks xmlns:a="http://schemas.openxmlformats.org/drawingml/2006/main" noGrp="1"/>
          </p:cNvSpPr>
          <p:nvPr/>
        </p:nvSpPr>
        <p:spPr>
          <a:xfrm xmlns:a="http://schemas.openxmlformats.org/drawingml/2006/main">
            <a:off x="8705850" y="31432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Confidence and dwell checks</a:t>
            </a:r>
          </a:p>
        </p:txBody>
      </p:sp>
      <p:sp>
        <p:nvSpPr>
          <p:cNvPr id="17" name="">
            <a:extLst xmlns:a="http://schemas.openxmlformats.org/drawingml/2006/main">
              <a:ext uri="{FF2B5EF4-FFF2-40B4-BE49-F238E27FC236}">
                <a16:creationId xmlns:a16="http://schemas.microsoft.com/office/drawing/2014/main" id="{7CD37602-C8D2-4F65-A388-69CD92BC895C}"/>
              </a:ext>
            </a:extLst>
          </p:cNvPr>
          <p:cNvSpPr>
            <a:spLocks xmlns:a="http://schemas.openxmlformats.org/drawingml/2006/main" noGrp="1"/>
          </p:cNvSpPr>
          <p:nvPr/>
        </p:nvSpPr>
        <p:spPr>
          <a:xfrm xmlns:a="http://schemas.openxmlformats.org/drawingml/2006/main">
            <a:off x="8286750" y="36576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DFF5554-C2AF-4A64-964F-44D66C7F906A}"/>
              </a:ext>
            </a:extLst>
          </p:cNvPr>
          <p:cNvSpPr>
            <a:spLocks xmlns:a="http://schemas.openxmlformats.org/drawingml/2006/main" noGrp="1"/>
          </p:cNvSpPr>
          <p:nvPr/>
        </p:nvSpPr>
        <p:spPr>
          <a:xfrm xmlns:a="http://schemas.openxmlformats.org/drawingml/2006/main">
            <a:off x="8286750" y="37052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A73BD74C-B16D-45BB-922A-916AA147CCA9}"/>
              </a:ext>
            </a:extLst>
          </p:cNvPr>
          <p:cNvSpPr>
            <a:spLocks xmlns:a="http://schemas.openxmlformats.org/drawingml/2006/main" noGrp="1"/>
          </p:cNvSpPr>
          <p:nvPr/>
        </p:nvSpPr>
        <p:spPr>
          <a:xfrm xmlns:a="http://schemas.openxmlformats.org/drawingml/2006/main">
            <a:off x="8705850" y="36766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Switch at a safe boundary</a:t>
            </a:r>
          </a:p>
        </p:txBody>
      </p:sp>
      <p:sp>
        <p:nvSpPr>
          <p:cNvPr id="20" name="">
            <a:extLst xmlns:a="http://schemas.openxmlformats.org/drawingml/2006/main">
              <a:ext uri="{FF2B5EF4-FFF2-40B4-BE49-F238E27FC236}">
                <a16:creationId xmlns:a16="http://schemas.microsoft.com/office/drawing/2014/main" id="{C52D8AD8-9FCD-463A-9BDB-B09C567F0D4A}"/>
              </a:ext>
            </a:extLst>
          </p:cNvPr>
          <p:cNvSpPr>
            <a:spLocks xmlns:a="http://schemas.openxmlformats.org/drawingml/2006/main" noGrp="1"/>
          </p:cNvSpPr>
          <p:nvPr/>
        </p:nvSpPr>
        <p:spPr>
          <a:xfrm xmlns:a="http://schemas.openxmlformats.org/drawingml/2006/main">
            <a:off x="8286750" y="4324350"/>
            <a:ext cx="3009900" cy="0"/>
          </a:xfrm>
          <a:prstGeom xmlns:a="http://schemas.openxmlformats.org/drawingml/2006/main" prst="line">
            <a:avLst/>
          </a:prstGeom>
          <a:ln xmlns:a="http://schemas.openxmlformats.org/drawingml/2006/main" w="9525">
            <a:solidFill>
              <a:srgbClr val="D6DADE"/>
            </a:solidFill>
            <a:prstDash val="solid"/>
          </a:ln>
        </p:spPr>
      </p:sp>
      <p:sp>
        <p:nvSpPr>
          <p:cNvPr id="21" name="">
            <a:extLst xmlns:a="http://schemas.openxmlformats.org/drawingml/2006/main">
              <a:ext uri="{FF2B5EF4-FFF2-40B4-BE49-F238E27FC236}">
                <a16:creationId xmlns:a16="http://schemas.microsoft.com/office/drawing/2014/main" id="{A6EF7B7C-0696-48BD-AF7D-6EF1EC986C4C}"/>
              </a:ext>
            </a:extLst>
          </p:cNvPr>
          <p:cNvSpPr>
            <a:spLocks xmlns:a="http://schemas.openxmlformats.org/drawingml/2006/main" noGrp="1"/>
          </p:cNvSpPr>
          <p:nvPr/>
        </p:nvSpPr>
        <p:spPr>
          <a:xfrm xmlns:a="http://schemas.openxmlformats.org/drawingml/2006/main">
            <a:off x="8286750" y="451485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52 reviews</a:t>
            </a:r>
          </a:p>
        </p:txBody>
      </p:sp>
      <p:sp>
        <p:nvSpPr>
          <p:cNvPr id="22" name="">
            <a:extLst xmlns:a="http://schemas.openxmlformats.org/drawingml/2006/main">
              <a:ext uri="{FF2B5EF4-FFF2-40B4-BE49-F238E27FC236}">
                <a16:creationId xmlns:a16="http://schemas.microsoft.com/office/drawing/2014/main" id="{43AAED9B-AE71-4F31-AFCD-50496176682A}"/>
              </a:ext>
            </a:extLst>
          </p:cNvPr>
          <p:cNvSpPr>
            <a:spLocks xmlns:a="http://schemas.openxmlformats.org/drawingml/2006/main" noGrp="1"/>
          </p:cNvSpPr>
          <p:nvPr/>
        </p:nvSpPr>
        <p:spPr>
          <a:xfrm xmlns:a="http://schemas.openxmlformats.org/drawingml/2006/main">
            <a:off x="9715500" y="4514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8 accepted switches</a:t>
            </a:r>
          </a:p>
        </p:txBody>
      </p:sp>
      <p:sp>
        <p:nvSpPr>
          <p:cNvPr id="23" name="">
            <a:extLst xmlns:a="http://schemas.openxmlformats.org/drawingml/2006/main">
              <a:ext uri="{FF2B5EF4-FFF2-40B4-BE49-F238E27FC236}">
                <a16:creationId xmlns:a16="http://schemas.microsoft.com/office/drawing/2014/main" id="{88943C92-3C05-4719-9A94-556951E056C9}"/>
              </a:ext>
            </a:extLst>
          </p:cNvPr>
          <p:cNvSpPr>
            <a:spLocks xmlns:a="http://schemas.openxmlformats.org/drawingml/2006/main" noGrp="1"/>
          </p:cNvSpPr>
          <p:nvPr/>
        </p:nvSpPr>
        <p:spPr>
          <a:xfrm xmlns:a="http://schemas.openxmlformats.org/drawingml/2006/main">
            <a:off x="8286750" y="49530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Initial: MLFQ</a:t>
            </a:r>
          </a:p>
        </p:txBody>
      </p:sp>
      <p:sp>
        <p:nvSpPr>
          <p:cNvPr id="24" name="">
            <a:extLst xmlns:a="http://schemas.openxmlformats.org/drawingml/2006/main">
              <a:ext uri="{FF2B5EF4-FFF2-40B4-BE49-F238E27FC236}">
                <a16:creationId xmlns:a16="http://schemas.microsoft.com/office/drawing/2014/main" id="{0853ED50-A1B2-4AF0-BB3E-1B53F6664090}"/>
              </a:ext>
            </a:extLst>
          </p:cNvPr>
          <p:cNvSpPr>
            <a:spLocks xmlns:a="http://schemas.openxmlformats.org/drawingml/2006/main" noGrp="1"/>
          </p:cNvSpPr>
          <p:nvPr/>
        </p:nvSpPr>
        <p:spPr>
          <a:xfrm xmlns:a="http://schemas.openxmlformats.org/drawingml/2006/main">
            <a:off x="9715500" y="49530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Final: Priority</a:t>
            </a:r>
          </a:p>
        </p:txBody>
      </p:sp>
      <p:sp>
        <p:nvSpPr>
          <p:cNvPr id="25" name="">
            <a:extLst xmlns:a="http://schemas.openxmlformats.org/drawingml/2006/main">
              <a:ext uri="{FF2B5EF4-FFF2-40B4-BE49-F238E27FC236}">
                <a16:creationId xmlns:a16="http://schemas.microsoft.com/office/drawing/2014/main" id="{3592F445-4AFE-4742-A485-59FDDE4B9BFE}"/>
              </a:ext>
            </a:extLst>
          </p:cNvPr>
          <p:cNvSpPr>
            <a:spLocks xmlns:a="http://schemas.openxmlformats.org/drawingml/2006/main" noGrp="1"/>
          </p:cNvSpPr>
          <p:nvPr/>
        </p:nvSpPr>
        <p:spPr>
          <a:xfrm xmlns:a="http://schemas.openxmlformats.org/drawingml/2006/main">
            <a:off x="8286750" y="53149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i="0">
                <a:solidFill>
                  <a:srgbClr val="1E5AA8"/>
                </a:solidFill>
                <a:latin typeface="Arial"/>
                <a:ea typeface="Arial"/>
                <a:cs typeface="Arial"/>
              </a:defRPr>
            </a:defPPr>
            <a:lvl1pPr>
              <a:defRPr sz="1050" b="1" i="0">
                <a:solidFill>
                  <a:srgbClr val="1E5AA8"/>
                </a:solidFill>
                <a:latin typeface="Arial"/>
                <a:ea typeface="Arial"/>
                <a:cs typeface="Arial"/>
              </a:defRPr>
            </a:lvl1pPr>
            <a:lvl2pPr>
              <a:defRPr sz="1050" b="1" i="0">
                <a:solidFill>
                  <a:srgbClr val="1E5AA8"/>
                </a:solidFill>
                <a:latin typeface="Arial"/>
                <a:ea typeface="Arial"/>
                <a:cs typeface="Arial"/>
              </a:defRPr>
            </a:lvl2pPr>
            <a:lvl3pPr>
              <a:defRPr sz="1050" b="1" i="0">
                <a:solidFill>
                  <a:srgbClr val="1E5AA8"/>
                </a:solidFill>
                <a:latin typeface="Arial"/>
                <a:ea typeface="Arial"/>
                <a:cs typeface="Arial"/>
              </a:defRPr>
            </a:lvl3pPr>
            <a:lvl4pPr>
              <a:defRPr sz="1050" b="1" i="0">
                <a:solidFill>
                  <a:srgbClr val="1E5AA8"/>
                </a:solidFill>
                <a:latin typeface="Arial"/>
                <a:ea typeface="Arial"/>
                <a:cs typeface="Arial"/>
              </a:defRPr>
            </a:lvl4pPr>
            <a:lvl5pPr>
              <a:defRPr sz="1050" b="1" i="0">
                <a:solidFill>
                  <a:srgbClr val="1E5AA8"/>
                </a:solidFill>
                <a:latin typeface="Arial"/>
                <a:ea typeface="Arial"/>
                <a:cs typeface="Arial"/>
              </a:defRPr>
            </a:lvl5pPr>
            <a:lvl6pPr>
              <a:defRPr sz="1050" b="1" i="0">
                <a:solidFill>
                  <a:srgbClr val="1E5AA8"/>
                </a:solidFill>
                <a:latin typeface="Arial"/>
                <a:ea typeface="Arial"/>
                <a:cs typeface="Arial"/>
              </a:defRPr>
            </a:lvl6pPr>
            <a:lvl7pPr>
              <a:defRPr sz="1050" b="1" i="0">
                <a:solidFill>
                  <a:srgbClr val="1E5AA8"/>
                </a:solidFill>
                <a:latin typeface="Arial"/>
                <a:ea typeface="Arial"/>
                <a:cs typeface="Arial"/>
              </a:defRPr>
            </a:lvl7pPr>
            <a:lvl8pPr>
              <a:defRPr sz="1050" b="1" i="0">
                <a:solidFill>
                  <a:srgbClr val="1E5AA8"/>
                </a:solidFill>
                <a:latin typeface="Arial"/>
                <a:ea typeface="Arial"/>
                <a:cs typeface="Arial"/>
              </a:defRPr>
            </a:lvl8pPr>
            <a:lvl9pPr>
              <a:defRPr sz="1050" b="1" i="0">
                <a:solidFill>
                  <a:srgbClr val="1E5AA8"/>
                </a:solidFill>
                <a:latin typeface="Arial"/>
                <a:ea typeface="Arial"/>
                <a:cs typeface="Arial"/>
              </a:defRPr>
            </a:lvl9pPr>
          </a:lstStyle>
          <a:p xmlns:a="http://schemas.openxmlformats.org/drawingml/2006/main">
            <a:pPr>
              <a:defRPr sz="1050" b="1" i="0">
                <a:solidFill>
                  <a:srgbClr val="1E5AA8"/>
                </a:solidFill>
                <a:latin typeface="Arial"/>
                <a:ea typeface="Arial"/>
                <a:cs typeface="Arial"/>
              </a:defRPr>
            </a:pPr>
            <a:r>
              <a:rPr sz="1050" b="1" i="0">
                <a:solidFill>
                  <a:srgbClr val="1E5AA8"/>
                </a:solidFill>
                <a:latin typeface="Arial"/>
                <a:ea typeface="Arial"/>
                <a:cs typeface="Arial"/>
              </a:rPr>
              <a:t>Decision P99</a:t>
            </a:r>
          </a:p>
        </p:txBody>
      </p:sp>
      <p:sp>
        <p:nvSpPr>
          <p:cNvPr id="26" name="">
            <a:extLst xmlns:a="http://schemas.openxmlformats.org/drawingml/2006/main">
              <a:ext uri="{FF2B5EF4-FFF2-40B4-BE49-F238E27FC236}">
                <a16:creationId xmlns:a16="http://schemas.microsoft.com/office/drawing/2014/main" id="{8153BA53-FEFF-412E-B069-91DC31174A56}"/>
              </a:ext>
            </a:extLst>
          </p:cNvPr>
          <p:cNvSpPr>
            <a:spLocks xmlns:a="http://schemas.openxmlformats.org/drawingml/2006/main" noGrp="1"/>
          </p:cNvSpPr>
          <p:nvPr/>
        </p:nvSpPr>
        <p:spPr>
          <a:xfrm xmlns:a="http://schemas.openxmlformats.org/drawingml/2006/main">
            <a:off x="9715500" y="52578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i="0">
                <a:solidFill>
                  <a:srgbClr val="1E5AA8"/>
                </a:solidFill>
                <a:latin typeface="Arial"/>
                <a:ea typeface="Arial"/>
                <a:cs typeface="Arial"/>
              </a:defRPr>
            </a:defPPr>
            <a:lvl1pPr>
              <a:defRPr sz="1875" b="1" i="0">
                <a:solidFill>
                  <a:srgbClr val="1E5AA8"/>
                </a:solidFill>
                <a:latin typeface="Arial"/>
                <a:ea typeface="Arial"/>
                <a:cs typeface="Arial"/>
              </a:defRPr>
            </a:lvl1pPr>
            <a:lvl2pPr>
              <a:defRPr sz="1875" b="1" i="0">
                <a:solidFill>
                  <a:srgbClr val="1E5AA8"/>
                </a:solidFill>
                <a:latin typeface="Arial"/>
                <a:ea typeface="Arial"/>
                <a:cs typeface="Arial"/>
              </a:defRPr>
            </a:lvl2pPr>
            <a:lvl3pPr>
              <a:defRPr sz="1875" b="1" i="0">
                <a:solidFill>
                  <a:srgbClr val="1E5AA8"/>
                </a:solidFill>
                <a:latin typeface="Arial"/>
                <a:ea typeface="Arial"/>
                <a:cs typeface="Arial"/>
              </a:defRPr>
            </a:lvl3pPr>
            <a:lvl4pPr>
              <a:defRPr sz="1875" b="1" i="0">
                <a:solidFill>
                  <a:srgbClr val="1E5AA8"/>
                </a:solidFill>
                <a:latin typeface="Arial"/>
                <a:ea typeface="Arial"/>
                <a:cs typeface="Arial"/>
              </a:defRPr>
            </a:lvl4pPr>
            <a:lvl5pPr>
              <a:defRPr sz="1875" b="1" i="0">
                <a:solidFill>
                  <a:srgbClr val="1E5AA8"/>
                </a:solidFill>
                <a:latin typeface="Arial"/>
                <a:ea typeface="Arial"/>
                <a:cs typeface="Arial"/>
              </a:defRPr>
            </a:lvl5pPr>
            <a:lvl6pPr>
              <a:defRPr sz="1875" b="1" i="0">
                <a:solidFill>
                  <a:srgbClr val="1E5AA8"/>
                </a:solidFill>
                <a:latin typeface="Arial"/>
                <a:ea typeface="Arial"/>
                <a:cs typeface="Arial"/>
              </a:defRPr>
            </a:lvl6pPr>
            <a:lvl7pPr>
              <a:defRPr sz="1875" b="1" i="0">
                <a:solidFill>
                  <a:srgbClr val="1E5AA8"/>
                </a:solidFill>
                <a:latin typeface="Arial"/>
                <a:ea typeface="Arial"/>
                <a:cs typeface="Arial"/>
              </a:defRPr>
            </a:lvl7pPr>
            <a:lvl8pPr>
              <a:defRPr sz="1875" b="1" i="0">
                <a:solidFill>
                  <a:srgbClr val="1E5AA8"/>
                </a:solidFill>
                <a:latin typeface="Arial"/>
                <a:ea typeface="Arial"/>
                <a:cs typeface="Arial"/>
              </a:defRPr>
            </a:lvl8pPr>
            <a:lvl9pPr>
              <a:defRPr sz="1875" b="1" i="0">
                <a:solidFill>
                  <a:srgbClr val="1E5AA8"/>
                </a:solidFill>
                <a:latin typeface="Arial"/>
                <a:ea typeface="Arial"/>
                <a:cs typeface="Arial"/>
              </a:defRPr>
            </a:lvl9pPr>
          </a:lstStyle>
          <a:p xmlns:a="http://schemas.openxmlformats.org/drawingml/2006/main">
            <a:pPr>
              <a:defRPr sz="1875" b="1" i="0">
                <a:solidFill>
                  <a:srgbClr val="1E5AA8"/>
                </a:solidFill>
                <a:latin typeface="Arial"/>
                <a:ea typeface="Arial"/>
                <a:cs typeface="Arial"/>
              </a:defRPr>
            </a:pPr>
            <a:r>
              <a:rPr sz="1875" b="1" i="0">
                <a:solidFill>
                  <a:srgbClr val="1E5AA8"/>
                </a:solidFill>
                <a:latin typeface="Arial"/>
                <a:ea typeface="Arial"/>
                <a:cs typeface="Arial"/>
              </a:rPr>
              <a:t>0.456 ms</a:t>
            </a:r>
          </a:p>
        </p:txBody>
      </p:sp>
      <p:sp>
        <p:nvSpPr>
          <p:cNvPr id="27" name="">
            <a:extLst xmlns:a="http://schemas.openxmlformats.org/drawingml/2006/main">
              <a:ext uri="{FF2B5EF4-FFF2-40B4-BE49-F238E27FC236}">
                <a16:creationId xmlns:a16="http://schemas.microsoft.com/office/drawing/2014/main" id="{4D0260B0-2DC8-41D4-B6F8-F69E5B505335}"/>
              </a:ext>
            </a:extLst>
          </p:cNvPr>
          <p:cNvSpPr>
            <a:spLocks xmlns:a="http://schemas.openxmlformats.org/drawingml/2006/main" noGrp="1"/>
          </p:cNvSpPr>
          <p:nvPr/>
        </p:nvSpPr>
        <p:spPr>
          <a:xfrm xmlns:a="http://schemas.openxmlformats.org/drawingml/2006/main">
            <a:off x="514350" y="5962650"/>
            <a:ext cx="11049000" cy="381000"/>
          </a:xfrm>
          <a:prstGeom xmlns:a="http://schemas.openxmlformats.org/drawingml/2006/main" prst="rect">
            <a:avLst/>
          </a:prstGeom>
          <a:solidFill xmlns:a="http://schemas.openxmlformats.org/drawingml/2006/main">
            <a:srgbClr val="E8F0FA"/>
          </a:solidFill>
          <a:ln xmlns:a="http://schemas.openxmlformats.org/drawingml/2006/main" w="9525">
            <a:solidFill>
              <a:srgbClr val="1E5AA8"/>
            </a:solidFill>
            <a:prstDash val="solid"/>
          </a:ln>
        </p:spPr>
      </p:sp>
      <p:sp>
        <p:nvSpPr>
          <p:cNvPr id="28" name="">
            <a:extLst xmlns:a="http://schemas.openxmlformats.org/drawingml/2006/main">
              <a:ext uri="{FF2B5EF4-FFF2-40B4-BE49-F238E27FC236}">
                <a16:creationId xmlns:a16="http://schemas.microsoft.com/office/drawing/2014/main" id="{56B3CD03-D15B-4193-AF15-A6B029E01D14}"/>
              </a:ext>
            </a:extLst>
          </p:cNvPr>
          <p:cNvSpPr>
            <a:spLocks xmlns:a="http://schemas.openxmlformats.org/drawingml/2006/main" noGrp="1"/>
          </p:cNvSpPr>
          <p:nvPr/>
        </p:nvSpPr>
        <p:spPr>
          <a:xfrm xmlns:a="http://schemas.openxmlformats.org/drawingml/2006/main">
            <a:off x="666750" y="604837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Result: the full model-selection and guarded-routing workflow runs within the prototype latency target. This does not establish kernel performance or universal policy superiority.</a:t>
            </a:r>
          </a:p>
        </p:txBody>
      </p:sp>
    </p:spTree>
    <p:extLst>
      <p:ext uri="{BB962C8B-B14F-4D97-AF65-F5344CB8AC3E}">
        <p14:creationId xmlns:p14="http://schemas.microsoft.com/office/powerpoint/2010/main" val="539559595"/>
      </p:ext>
    </p:extLst>
  </p:cSld>
</p:sld>
</file>

<file path=ppt/slides/slide1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D3B1C67-571C-48E3-B638-00B97B19AD7B}"/>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C5EEA169-8E28-49A5-8B0D-980702704FCE}"/>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A5998481-CDA5-43AA-A202-3ABEB3F78BDF}"/>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EC48B863-F354-4D6D-A877-B1D75D18BFB6}"/>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9063BE01-3862-41C4-BF8B-A74EE93050D6}"/>
              </a:ext>
            </a:extLst>
          </p:cNvPr>
          <p:cNvSpPr>
            <a:spLocks xmlns:a="http://schemas.openxmlformats.org/drawingml/2006/main" noGrp="1"/>
          </p:cNvSpPr>
          <p:nvPr/>
        </p:nvSpPr>
        <p:spPr>
          <a:xfrm xmlns:a="http://schemas.openxmlformats.org/drawingml/2006/main">
            <a:off x="571500" y="13525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SCHEDULING AND SYSTEMS</a:t>
            </a:r>
          </a:p>
        </p:txBody>
      </p:sp>
      <p:sp>
        <p:nvSpPr>
          <p:cNvPr id="6" name="">
            <a:extLst xmlns:a="http://schemas.openxmlformats.org/drawingml/2006/main">
              <a:ext uri="{FF2B5EF4-FFF2-40B4-BE49-F238E27FC236}">
                <a16:creationId xmlns:a16="http://schemas.microsoft.com/office/drawing/2014/main" id="{2833CDA8-8A5E-4591-9F20-7A3ABD94A64B}"/>
              </a:ext>
            </a:extLst>
          </p:cNvPr>
          <p:cNvSpPr>
            <a:spLocks xmlns:a="http://schemas.openxmlformats.org/drawingml/2006/main" noGrp="1"/>
          </p:cNvSpPr>
          <p:nvPr/>
        </p:nvSpPr>
        <p:spPr>
          <a:xfrm xmlns:a="http://schemas.openxmlformats.org/drawingml/2006/main">
            <a:off x="6343650" y="13525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MODEL FOUNDATIONS</a:t>
            </a:r>
          </a:p>
        </p:txBody>
      </p:sp>
      <p:sp>
        <p:nvSpPr>
          <p:cNvPr id="7" name="">
            <a:extLst xmlns:a="http://schemas.openxmlformats.org/drawingml/2006/main">
              <a:ext uri="{FF2B5EF4-FFF2-40B4-BE49-F238E27FC236}">
                <a16:creationId xmlns:a16="http://schemas.microsoft.com/office/drawing/2014/main" id="{4E18C854-E1C5-4DBF-889D-34FB1D765678}"/>
              </a:ext>
            </a:extLst>
          </p:cNvPr>
          <p:cNvSpPr>
            <a:spLocks xmlns:a="http://schemas.openxmlformats.org/drawingml/2006/main" noGrp="1"/>
          </p:cNvSpPr>
          <p:nvPr/>
        </p:nvSpPr>
        <p:spPr>
          <a:xfrm xmlns:a="http://schemas.openxmlformats.org/drawingml/2006/main">
            <a:off x="571500" y="169545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[1] S. Biswas et al., “A Machine Learning Approach for Predicting Efficient CPU Scheduling Algorithm,” STI, 2023, doi: 10.1109/STI59863.2023.10464816.</a:t>
            </a:r>
          </a:p>
        </p:txBody>
      </p:sp>
      <p:sp>
        <p:nvSpPr>
          <p:cNvPr id="8" name="">
            <a:extLst xmlns:a="http://schemas.openxmlformats.org/drawingml/2006/main">
              <a:ext uri="{FF2B5EF4-FFF2-40B4-BE49-F238E27FC236}">
                <a16:creationId xmlns:a16="http://schemas.microsoft.com/office/drawing/2014/main" id="{EB3B5E2D-DB19-4D01-A6AE-0A1B945CA15A}"/>
              </a:ext>
            </a:extLst>
          </p:cNvPr>
          <p:cNvSpPr>
            <a:spLocks xmlns:a="http://schemas.openxmlformats.org/drawingml/2006/main" noGrp="1"/>
          </p:cNvSpPr>
          <p:nvPr/>
        </p:nvSpPr>
        <p:spPr>
          <a:xfrm xmlns:a="http://schemas.openxmlformats.org/drawingml/2006/main">
            <a:off x="571500" y="243840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[2] X. Wang et al., “Mixture-of-Schedulers: An Adaptive Scheduling Agent as a Learned Router for Expert Policies,” arXiv:2511.11628, 2025.</a:t>
            </a:r>
          </a:p>
        </p:txBody>
      </p:sp>
      <p:sp>
        <p:nvSpPr>
          <p:cNvPr id="9" name="">
            <a:extLst xmlns:a="http://schemas.openxmlformats.org/drawingml/2006/main">
              <a:ext uri="{FF2B5EF4-FFF2-40B4-BE49-F238E27FC236}">
                <a16:creationId xmlns:a16="http://schemas.microsoft.com/office/drawing/2014/main" id="{F7B3B355-3C4B-4668-9FC2-7C8FC50581F4}"/>
              </a:ext>
            </a:extLst>
          </p:cNvPr>
          <p:cNvSpPr>
            <a:spLocks xmlns:a="http://schemas.openxmlformats.org/drawingml/2006/main" noGrp="1"/>
          </p:cNvSpPr>
          <p:nvPr/>
        </p:nvSpPr>
        <p:spPr>
          <a:xfrm xmlns:a="http://schemas.openxmlformats.org/drawingml/2006/main">
            <a:off x="571500" y="318135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[3] Y. Fu et al., “ALPS: An Adaptive Learning, Priority OS Scheduler for Serverless Functions,” USENIX ATC, 2024.</a:t>
            </a:r>
          </a:p>
        </p:txBody>
      </p:sp>
      <p:sp>
        <p:nvSpPr>
          <p:cNvPr id="10" name="">
            <a:extLst xmlns:a="http://schemas.openxmlformats.org/drawingml/2006/main">
              <a:ext uri="{FF2B5EF4-FFF2-40B4-BE49-F238E27FC236}">
                <a16:creationId xmlns:a16="http://schemas.microsoft.com/office/drawing/2014/main" id="{5E6B0124-8AAB-4E5A-8B3D-C8FB9E98039D}"/>
              </a:ext>
            </a:extLst>
          </p:cNvPr>
          <p:cNvSpPr>
            <a:spLocks xmlns:a="http://schemas.openxmlformats.org/drawingml/2006/main" noGrp="1"/>
          </p:cNvSpPr>
          <p:nvPr/>
        </p:nvSpPr>
        <p:spPr>
          <a:xfrm xmlns:a="http://schemas.openxmlformats.org/drawingml/2006/main">
            <a:off x="571500" y="392430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[4] H. Lee, S. Jung, and H. Jo, “STUN: Reinforcement-Learning-Based Optimization of Kernel Scheduler Parameters,” Applied Sciences, 2022.</a:t>
            </a:r>
          </a:p>
        </p:txBody>
      </p:sp>
      <p:sp>
        <p:nvSpPr>
          <p:cNvPr id="11" name="">
            <a:extLst xmlns:a="http://schemas.openxmlformats.org/drawingml/2006/main">
              <a:ext uri="{FF2B5EF4-FFF2-40B4-BE49-F238E27FC236}">
                <a16:creationId xmlns:a16="http://schemas.microsoft.com/office/drawing/2014/main" id="{16A52943-6F97-41D8-9381-3A7B632BE9DE}"/>
              </a:ext>
            </a:extLst>
          </p:cNvPr>
          <p:cNvSpPr>
            <a:spLocks xmlns:a="http://schemas.openxmlformats.org/drawingml/2006/main" noGrp="1"/>
          </p:cNvSpPr>
          <p:nvPr/>
        </p:nvSpPr>
        <p:spPr>
          <a:xfrm xmlns:a="http://schemas.openxmlformats.org/drawingml/2006/main">
            <a:off x="571500" y="466725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[5] A. Negi and K. K. Pusukuri, “Applying Machine Learning Techniques to Improve Linux Process Scheduling,” TENCON, 2005.</a:t>
            </a:r>
          </a:p>
        </p:txBody>
      </p:sp>
      <p:sp>
        <p:nvSpPr>
          <p:cNvPr id="12" name="">
            <a:extLst xmlns:a="http://schemas.openxmlformats.org/drawingml/2006/main">
              <a:ext uri="{FF2B5EF4-FFF2-40B4-BE49-F238E27FC236}">
                <a16:creationId xmlns:a16="http://schemas.microsoft.com/office/drawing/2014/main" id="{ABE9EBD3-C2BB-42AE-8B3E-DFEB3BC7BB50}"/>
              </a:ext>
            </a:extLst>
          </p:cNvPr>
          <p:cNvSpPr>
            <a:spLocks xmlns:a="http://schemas.openxmlformats.org/drawingml/2006/main" noGrp="1"/>
          </p:cNvSpPr>
          <p:nvPr/>
        </p:nvSpPr>
        <p:spPr>
          <a:xfrm xmlns:a="http://schemas.openxmlformats.org/drawingml/2006/main">
            <a:off x="571500" y="541020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[6] D. Seo et al., “SCHED: Safe CPU Scheduling Framework with Reinforcement Learning and Decision Trees,” VTC-Spring, 2025.</a:t>
            </a:r>
          </a:p>
        </p:txBody>
      </p:sp>
      <p:sp>
        <p:nvSpPr>
          <p:cNvPr id="13" name="">
            <a:extLst xmlns:a="http://schemas.openxmlformats.org/drawingml/2006/main">
              <a:ext uri="{FF2B5EF4-FFF2-40B4-BE49-F238E27FC236}">
                <a16:creationId xmlns:a16="http://schemas.microsoft.com/office/drawing/2014/main" id="{99D7D596-0201-45EC-BCF6-F5F8B27D3042}"/>
              </a:ext>
            </a:extLst>
          </p:cNvPr>
          <p:cNvSpPr>
            <a:spLocks xmlns:a="http://schemas.openxmlformats.org/drawingml/2006/main" noGrp="1"/>
          </p:cNvSpPr>
          <p:nvPr/>
        </p:nvSpPr>
        <p:spPr>
          <a:xfrm xmlns:a="http://schemas.openxmlformats.org/drawingml/2006/main">
            <a:off x="6343650" y="16954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[7] F. Pedregosa et al., “Scikit-learn: Machine Learning in Python,” Journal of Machine Learning Research, vol. 12, pp. 2825–2830, 2011.</a:t>
            </a:r>
          </a:p>
        </p:txBody>
      </p:sp>
      <p:sp>
        <p:nvSpPr>
          <p:cNvPr id="14" name="">
            <a:extLst xmlns:a="http://schemas.openxmlformats.org/drawingml/2006/main">
              <a:ext uri="{FF2B5EF4-FFF2-40B4-BE49-F238E27FC236}">
                <a16:creationId xmlns:a16="http://schemas.microsoft.com/office/drawing/2014/main" id="{3709B024-EE60-4F12-8466-7F469E172AB3}"/>
              </a:ext>
            </a:extLst>
          </p:cNvPr>
          <p:cNvSpPr>
            <a:spLocks xmlns:a="http://schemas.openxmlformats.org/drawingml/2006/main" noGrp="1"/>
          </p:cNvSpPr>
          <p:nvPr/>
        </p:nvSpPr>
        <p:spPr>
          <a:xfrm xmlns:a="http://schemas.openxmlformats.org/drawingml/2006/main">
            <a:off x="6343650" y="25717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[8] A. E. Hoerl and R. W. Kennard, “Ridge Regression: Biased Estimation for Nonorthogonal Problems,” Technometrics, vol. 12, no. 1, pp. 55–67, 1970.</a:t>
            </a:r>
          </a:p>
        </p:txBody>
      </p:sp>
      <p:sp>
        <p:nvSpPr>
          <p:cNvPr id="15" name="">
            <a:extLst xmlns:a="http://schemas.openxmlformats.org/drawingml/2006/main">
              <a:ext uri="{FF2B5EF4-FFF2-40B4-BE49-F238E27FC236}">
                <a16:creationId xmlns:a16="http://schemas.microsoft.com/office/drawing/2014/main" id="{71B8B839-D60C-498D-A8C8-3F136787F245}"/>
              </a:ext>
            </a:extLst>
          </p:cNvPr>
          <p:cNvSpPr>
            <a:spLocks xmlns:a="http://schemas.openxmlformats.org/drawingml/2006/main" noGrp="1"/>
          </p:cNvSpPr>
          <p:nvPr/>
        </p:nvSpPr>
        <p:spPr>
          <a:xfrm xmlns:a="http://schemas.openxmlformats.org/drawingml/2006/main">
            <a:off x="6343650" y="34480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[9] J. R. Quinlan, “Induction of Decision Trees,” Machine Learning, vol. 1, pp. 81–106, 1986.</a:t>
            </a:r>
          </a:p>
        </p:txBody>
      </p:sp>
      <p:sp>
        <p:nvSpPr>
          <p:cNvPr id="16" name="">
            <a:extLst xmlns:a="http://schemas.openxmlformats.org/drawingml/2006/main">
              <a:ext uri="{FF2B5EF4-FFF2-40B4-BE49-F238E27FC236}">
                <a16:creationId xmlns:a16="http://schemas.microsoft.com/office/drawing/2014/main" id="{297B330E-5519-41C9-8833-4441E118FA16}"/>
              </a:ext>
            </a:extLst>
          </p:cNvPr>
          <p:cNvSpPr>
            <a:spLocks xmlns:a="http://schemas.openxmlformats.org/drawingml/2006/main" noGrp="1"/>
          </p:cNvSpPr>
          <p:nvPr/>
        </p:nvSpPr>
        <p:spPr>
          <a:xfrm xmlns:a="http://schemas.openxmlformats.org/drawingml/2006/main">
            <a:off x="6343650" y="43243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[10] L. Breiman, “Random Forests,” Machine Learning, vol. 45, pp. 5–32, 2001.</a:t>
            </a:r>
          </a:p>
        </p:txBody>
      </p:sp>
      <p:sp>
        <p:nvSpPr>
          <p:cNvPr id="17" name="">
            <a:extLst xmlns:a="http://schemas.openxmlformats.org/drawingml/2006/main">
              <a:ext uri="{FF2B5EF4-FFF2-40B4-BE49-F238E27FC236}">
                <a16:creationId xmlns:a16="http://schemas.microsoft.com/office/drawing/2014/main" id="{DA9A1157-0DCB-47C2-9BA1-85FEFC93D99C}"/>
              </a:ext>
            </a:extLst>
          </p:cNvPr>
          <p:cNvSpPr>
            <a:spLocks xmlns:a="http://schemas.openxmlformats.org/drawingml/2006/main" noGrp="1"/>
          </p:cNvSpPr>
          <p:nvPr/>
        </p:nvSpPr>
        <p:spPr>
          <a:xfrm xmlns:a="http://schemas.openxmlformats.org/drawingml/2006/main">
            <a:off x="6343650" y="52006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[11] J. H. Friedman, “Greedy Function Approximation: A Gradient Boosting Machine,” Annals of Statistics, vol. 29, no. 5, pp. 1189–1232, 2001.</a:t>
            </a:r>
          </a:p>
        </p:txBody>
      </p:sp>
      <p:sp>
        <p:nvSpPr>
          <p:cNvPr id="18" name="">
            <a:extLst xmlns:a="http://schemas.openxmlformats.org/drawingml/2006/main">
              <a:ext uri="{FF2B5EF4-FFF2-40B4-BE49-F238E27FC236}">
                <a16:creationId xmlns:a16="http://schemas.microsoft.com/office/drawing/2014/main" id="{2FEEA854-1047-4478-9A45-7E9B21BBFCE5}"/>
              </a:ext>
            </a:extLst>
          </p:cNvPr>
          <p:cNvSpPr>
            <a:spLocks xmlns:a="http://schemas.openxmlformats.org/drawingml/2006/main" noGrp="1"/>
          </p:cNvSpPr>
          <p:nvPr/>
        </p:nvSpPr>
        <p:spPr>
          <a:xfrm xmlns:a="http://schemas.openxmlformats.org/drawingml/2006/main">
            <a:off x="6096000" y="1428750"/>
            <a:ext cx="0" cy="4572000"/>
          </a:xfrm>
          <a:prstGeom xmlns:a="http://schemas.openxmlformats.org/drawingml/2006/main" prst="line">
            <a:avLst/>
          </a:prstGeom>
          <a:ln xmlns:a="http://schemas.openxmlformats.org/drawingml/2006/main" w="9525">
            <a:solidFill>
              <a:srgbClr val="D6DADE"/>
            </a:solidFill>
            <a:prstDash val="solid"/>
          </a:ln>
        </p:spPr>
      </p:sp>
    </p:spTree>
    <p:extLst>
      <p:ext uri="{BB962C8B-B14F-4D97-AF65-F5344CB8AC3E}">
        <p14:creationId xmlns:p14="http://schemas.microsoft.com/office/powerpoint/2010/main" val="3829484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2026-10-20T07:15:37.6090000Z</dcterms:created>
  <dcterms:modified xsi:type="dcterms:W3CDTF">2026-10-20T07:15:37.6090000Z</dcterms:modified>
</coreProperties>
</file>